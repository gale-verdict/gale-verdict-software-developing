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bbd33e042b4db6" /><Relationship Type="http://schemas.openxmlformats.org/officeDocument/2006/relationships/extended-properties" Target="/docProps/app.xml" Id="Rda21d968f7e948b5" /><Relationship Type="http://schemas.openxmlformats.org/officeDocument/2006/relationships/officeDocument" Target="/ppt/presentation.xml" Id="R13f7bdc3cc1841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67f48dad04222"/>
  </p:sldMasterIdLst>
  <p:notesMasterIdLst>
    <p:notesMasterId xmlns:r="http://schemas.openxmlformats.org/officeDocument/2006/relationships" r:id="R2201083f73f14931"/>
  </p:notesMasterIdLst>
  <p:sldIdLst>
    <p:sldId xmlns:r="http://schemas.openxmlformats.org/officeDocument/2006/relationships" id="256" r:id="R86258b31d944442d"/>
    <p:sldId xmlns:r="http://schemas.openxmlformats.org/officeDocument/2006/relationships" id="257" r:id="Rd038bd59755f4230"/>
    <p:sldId xmlns:r="http://schemas.openxmlformats.org/officeDocument/2006/relationships" id="258" r:id="Rdf18326e13dc46e8"/>
    <p:sldId xmlns:r="http://schemas.openxmlformats.org/officeDocument/2006/relationships" id="259" r:id="R83d445d8dfdf41b6"/>
    <p:sldId xmlns:r="http://schemas.openxmlformats.org/officeDocument/2006/relationships" id="260" r:id="R146b8bc54add49ba"/>
    <p:sldId xmlns:r="http://schemas.openxmlformats.org/officeDocument/2006/relationships" id="261" r:id="Rc2296f99823b462c"/>
    <p:sldId xmlns:r="http://schemas.openxmlformats.org/officeDocument/2006/relationships" id="262" r:id="Rcc77f74b13634294"/>
    <p:sldId xmlns:r="http://schemas.openxmlformats.org/officeDocument/2006/relationships" id="263" r:id="Rb2499183097a46ae"/>
    <p:sldId xmlns:r="http://schemas.openxmlformats.org/officeDocument/2006/relationships" id="264" r:id="R465ff81bcc5e44e5"/>
    <p:sldId xmlns:r="http://schemas.openxmlformats.org/officeDocument/2006/relationships" id="265" r:id="R3120adc21e0f4a81"/>
    <p:sldId xmlns:r="http://schemas.openxmlformats.org/officeDocument/2006/relationships" id="266" r:id="R540c82aff34e4807"/>
    <p:sldId xmlns:r="http://schemas.openxmlformats.org/officeDocument/2006/relationships" id="267" r:id="R94acc984f70f4714"/>
    <p:sldId xmlns:r="http://schemas.openxmlformats.org/officeDocument/2006/relationships" id="268" r:id="Ra889bbf4d9a445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857bc1dc454b7c" /><Relationship Type="http://schemas.openxmlformats.org/officeDocument/2006/relationships/slideMaster" Target="/ppt/slideMasters/slideMaster1.xml" Id="Rfeb67f48dad04222" /><Relationship Type="http://schemas.openxmlformats.org/officeDocument/2006/relationships/notesMaster" Target="/ppt/notesMasters/notesMaster1.xml" Id="R2201083f73f14931" /><Relationship Type="http://schemas.openxmlformats.org/officeDocument/2006/relationships/presProps" Target="/ppt/presProps.xml" Id="R15f9f466afdf4cc5" /><Relationship Type="http://schemas.openxmlformats.org/officeDocument/2006/relationships/viewProps" Target="/ppt/viewProps.xml" Id="R8eda741e259d44f2" /><Relationship Type="http://schemas.openxmlformats.org/officeDocument/2006/relationships/tableStyles" Target="/ppt/tableStyles.xml" Id="R6213e4fab2b64bbf" /><Relationship Type="http://schemas.openxmlformats.org/officeDocument/2006/relationships/slide" Target="/ppt/slides/slide1.xml" Id="R86258b31d944442d" /><Relationship Type="http://schemas.openxmlformats.org/officeDocument/2006/relationships/slide" Target="/ppt/slides/slide2.xml" Id="Rd038bd59755f4230" /><Relationship Type="http://schemas.openxmlformats.org/officeDocument/2006/relationships/slide" Target="/ppt/slides/slide3.xml" Id="Rdf18326e13dc46e8" /><Relationship Type="http://schemas.openxmlformats.org/officeDocument/2006/relationships/slide" Target="/ppt/slides/slide4.xml" Id="R83d445d8dfdf41b6" /><Relationship Type="http://schemas.openxmlformats.org/officeDocument/2006/relationships/slide" Target="/ppt/slides/slide5.xml" Id="R146b8bc54add49ba" /><Relationship Type="http://schemas.openxmlformats.org/officeDocument/2006/relationships/slide" Target="/ppt/slides/slide6.xml" Id="Rc2296f99823b462c" /><Relationship Type="http://schemas.openxmlformats.org/officeDocument/2006/relationships/slide" Target="/ppt/slides/slide7.xml" Id="Rcc77f74b13634294" /><Relationship Type="http://schemas.openxmlformats.org/officeDocument/2006/relationships/slide" Target="/ppt/slides/slide8.xml" Id="Rb2499183097a46ae" /><Relationship Type="http://schemas.openxmlformats.org/officeDocument/2006/relationships/slide" Target="/ppt/slides/slide9.xml" Id="R465ff81bcc5e44e5" /><Relationship Type="http://schemas.openxmlformats.org/officeDocument/2006/relationships/slide" Target="/ppt/slides/slide10.xml" Id="R3120adc21e0f4a81" /><Relationship Type="http://schemas.openxmlformats.org/officeDocument/2006/relationships/slide" Target="/ppt/slides/slide11.xml" Id="R540c82aff34e4807" /><Relationship Type="http://schemas.openxmlformats.org/officeDocument/2006/relationships/slide" Target="/ppt/slides/slide12.xml" Id="R94acc984f70f4714" /><Relationship Type="http://schemas.openxmlformats.org/officeDocument/2006/relationships/slide" Target="/ppt/slides/slide13.xml" Id="Ra889bbf4d9a445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f5c75cc7f4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fb719ae3be4b7e" /><Relationship Type="http://schemas.openxmlformats.org/officeDocument/2006/relationships/notesMaster" Target="/ppt/notesMasters/notesMaster1.xml" Id="R348b9f40b958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dd0deec092445e" /><Relationship Type="http://schemas.openxmlformats.org/officeDocument/2006/relationships/notesMaster" Target="/ppt/notesMasters/notesMaster1.xml" Id="R50f63c9611bf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54743fee724a0d" /><Relationship Type="http://schemas.openxmlformats.org/officeDocument/2006/relationships/notesMaster" Target="/ppt/notesMasters/notesMaster1.xml" Id="R2a6031cb3a85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64af1c203441e" /><Relationship Type="http://schemas.openxmlformats.org/officeDocument/2006/relationships/notesMaster" Target="/ppt/notesMasters/notesMaster1.xml" Id="R3135b431d67545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ea47f8aa434bab" /><Relationship Type="http://schemas.openxmlformats.org/officeDocument/2006/relationships/notesMaster" Target="/ppt/notesMasters/notesMaster1.xml" Id="R0ba77b837e414c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9a9398f9a44824" /><Relationship Type="http://schemas.openxmlformats.org/officeDocument/2006/relationships/notesMaster" Target="/ppt/notesMasters/notesMaster1.xml" Id="Red585e83f3ff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776a741a1f47b5" /><Relationship Type="http://schemas.openxmlformats.org/officeDocument/2006/relationships/notesMaster" Target="/ppt/notesMasters/notesMaster1.xml" Id="R0a480977a74d4a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7d862ca50143f9" /><Relationship Type="http://schemas.openxmlformats.org/officeDocument/2006/relationships/notesMaster" Target="/ppt/notesMasters/notesMaster1.xml" Id="R89ac47a539454f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16a961320b46d1" /><Relationship Type="http://schemas.openxmlformats.org/officeDocument/2006/relationships/notesMaster" Target="/ppt/notesMasters/notesMaster1.xml" Id="Re09618d7d84c48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582fe554c84edb" /><Relationship Type="http://schemas.openxmlformats.org/officeDocument/2006/relationships/notesMaster" Target="/ppt/notesMasters/notesMaster1.xml" Id="Rd1280e73389145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1175d656f446e0" /><Relationship Type="http://schemas.openxmlformats.org/officeDocument/2006/relationships/notesMaster" Target="/ppt/notesMasters/notesMaster1.xml" Id="Ra0be0c3678e841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5ef9763ed74195" /><Relationship Type="http://schemas.openxmlformats.org/officeDocument/2006/relationships/notesMaster" Target="/ppt/notesMasters/notesMaster1.xml" Id="R6313d65cf1a2492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0e58e961cb04a4f" /><Relationship Type="http://schemas.openxmlformats.org/officeDocument/2006/relationships/notesMaster" Target="/ppt/notesMasters/notesMaster1.xml" Id="R09d8c2fc8a7247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答辩提示：本项目中较耗时的部分是统一开发环境和多人联调。我们通过固定依赖版本、维护 API 文档、按 Model、Service、Page 分层并采用小步提交，逐步减少重复排查和合并返工。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答辩提示：根据本页标题先讲结论，再结合流程或截图说明实现。图片占位框内的文字是建议截取的内容，补图时保留版式比例。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9936860694a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f2b27139c749fd" /><Relationship Type="http://schemas.openxmlformats.org/officeDocument/2006/relationships/slideLayout" Target="/ppt/slideLayouts/slideLayout1.xml" Id="R583e5b1204c047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3e5b1204c047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de28c9317473b" /><Relationship Type="http://schemas.openxmlformats.org/officeDocument/2006/relationships/notesSlide" Target="/ppt/notesSlides/notesSlide1.xml" Id="Rc600f8be036544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936f549654f17" /><Relationship Type="http://schemas.openxmlformats.org/officeDocument/2006/relationships/notesSlide" Target="/ppt/notesSlides/notesSlide2.xml" Id="R21dceb761b8149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048cb9f844bab" /><Relationship Type="http://schemas.openxmlformats.org/officeDocument/2006/relationships/image" Target="/ppt/media/image.png" Id="R3f669921c3164800" /><Relationship Type="http://schemas.openxmlformats.org/officeDocument/2006/relationships/notesSlide" Target="/ppt/notesSlides/notesSlide3.xml" Id="Ra57bb9afa9ba4d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5184f4c464418" /><Relationship Type="http://schemas.openxmlformats.org/officeDocument/2006/relationships/notesSlide" Target="/ppt/notesSlides/notesSlide4.xml" Id="R6256f7c3791645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dc1afdb704903" /><Relationship Type="http://schemas.openxmlformats.org/officeDocument/2006/relationships/notesSlide" Target="/ppt/notesSlides/notesSlide5.xml" Id="R3b71e131a2b849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5565c2fd74d60" /><Relationship Type="http://schemas.openxmlformats.org/officeDocument/2006/relationships/notesSlide" Target="/ppt/notesSlides/notesSlide6.xml" Id="R7548d325d71e42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3e70dbb04aa8" /><Relationship Type="http://schemas.openxmlformats.org/officeDocument/2006/relationships/image" Target="/ppt/media/image2.png" Id="R1af565f371874e76" /><Relationship Type="http://schemas.openxmlformats.org/officeDocument/2006/relationships/image" Target="/ppt/media/image3.png" Id="R43af1829d806440a" /><Relationship Type="http://schemas.openxmlformats.org/officeDocument/2006/relationships/image" Target="/ppt/media/image4.png" Id="Rf5ffa6f58e1b47be" /><Relationship Type="http://schemas.openxmlformats.org/officeDocument/2006/relationships/image" Target="/ppt/media/image5.png" Id="R73a6cdd9955b47d7" /><Relationship Type="http://schemas.openxmlformats.org/officeDocument/2006/relationships/notesSlide" Target="/ppt/notesSlides/notesSlide7.xml" Id="R4ca586b9d3e149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59e2098f74dfb" /><Relationship Type="http://schemas.openxmlformats.org/officeDocument/2006/relationships/image" Target="/ppt/media/image6.png" Id="Ra85a63424eed4560" /><Relationship Type="http://schemas.openxmlformats.org/officeDocument/2006/relationships/image" Target="/ppt/media/image7.png" Id="R25f3c536f8c14edc" /><Relationship Type="http://schemas.openxmlformats.org/officeDocument/2006/relationships/notesSlide" Target="/ppt/notesSlides/notesSlide8.xml" Id="R2c01d00969b542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7340061674757" /><Relationship Type="http://schemas.openxmlformats.org/officeDocument/2006/relationships/image" Target="/ppt/media/image8.png" Id="Rc39df029b1874fa1" /><Relationship Type="http://schemas.openxmlformats.org/officeDocument/2006/relationships/image" Target="/ppt/media/image9.png" Id="Rf77bbb7823dc475b" /><Relationship Type="http://schemas.openxmlformats.org/officeDocument/2006/relationships/notesSlide" Target="/ppt/notesSlides/notesSlide9.xml" Id="R48a8d38323ce47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253aac9574558" /><Relationship Type="http://schemas.openxmlformats.org/officeDocument/2006/relationships/image" Target="/ppt/media/image10.png" Id="R377f1295a7ba4af3" /><Relationship Type="http://schemas.openxmlformats.org/officeDocument/2006/relationships/image" Target="/ppt/media/image11.png" Id="R9568e3b47b5c4bdd" /><Relationship Type="http://schemas.openxmlformats.org/officeDocument/2006/relationships/notesSlide" Target="/ppt/notesSlides/notesSlide10.xml" Id="R4d4c6b1b9e3849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e10da4c514d09" /><Relationship Type="http://schemas.openxmlformats.org/officeDocument/2006/relationships/notesSlide" Target="/ppt/notesSlides/notesSlide11.xml" Id="Rfed6fd71b4fe4a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290ca5145483e" /><Relationship Type="http://schemas.openxmlformats.org/officeDocument/2006/relationships/notesSlide" Target="/ppt/notesSlides/notesSlide12.xml" Id="R79725f8f8f7442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0c41af732f4c99" /><Relationship Type="http://schemas.openxmlformats.org/officeDocument/2006/relationships/notesSlide" Target="/ppt/notesSlides/notesSlide13.xml" Id="Rd412f7f5d56a4a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0106B75-8F23-4600-84C8-4355DEE5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3157BE-6CFF-4B6D-8E7E-6DF80799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9611"/>
            <a:ext cx="4495800" cy="4648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GALE / VERDICT</a:t>
            </a:r>
            <a:r>
              <a:rPr sz="240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  </a:t>
            </a:r>
            <a:r>
              <a:rPr sz="240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烈风裁决</a:t>
            </a:r>
            <a:endParaRPr sz="2400" b="1">
              <a:solidFill>
                <a:srgbClr val="00C2A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74C23EB-1539-48AC-A79D-D44CBFDF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5486"/>
            <a:ext cx="6495288" cy="8195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电动汽车充运营管理平台</a:t>
            </a:r>
            <a:endParaRPr sz="43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56631C03-AFB6-408A-A656-36E1838E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" y="2890266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F11D305-B2BD-4088-998A-30ADC86A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5519928" cy="285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  <a:r>
              <a:rPr sz="20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  </a:t>
            </a:r>
            <a:r>
              <a:rPr sz="20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李奕萱 吴洵 徐钲 姚雨森 曾梓木</a:t>
            </a:r>
            <a:endParaRPr sz="2000" b="0">
              <a:solidFill>
                <a:srgbClr val="AEB9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DD7420B-EB6C-4FC8-953B-DAEC2029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231" y="4611624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2026.09.10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F103FEB4-6EDB-464A-9E8B-8E8A7B6A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2ADF11E-18C8-4029-A03B-49BFFF5B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AE5F4E0-7AE9-43EA-B940-F8C66B39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2001145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DFCECA2-346C-4641-9880-F1D403C6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2026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62DDFDD-3CA2-41C9-9E58-BB5275C9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项目目标与需求分析</a:t>
            </a:r>
            <a:endParaRPr sz="25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39E70A5-AF33-46B1-989A-1F818937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4F9A5AE-E5D9-4A6B-88A1-3ED2938B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326EC7F1-EA40-4B09-956F-C76679BF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14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097528B-C537-432F-AA2E-15D384D3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A35B193-F214-407F-BEA9-6A8BDEDB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</a:t>
            </a: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0DAAEE57-B65D-4FDE-A227-6A1C5D39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CFF9783-B1CC-4A66-8D8B-ED5D88DF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找到附近充电站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E10A3FC8-1A13-466F-8F0F-0E5B483C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39BC1A-4AC4-4B7A-900E-1E220B1B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查看空闲电桩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984760CD-9063-4742-B40D-667BF2A9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D9014-35F8-4A1E-9CAE-D436FFB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导航、充电、结算、查单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C60122C0-DE78-4819-A2FD-B2818B68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14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FA63938-3152-427A-8B25-31D2D2E7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BB4D7A9-E043-418E-857E-F3252940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运营人员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85E6F2B4-2205-4BE4-A086-73FF3DD3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84C4BAD-36F3-4858-8B14-7F8012E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24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查看营收与设备状态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CAABAA72-766F-49E6-BD8E-87920BB0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36EA862-00FC-4241-B332-62E2A356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</a:t>
            </a: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电站、电桩与用户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8A790A95-3BE4-492D-990C-67A6FA78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7C16450-59AA-4BF5-A612-7D3D6743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76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处理故障与远程重启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74C80347-C6AA-4F26-9DDA-004AD845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14700" cy="295275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4D614C7-F48A-4019-9F15-A6BDA52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14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44829EB-7726-4E35-8743-0FD152A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平台服务</a:t>
            </a:r>
            <a:endParaRPr sz="21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B1971AD3-1FA7-4279-B838-73398F3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A45F30E-BA6D-414A-A0CD-2B480C8D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242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统一认证和权限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DB2E0892-3ABC-46CE-882C-9E11B44F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76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02FEEE2-BF50-4E89-AB39-0350DA6E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实时充电会话与分时计价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E4B35094-0922-4CDE-B581-275C8AB8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77168BDA-EE9D-450B-A35D-183358C8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2438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保证订单、余额、设备一致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直接连接符 32">
            <a:extLst xmlns:a="http://schemas.openxmlformats.org/drawingml/2006/main">
              <a:ext uri="{FF2B5EF4-FFF2-40B4-BE49-F238E27FC236}">
                <a16:creationId xmlns:a16="http://schemas.microsoft.com/office/drawing/2014/main" id="{2E618DA6-09E4-490E-9F43-FC052E0A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A43E987-8D1F-467E-8FFE-7ECBD8E5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10C4CB9D-BAE2-4CA4-BC4F-CA4EF804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489666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8E00E5EF-A34A-4209-B2FB-346BA52C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ARCHITECTURE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5AFF522-0356-42E4-8265-1A0CE4D4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系统架构</a:t>
            </a:r>
            <a:endParaRPr sz="25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B1B7B94-6369-47AF-88F1-7F3FB722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973D0EC-1D23-4E60-96EF-52E745E6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E318E646-7FC3-431B-9ECC-2B42F480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A87DE5B-5756-4BBD-A39E-9EB8E9A04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60A6BEA-8C84-4329-87D8-43B0E7E2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8D062D10-3D5E-F430-9FCA-76B1234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7297"/>
            <a:ext cx="4483608" cy="3477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用户端：Qt 6、C++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、Qt WebEngine；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管理端： Qt 6、C++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17 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、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Qt Widgets、Qt Charts、Qt Network；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后端：C++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、Drogon；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数据库：PostgreSQL；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lvl="0">
              <a:buNone/>
            </a:pPr>
            <a:r>
              <a:rPr sz="2000">
                <a:solidFill>
                  <a:srgbClr val="FFFFFF"/>
                </a:solidFill>
                <a:latin typeface="Arial"/>
                <a:ea typeface="Arial"/>
                <a:cs typeface="Arial"/>
              </a:rPr>
              <a:t>地图服务：腾讯地图 WebService API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669921c31648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81600" y="2078680"/>
            <a:ext cx="5921639" cy="332928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784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D00C261-B324-45E3-9784-C3291173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TEAM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F95C841-15C8-4E28-8B58-FCA38187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团队分工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31AF796-3C79-41F2-A52A-A9D7C29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6E37BD7C-B22B-4D9C-A6B1-166C335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9FF60F0-09F1-4F55-BDDD-479B77C8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D9C9"/>
                </a:solidFill>
                <a:latin typeface="Arial"/>
                <a:ea typeface="Arial"/>
                <a:cs typeface="Arial"/>
              </a:rPr>
              <a:t>使用 GitHub 统一管理代码、文档和版本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endParaRPr sz="1725" b="0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E5EAC2-24FF-40A7-BA6F-36D2547D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5798C39-83D1-4845-A97F-316650DE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0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李奕萱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6502C17-664B-4E62-8A34-61692F6A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1259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项目文档，管理端和客户端</a:t>
            </a: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UI</a:t>
            </a: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设计，管理端充电桩类型功率完善</a:t>
            </a:r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AC1ADA3-E6DB-416A-BF34-BAC06DE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BC75F9F-1E9D-4071-BFC2-3C642380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86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吴洵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770A45D-7C67-4161-A79B-98BD6147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861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文档绘图，管理端功能和</a:t>
            </a: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UI</a:t>
            </a: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设计，客户端地图导航接入</a:t>
            </a:r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CC04256-5814-4E84-A1E0-59866826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35D5A19-12AC-43BD-968A-E461A119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徐钲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D35CED6-6328-4710-966D-7E1D2CFE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71900"/>
            <a:ext cx="7048500" cy="523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项目文档，客户端的用户账户、充电站查询、充电业务</a:t>
            </a:r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CB83372-7441-4A2B-B4C9-A5338641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910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2656D73-DB37-4F8A-A197-BF56284C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姚雨森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F1AACBB-E09B-4CB1-B239-D5BBFB38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后端技术选型和开发，客户端充电业务、历史订单完善</a:t>
            </a:r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E91F8B-39FF-4044-89B7-5CBDB80C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F442898-D88C-4EF0-8A48-B51FD8F0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曾梓木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3FEF7E5-A939-4ABF-AA80-5175F39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435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后端，管理端充电桩管理优化和充电站地址，实时充电</a:t>
            </a: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Socket</a:t>
            </a:r>
            <a:r>
              <a:rPr>
                <a:solidFill>
                  <a:schemeClr val="bg1"/>
                </a:solidFill>
                <a:latin typeface="Arial"/>
                <a:ea typeface="Arial"/>
                <a:cs typeface="Arial"/>
              </a:rPr>
              <a:t>通信</a:t>
            </a:r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直接连接符 22">
            <a:extLst xmlns:a="http://schemas.openxmlformats.org/drawingml/2006/main">
              <a:ext uri="{FF2B5EF4-FFF2-40B4-BE49-F238E27FC236}">
                <a16:creationId xmlns:a16="http://schemas.microsoft.com/office/drawing/2014/main" id="{FF83D1F7-1A32-47B6-8703-AD0A85DE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55E14C8-4C30-4FD0-9149-3CCABE0F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  <a:endParaRPr sz="900" b="0">
              <a:solidFill>
                <a:srgbClr val="AEB9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0568D8C-5BFA-4E3C-979E-F21F8C9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1850954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B339C13-511C-4F33-9B1A-7023DB8B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CHARGING LIFECYCLE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C1B57A9-B2C5-4906-8104-365D392C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充电业务流程</a:t>
            </a:r>
            <a:endParaRPr sz="25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0DEC293-465F-47FA-BD16-AB696776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78DF125-ECB5-44F5-93F1-7B79A19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531483B-866F-4864-BECF-F98293A8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订单状态、电桩状态和钱包余额共同决定一次充电是否可以开始、继续和完成</a:t>
            </a: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F4482BA3-521A-4167-BA63-873ED06A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0F3A95-CD91-44C3-956B-4EFE100D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空闲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224FEB4-F514-444B-BB84-0CEF98C3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选择充电桩</a:t>
            </a:r>
          </a:p>
        </p:txBody>
      </p:sp>
      <p:sp>
        <p:nvSpPr>
          <p:cNvPr id="9" name="箭头: 右 8">
            <a:extLst xmlns:a="http://schemas.openxmlformats.org/drawingml/2006/main">
              <a:ext uri="{FF2B5EF4-FFF2-40B4-BE49-F238E27FC236}">
                <a16:creationId xmlns:a16="http://schemas.microsoft.com/office/drawing/2014/main" id="{787CE865-080A-4E22-ACD2-C3DC50A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67403D48-D0E8-48F7-B1DC-C8FDA2A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930DFCB-CD88-4CB3-938D-CD3B264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被占用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C5F896B-5976-4F28-B3BB-DA857D69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创建订单</a:t>
            </a:r>
          </a:p>
        </p:txBody>
      </p:sp>
      <p:sp>
        <p:nvSpPr>
          <p:cNvPr id="13" name="箭头: 右 12">
            <a:extLst xmlns:a="http://schemas.openxmlformats.org/drawingml/2006/main">
              <a:ext uri="{FF2B5EF4-FFF2-40B4-BE49-F238E27FC236}">
                <a16:creationId xmlns:a16="http://schemas.microsoft.com/office/drawing/2014/main" id="{B68DEF09-3498-4F68-9D7D-EAAF07E6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5143EDFC-9553-4A6C-8806-5BD169F5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82E7ECB-5049-40BC-A25D-06ACF2A9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充电中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086507C-4DA8-49A2-B309-62F0EAB8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实时计价</a:t>
            </a:r>
          </a:p>
        </p:txBody>
      </p:sp>
      <p:sp>
        <p:nvSpPr>
          <p:cNvPr id="17" name="箭头: 右 16">
            <a:extLst xmlns:a="http://schemas.openxmlformats.org/drawingml/2006/main">
              <a:ext uri="{FF2B5EF4-FFF2-40B4-BE49-F238E27FC236}">
                <a16:creationId xmlns:a16="http://schemas.microsoft.com/office/drawing/2014/main" id="{4F4C9D97-23D2-47A4-B187-B2B786DA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B4F47A1B-71DF-4553-9BDC-DC61C64D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8E7CFF"/>
          </a:solidFill>
          <a:ln xmlns:a="http://schemas.openxmlformats.org/drawingml/2006/main" w="0">
            <a:solidFill>
              <a:srgbClr val="8E7CF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E00966C-6298-4EE0-8BF7-B4578F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结算中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820382E-05A6-4B0D-8DAD-C98E537F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扣款 / 待结算</a:t>
            </a:r>
          </a:p>
        </p:txBody>
      </p:sp>
      <p:sp>
        <p:nvSpPr>
          <p:cNvPr id="21" name="箭头: 右 20">
            <a:extLst xmlns:a="http://schemas.openxmlformats.org/drawingml/2006/main">
              <a:ext uri="{FF2B5EF4-FFF2-40B4-BE49-F238E27FC236}">
                <a16:creationId xmlns:a16="http://schemas.microsoft.com/office/drawing/2014/main" id="{33B00F38-4E9B-47BB-96A0-81B24D0E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575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A98DE87A-D934-49C3-965A-6D8C4FAB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05125"/>
            <a:ext cx="1752600" cy="9334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D4998AF-6A4B-44F8-BEED-CB1C122C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空闲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13319B3-E564-4A53-B3EA-408A4892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476625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释放电桩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AF08CFA8-06E3-40EE-8EE0-091248B9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537F094C-0CF6-43BD-A2CB-6B1E7E38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异常出口</a:t>
            </a:r>
            <a:endParaRPr sz="1350" b="1">
              <a:solidFill>
                <a:srgbClr val="FF6B3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B195F56-5401-4180-94DF-675F1BC9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余额不足</a:t>
            </a: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/  </a:t>
            </a: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网络中断</a:t>
            </a: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 /  </a:t>
            </a: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电桩故障</a:t>
            </a:r>
            <a:endParaRPr sz="16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0C0A93D-5FA1-4A14-8728-CDCD78082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服务端统一结算，失败时保持订单与电桩状态一致。</a:t>
            </a:r>
          </a:p>
        </p:txBody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C630C21B-0E44-4B05-A314-FC509905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2C1E7D9-6FCE-468C-B372-170AF86F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D09B5C9-82DA-4F7B-B051-4054FBDF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738114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E548EFC5-763F-44BD-8147-D2458CAE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BILLING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F7EF19B-FAEA-4C0B-922F-CA07F21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计费逻辑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817110-F8DD-40B5-A636-9CC04BD78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FD478067-93A0-4D06-BC8C-6BE2D877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CDDCF9B-8C73-4316-8E14-F469DCA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计费由服务端完成，客户端只展示结果。跨越电价时段时，按时间区间分别计算</a:t>
            </a:r>
            <a:r>
              <a:rPr sz="165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D3B7B98D-AD51-45E5-ABD6-BCD03719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762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116CAD9-18FF-4D6D-9C4F-B2DD94B7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19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实时会话</a:t>
            </a: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35A0974A-66A5-421F-965C-712F096B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62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14729E3-FCB4-47CB-9B0B-9B94A06B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自定义</a:t>
            </a: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Socket </a:t>
            </a: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保持持续充电会话</a:t>
            </a:r>
            <a:endParaRPr sz="1425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2C133962-D670-4521-BF98-B7E9EBFF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3E498B9-1FE4-41D3-A5F6-72C55060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约每秒推送时长、电量、费用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076272A4-1CDE-451B-BB06-F6115497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5068012-AE5E-4C2F-9203-DA247EEE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52925"/>
            <a:ext cx="3771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服务端检查下一计费周期是否可支付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789A6B59-499A-4780-BE6A-F0D7A20E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05050"/>
            <a:ext cx="577215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943ECF7-A884-4833-B772-87FFA415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19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结算规则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0FACBC6-01F4-4D74-BB53-4788F1AE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85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功率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× 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时间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= </a:t>
            </a: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充电量</a:t>
            </a:r>
            <a:endParaRPr sz="18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7E1A9ED-33D2-46BA-AFBE-2B14C2D6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充电量</a:t>
            </a: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× </a:t>
            </a: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对应时段单价</a:t>
            </a: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= </a:t>
            </a: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分段费用</a:t>
            </a:r>
            <a:endParaRPr sz="157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直接连接符 17">
            <a:extLst xmlns:a="http://schemas.openxmlformats.org/drawingml/2006/main">
              <a:ext uri="{FF2B5EF4-FFF2-40B4-BE49-F238E27FC236}">
                <a16:creationId xmlns:a16="http://schemas.microsoft.com/office/drawing/2014/main" id="{AB62043E-558D-4A05-89AD-3CBCBC6B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53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A868887-7DD5-4692-A84D-D55A2A05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停止、余额不足或连接中断时统一结算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FFF0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0B8"/>
                </a:solidFill>
                <a:latin typeface="Arial"/>
                <a:ea typeface="Arial"/>
                <a:cs typeface="Arial"/>
              </a:rPr>
              <a:t>成功扣款后订单完成，余额不足则进入待结算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5FF82D0E-F94C-426A-A29F-F96FB057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63067E2-67A2-407B-8939-67769AE0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2DBA8B3-1AF0-4E29-A3D5-E9103D06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278060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64C29E0-6212-4AB0-ADC3-F56A8BC4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USER CLIENT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17421DF-8777-4791-A7FC-8AEDC6E2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用户端功能展示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8105818-5CC5-41CB-94F7-80E4BDCC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141FABFF-3173-438F-859B-13F9C18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6C1DAC6E-8D44-4363-9D1E-EBC05715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103" y="1390650"/>
            <a:ext cx="2686050" cy="4705349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61BFA427-B8B2-49A9-9A77-318A95D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877" y="15346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373FCA9-ADEE-4397-A428-5F02264A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878" y="22479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DACAAC5-E6BE-4535-8318-19BAE5F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103" y="16764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充电桩选择</a:t>
            </a:r>
            <a:endParaRPr sz="1350" b="1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2DE170F6-51B7-42FB-8D6F-1F87C65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F66F499-41F6-4EF5-A0C3-9D16C14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53C913E-AA04-41E8-87E5-4A509B77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EFD6BC3D-65B2-E19B-9A44-2B1E7D40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2686050" cy="4705349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44BD3B80-B53F-898C-32C0-654B8AFA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4" y="15346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22CF0A5-EA4A-D8EB-CEDA-B5B2F64C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25EB49C-EECB-4DD5-2A6B-CD4971E2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登录界面</a:t>
            </a:r>
            <a:endParaRPr sz="1350" b="1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82DCAC4F-478B-9A15-D78E-BFE32460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49" y="1390650"/>
            <a:ext cx="2686050" cy="4705349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1" name="直接连接符 50">
            <a:extLst xmlns:a="http://schemas.openxmlformats.org/drawingml/2006/main">
              <a:ext uri="{FF2B5EF4-FFF2-40B4-BE49-F238E27FC236}">
                <a16:creationId xmlns:a16="http://schemas.microsoft.com/office/drawing/2014/main" id="{515B8D2F-76D4-6189-F428-23F61EEE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3" y="15346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D84F113B-6AC0-B750-620A-EF8E42EF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4" y="22479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A79643E-5590-34AA-9291-F9C873E0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49" y="16764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一键导航</a:t>
            </a:r>
            <a:endParaRPr sz="1350" b="1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3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f565f371874e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5187" y="1939671"/>
            <a:ext cx="2160437" cy="4057649"/>
          </a:xfrm>
          <a:prstGeom xmlns:a="http://schemas.openxmlformats.org/drawingml/2006/main" prst="rect">
            <a:avLst/>
          </a:prstGeom>
        </p:spPr>
      </p:pic>
      <p:pic>
        <p:nvPicPr>
          <p:cNvPr id="94" name="图片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f1829d80644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23053" y="2006945"/>
            <a:ext cx="2085514" cy="3923100"/>
          </a:xfrm>
          <a:prstGeom xmlns:a="http://schemas.openxmlformats.org/drawingml/2006/main" prst="rect">
            <a:avLst/>
          </a:prstGeom>
        </p:spPr>
      </p:pic>
      <p:sp>
        <p:nvSpPr>
          <p:cNvPr id="63" name="矩形: 圆角 62">
            <a:extLst xmlns:a="http://schemas.openxmlformats.org/drawingml/2006/main">
              <a:ext uri="{FF2B5EF4-FFF2-40B4-BE49-F238E27FC236}">
                <a16:creationId xmlns:a16="http://schemas.microsoft.com/office/drawing/2014/main" id="{F5533590-41B6-E9A8-A81C-E754FE22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21" y="1390650"/>
            <a:ext cx="2686050" cy="4705349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5" name="直接连接符 64">
            <a:extLst xmlns:a="http://schemas.openxmlformats.org/drawingml/2006/main">
              <a:ext uri="{FF2B5EF4-FFF2-40B4-BE49-F238E27FC236}">
                <a16:creationId xmlns:a16="http://schemas.microsoft.com/office/drawing/2014/main" id="{6D56BD3A-C6C4-49FE-1789-5F32597E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477" y="15346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D6905F5-095A-31ED-35A8-6B6CE99E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478" y="2247900"/>
            <a:ext cx="2686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3CEC223A-35FD-DC3E-55F6-A4EF557F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703" y="16764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个人资料修改</a:t>
            </a:r>
            <a:endParaRPr sz="1350" b="1">
              <a:solidFill>
                <a:srgbClr val="FFD9C9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9" name="图片 7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fa6f58e1b47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2326" y="1939671"/>
            <a:ext cx="2150803" cy="4057649"/>
          </a:xfrm>
          <a:prstGeom xmlns:a="http://schemas.openxmlformats.org/drawingml/2006/main" prst="rect">
            <a:avLst/>
          </a:prstGeom>
        </p:spPr>
      </p:pic>
      <p:pic>
        <p:nvPicPr>
          <p:cNvPr id="100" name="图片 7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6cdd9955b47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80731" y="2006945"/>
            <a:ext cx="2091677" cy="3923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7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CD66792-F670-45CE-974F-E60DC8CF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D6EDD08-0E32-46E0-93D3-0FC1B772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管理端功能展示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2882E3DB-F5E8-4186-89B6-3CFE58C5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CE751ABA-52CE-4DE0-89D1-7E0B4D7E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931E9E0C-363C-4C1B-8B67-805B00DD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4" y="1613380"/>
            <a:ext cx="5248275" cy="4325406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3A4CFB4-8130-4BFF-9A46-F0977CA1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67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3C473EB-BBAB-448A-B823-2C7A2E01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9613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业务总览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F6AC2E75-6CF0-4C22-87BC-2F37F1F8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558F79E-C5FD-48F2-A77D-7D1A3A57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9A22BB2-1AA8-498D-AC56-8EB3E9C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pic>
        <p:nvPicPr>
          <p:cNvPr id="44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5a63424eed45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" y="2228851"/>
            <a:ext cx="5048250" cy="3404077"/>
          </a:xfrm>
          <a:prstGeom xmlns:a="http://schemas.openxmlformats.org/drawingml/2006/main" prst="rect">
            <a:avLst/>
          </a:prstGeom>
        </p:spPr>
      </p:pic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DE7BBBBE-7255-53B4-6C8F-5F0A6520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3380"/>
            <a:ext cx="5248275" cy="4325406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93B0B26B-3E6D-E579-F00B-776E4C1B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1" y="18167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1967D28-33B3-B433-E5FD-21EF266C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1" y="1909613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充电桩管理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8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3c536f8c14e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1" y="2307257"/>
            <a:ext cx="4912480" cy="332567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340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5428B01-9558-06A2-B818-7C2C677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49D1CF7-4777-CEEC-0CC8-F4C5FBFA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管理端功能展示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3299E7A-32B4-D4D9-AB0E-5A630AF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464B0851-12BA-1BE7-9566-75323D1F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86987201-923E-65DC-581B-42FCCD05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4" y="1613380"/>
            <a:ext cx="5248275" cy="4325406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CE6BB386-1DF3-A699-24A0-C047A59D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67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0455E1D-8829-CCE3-138A-5BC4AB05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9613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充电桩编辑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42846FC6-88E1-65E8-85D7-560DD40D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1520C5E-E3D8-1425-5655-3AD0B457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B215FBC-8BFF-44E4-FFE5-BF93B24E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2ED00D78-D2A4-AB6F-7AE2-CD9D0C2F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613380"/>
            <a:ext cx="5248275" cy="4325406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3DD0ABC1-F1B5-142A-C6F2-3F45DFB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1" y="18167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E735D9A-8DA7-3613-6D7B-4A965F1D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1" y="1909613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用户管理与冻结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7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df029b187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720" y="2351229"/>
            <a:ext cx="4829062" cy="3285912"/>
          </a:xfrm>
          <a:prstGeom xmlns:a="http://schemas.openxmlformats.org/drawingml/2006/main" prst="rect">
            <a:avLst/>
          </a:prstGeom>
        </p:spPr>
      </p:pic>
      <p:pic>
        <p:nvPicPr>
          <p:cNvPr id="48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bbb7823dc47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5274" y="2316883"/>
            <a:ext cx="4853751" cy="32859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0978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0378863-2926-2B12-0A79-7BC3B1B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ADMIN CLIENT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A0F857-1665-EADD-FB89-13A42AA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充电站定位及导航</a:t>
            </a:r>
            <a:endParaRPr sz="255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0A56656-DC54-B79C-1AF2-CF99F9F6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599CC29D-378A-25BA-A2CE-8ED11954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4F409443-AAF2-4210-5770-BCC8CBC6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4" y="1613380"/>
            <a:ext cx="5248275" cy="4325406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BBB8B765-E4F9-D50A-AB25-24E2DB88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67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619B397-B567-EEBA-E4C2-51D4D81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9613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管理端添加充电站地址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C43DAD69-4D11-DC55-111D-F5479125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3331435-59BB-923C-B13A-0E8CCDC2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38F5500-4DD6-C1F1-0F67-89F734B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07DDDDB6-7E0E-09D4-649B-79AAFE62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269" y="1613380"/>
            <a:ext cx="2421757" cy="4325406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202C32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9" name="直接连接符 28">
            <a:extLst xmlns:a="http://schemas.openxmlformats.org/drawingml/2006/main">
              <a:ext uri="{FF2B5EF4-FFF2-40B4-BE49-F238E27FC236}">
                <a16:creationId xmlns:a16="http://schemas.microsoft.com/office/drawing/2014/main" id="{7F819B6E-9206-5245-5850-DE8981B0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1" y="1816768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AEF9B9C-CCD1-D29E-E215-31CE80E4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1" y="1909613"/>
            <a:ext cx="459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用户端选择当前地址</a:t>
            </a:r>
            <a:endParaRPr sz="17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7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f1295a7ba4a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623" y="2300564"/>
            <a:ext cx="4809475" cy="3241829"/>
          </a:xfrm>
          <a:prstGeom xmlns:a="http://schemas.openxmlformats.org/drawingml/2006/main" prst="rect">
            <a:avLst/>
          </a:prstGeom>
        </p:spPr>
      </p:pic>
      <p:pic>
        <p:nvPicPr>
          <p:cNvPr id="48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e3b47b5c4b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1" y="2214414"/>
            <a:ext cx="1931972" cy="36477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107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0C6CA429-DF20-491D-B4C6-2A120F53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SERVER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A65EA2B-EDFC-4538-9BF5-64909851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服务端设计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10B40F-8CD3-4220-AE18-042501D4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650" b="1">
                <a:solidFill>
                  <a:srgbClr val="00C2A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C2A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直接连接符 3">
            <a:extLst xmlns:a="http://schemas.openxmlformats.org/drawingml/2006/main">
              <a:ext uri="{FF2B5EF4-FFF2-40B4-BE49-F238E27FC236}">
                <a16:creationId xmlns:a16="http://schemas.microsoft.com/office/drawing/2014/main" id="{7ABF2735-1089-45F5-9AA9-47A769F3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3EB31B26-B657-4CE6-80D1-89D6DD34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3D0B74D-2C54-41D4-A7A3-79C471CF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07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8CB4CC0-6DF0-469A-ABBE-80B47DCD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812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接收请求 / Token 认证 / 参数校验</a:t>
            </a:r>
          </a:p>
        </p:txBody>
      </p:sp>
      <p:sp>
        <p:nvSpPr>
          <p:cNvPr id="8" name="箭头: 右 7">
            <a:extLst xmlns:a="http://schemas.openxmlformats.org/drawingml/2006/main">
              <a:ext uri="{FF2B5EF4-FFF2-40B4-BE49-F238E27FC236}">
                <a16:creationId xmlns:a16="http://schemas.microsoft.com/office/drawing/2014/main" id="{311B1C71-DBA9-4E7A-A70D-95E74A9B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5450" y="260032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BB609DBC-5F60-487B-9663-C7AE6DF3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C2A8"/>
          </a:solidFill>
          <a:ln xmlns:a="http://schemas.openxmlformats.org/drawingml/2006/main" w="0">
            <a:solidFill>
              <a:srgbClr val="00C2A8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AEDB185-672D-48EA-9B4F-EC66B7D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Service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9864CE1-BC41-4961-869F-D0EFCCF5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765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用户、站点、电桩、充电和分时计价规则</a:t>
            </a:r>
          </a:p>
        </p:txBody>
      </p:sp>
      <p:sp>
        <p:nvSpPr>
          <p:cNvPr id="12" name="箭头: 右 11">
            <a:extLst xmlns:a="http://schemas.openxmlformats.org/drawingml/2006/main">
              <a:ext uri="{FF2B5EF4-FFF2-40B4-BE49-F238E27FC236}">
                <a16:creationId xmlns:a16="http://schemas.microsoft.com/office/drawing/2014/main" id="{7D73B912-6B83-4867-B9A0-D8AA66FD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5450" y="3690937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3C6D26AF-A10A-43B3-92C3-16DA57B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8B2CCF8-9867-49BC-B17C-4327B39F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4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1E24BE-D5EB-4BFB-8534-211BDBB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查询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/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事务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/ </a:t>
            </a: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数据持久化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956388BC-9E30-4ED3-8C9D-FBB197DC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219450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172129"/>
          </a:solidFill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CF2F3CC-D308-4530-9544-9DAD4089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9C9"/>
                </a:solidFill>
                <a:latin typeface="Arial"/>
                <a:ea typeface="Arial"/>
                <a:cs typeface="Arial"/>
              </a:rPr>
              <a:t>核心约束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B8F8CE0E-F531-4B89-974D-6BBAB14E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530535F-116A-4359-9E0E-C0CBC194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49"/>
            <a:ext cx="2343150" cy="4953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订单、余额、电桩状态保持一致</a:t>
            </a:r>
            <a:endParaRPr sz="135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3ED4BF30-1803-4804-BDF3-56C8EE0F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22C0DFBB-AF20-4BC1-9319-881E6BDD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956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写操作有权限校验与状态校验</a:t>
            </a:r>
            <a:endParaRPr sz="135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椭圆 21">
            <a:extLst xmlns:a="http://schemas.openxmlformats.org/drawingml/2006/main">
              <a:ext uri="{FF2B5EF4-FFF2-40B4-BE49-F238E27FC236}">
                <a16:creationId xmlns:a16="http://schemas.microsoft.com/office/drawing/2014/main" id="{04FA3BCB-5424-41FB-B4A8-E8D8FAB8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1089F47-85FB-4219-B4EB-71E09E6D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异常时返回统一错误信息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5635AB3F-C909-4CE0-B2FF-44C7CB0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48250"/>
            <a:ext cx="32194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9D67F2D-2756-4E85-9575-5C23A19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24457"/>
            <a:ext cx="3219450" cy="4952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C++</a:t>
            </a:r>
            <a:r>
              <a:rPr sz="12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20</a:t>
            </a:r>
            <a:r>
              <a:rPr sz="127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 · Drogon · PostgreSQL · HTTP/JSON · Socket</a:t>
            </a:r>
          </a:p>
        </p:txBody>
      </p:sp>
      <p:sp>
        <p:nvSpPr>
          <p:cNvPr id="26" name="直接连接符 25">
            <a:extLst xmlns:a="http://schemas.openxmlformats.org/drawingml/2006/main">
              <a:ext uri="{FF2B5EF4-FFF2-40B4-BE49-F238E27FC236}">
                <a16:creationId xmlns:a16="http://schemas.microsoft.com/office/drawing/2014/main" id="{A9FA4418-ED1A-4B10-A1D4-45F3F14D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C832F8D-554B-41B7-A678-83CD5E47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68E2EF4-1152-4C76-AD10-F5A1F56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4824648E-677B-FAA2-0022-129907BA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5778"/>
            <a:ext cx="2190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E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5D7AEDF-CFA1-EEEE-E9B7-4E9D5136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2000"/>
              <a:t>PostgreSQL</a:t>
            </a:r>
            <a:endParaRPr sz="1875" b="1">
              <a:solidFill>
                <a:srgbClr val="10161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D85C546E-7E09-7B0C-58B5-64C21646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49037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统一保存业务数据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箭头: 右 36">
            <a:extLst xmlns:a="http://schemas.openxmlformats.org/drawingml/2006/main">
              <a:ext uri="{FF2B5EF4-FFF2-40B4-BE49-F238E27FC236}">
                <a16:creationId xmlns:a16="http://schemas.microsoft.com/office/drawing/2014/main" id="{81B74650-05E5-B9CE-B376-A3CF0821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95450" y="4786312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solidFill>
              <a:srgbClr val="34424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5739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hallenge-kicker">
            <a:extLst xmlns:a="http://schemas.openxmlformats.org/drawingml/2006/main">
              <a:ext uri="{FF2B5EF4-FFF2-40B4-BE49-F238E27FC236}">
                <a16:creationId xmlns:a16="http://schemas.microsoft.com/office/drawing/2014/main" id="{9EF46414-E595-48C0-B82C-579E9C9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VERDICT / PROJECT REVIEW</a:t>
            </a:r>
          </a:p>
        </p:txBody>
      </p:sp>
      <p:sp>
        <p:nvSpPr>
          <p:cNvPr id="2" name="challenge-title">
            <a:extLst xmlns:a="http://schemas.openxmlformats.org/drawingml/2006/main">
              <a:ext uri="{FF2B5EF4-FFF2-40B4-BE49-F238E27FC236}">
                <a16:creationId xmlns:a16="http://schemas.microsoft.com/office/drawing/2014/main" id="{8353995E-7E4E-4C28-9941-873DF934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项目挑战与实践收获</a:t>
            </a:r>
          </a:p>
        </p:txBody>
      </p:sp>
      <p:sp>
        <p:nvSpPr>
          <p:cNvPr id="3" name="challenge-number">
            <a:extLst xmlns:a="http://schemas.openxmlformats.org/drawingml/2006/main">
              <a:ext uri="{FF2B5EF4-FFF2-40B4-BE49-F238E27FC236}">
                <a16:creationId xmlns:a16="http://schemas.microsoft.com/office/drawing/2014/main" id="{6FC6C0CF-0FF4-470D-AFD9-80969185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0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625" b="1">
                <a:solidFill>
                  <a:srgbClr val="08C4B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8C4B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challenge-header-divider">
            <a:extLst xmlns:a="http://schemas.openxmlformats.org/drawingml/2006/main">
              <a:ext uri="{FF2B5EF4-FFF2-40B4-BE49-F238E27FC236}">
                <a16:creationId xmlns:a16="http://schemas.microsoft.com/office/drawing/2014/main" id="{72056657-DAAD-477D-A77D-B7A6D9FE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allenge-panel">
            <a:extLst xmlns:a="http://schemas.openxmlformats.org/drawingml/2006/main">
              <a:ext uri="{FF2B5EF4-FFF2-40B4-BE49-F238E27FC236}">
                <a16:creationId xmlns:a16="http://schemas.microsoft.com/office/drawing/2014/main" id="{E26238C8-1283-423E-8280-F343FE88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5143500" cy="3829050"/>
          </a:xfrm>
          <a:prstGeom xmlns:a="http://schemas.openxmlformats.org/drawingml/2006/main" prst="roundRect">
            <a:avLst>
              <a:gd name="adj" fmla="val 3483"/>
            </a:avLst>
          </a:prstGeom>
          <a:solidFill xmlns:a="http://schemas.openxmlformats.org/drawingml/2006/main">
            <a:srgbClr val="19232B"/>
          </a:solidFill>
          <a:ln xmlns:a="http://schemas.openxmlformats.org/drawingml/2006/main" w="11430">
            <a:solidFill>
              <a:srgbClr val="34454E"/>
            </a:solidFill>
            <a:prstDash val="solid"/>
          </a:ln>
        </p:spPr>
      </p:sp>
      <p:sp>
        <p:nvSpPr>
          <p:cNvPr id="6" name="learning-panel">
            <a:extLst xmlns:a="http://schemas.openxmlformats.org/drawingml/2006/main">
              <a:ext uri="{FF2B5EF4-FFF2-40B4-BE49-F238E27FC236}">
                <a16:creationId xmlns:a16="http://schemas.microsoft.com/office/drawing/2014/main" id="{E82A768E-F4D6-47AE-A273-CB3EEB56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143500" cy="3829050"/>
          </a:xfrm>
          <a:prstGeom xmlns:a="http://schemas.openxmlformats.org/drawingml/2006/main" prst="roundRect">
            <a:avLst>
              <a:gd name="adj" fmla="val 3483"/>
            </a:avLst>
          </a:prstGeom>
          <a:solidFill xmlns:a="http://schemas.openxmlformats.org/drawingml/2006/main">
            <a:srgbClr val="19232B"/>
          </a:solidFill>
          <a:ln xmlns:a="http://schemas.openxmlformats.org/drawingml/2006/main" w="11430">
            <a:solidFill>
              <a:srgbClr val="34454E"/>
            </a:solidFill>
            <a:prstDash val="solid"/>
          </a:ln>
        </p:spPr>
      </p:sp>
      <p:sp>
        <p:nvSpPr>
          <p:cNvPr id="7" name="challenge-accent">
            <a:extLst xmlns:a="http://schemas.openxmlformats.org/drawingml/2006/main">
              <a:ext uri="{FF2B5EF4-FFF2-40B4-BE49-F238E27FC236}">
                <a16:creationId xmlns:a16="http://schemas.microsoft.com/office/drawing/2014/main" id="{AEEBFF13-B15C-4625-A03D-AB32BB23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arning-accent">
            <a:extLst xmlns:a="http://schemas.openxmlformats.org/drawingml/2006/main">
              <a:ext uri="{FF2B5EF4-FFF2-40B4-BE49-F238E27FC236}">
                <a16:creationId xmlns:a16="http://schemas.microsoft.com/office/drawing/2014/main" id="{278862E8-D7A4-4228-9700-921170F0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28800"/>
            <a:ext cx="514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C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allenge-heading">
            <a:extLst xmlns:a="http://schemas.openxmlformats.org/drawingml/2006/main">
              <a:ext uri="{FF2B5EF4-FFF2-40B4-BE49-F238E27FC236}">
                <a16:creationId xmlns:a16="http://schemas.microsoft.com/office/drawing/2014/main" id="{7BD603DC-53C3-41E3-BFA2-F69B3583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项目挑战</a:t>
            </a:r>
          </a:p>
        </p:txBody>
      </p:sp>
      <p:sp>
        <p:nvSpPr>
          <p:cNvPr id="10" name="learning-heading">
            <a:extLst xmlns:a="http://schemas.openxmlformats.org/drawingml/2006/main">
              <a:ext uri="{FF2B5EF4-FFF2-40B4-BE49-F238E27FC236}">
                <a16:creationId xmlns:a16="http://schemas.microsoft.com/office/drawing/2014/main" id="{533B3374-EF53-497F-A516-6CFE1973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实践收获</a:t>
            </a:r>
          </a:p>
        </p:txBody>
      </p:sp>
      <p:sp>
        <p:nvSpPr>
          <p:cNvPr id="11" name="challenge-1-dot">
            <a:extLst xmlns:a="http://schemas.openxmlformats.org/drawingml/2006/main">
              <a:ext uri="{FF2B5EF4-FFF2-40B4-BE49-F238E27FC236}">
                <a16:creationId xmlns:a16="http://schemas.microsoft.com/office/drawing/2014/main" id="{A3D73613-9BD2-4C4D-B7D7-51A2B613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66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allenge-1-heading">
            <a:extLst xmlns:a="http://schemas.openxmlformats.org/drawingml/2006/main">
              <a:ext uri="{FF2B5EF4-FFF2-40B4-BE49-F238E27FC236}">
                <a16:creationId xmlns:a16="http://schemas.microsoft.com/office/drawing/2014/main" id="{853F212B-3BD8-428D-823E-9FDD1895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环境配置差异</a:t>
            </a:r>
          </a:p>
        </p:txBody>
      </p:sp>
      <p:sp>
        <p:nvSpPr>
          <p:cNvPr id="13" name="challenge-1-detail">
            <a:extLst xmlns:a="http://schemas.openxmlformats.org/drawingml/2006/main">
              <a:ext uri="{FF2B5EF4-FFF2-40B4-BE49-F238E27FC236}">
                <a16:creationId xmlns:a16="http://schemas.microsoft.com/office/drawing/2014/main" id="{48C6DFEC-36E1-4C0C-89C6-D1FC5A51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67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Qt、编译器、数据库和依赖版本不同，环境复现占用较多时间</a:t>
            </a:r>
          </a:p>
        </p:txBody>
      </p:sp>
      <p:sp>
        <p:nvSpPr>
          <p:cNvPr id="14" name="challenge-2-dot">
            <a:extLst xmlns:a="http://schemas.openxmlformats.org/drawingml/2006/main">
              <a:ext uri="{FF2B5EF4-FFF2-40B4-BE49-F238E27FC236}">
                <a16:creationId xmlns:a16="http://schemas.microsoft.com/office/drawing/2014/main" id="{97B5CA65-EA16-47EE-B263-62796721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allenge-2-heading">
            <a:extLst xmlns:a="http://schemas.openxmlformats.org/drawingml/2006/main">
              <a:ext uri="{FF2B5EF4-FFF2-40B4-BE49-F238E27FC236}">
                <a16:creationId xmlns:a16="http://schemas.microsoft.com/office/drawing/2014/main" id="{9F11616F-C6CE-4711-9E95-217E1A11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24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接口协作反复</a:t>
            </a:r>
          </a:p>
        </p:txBody>
      </p:sp>
      <p:sp>
        <p:nvSpPr>
          <p:cNvPr id="16" name="challenge-2-detail">
            <a:extLst xmlns:a="http://schemas.openxmlformats.org/drawingml/2006/main">
              <a:ext uri="{FF2B5EF4-FFF2-40B4-BE49-F238E27FC236}">
                <a16:creationId xmlns:a16="http://schemas.microsoft.com/office/drawing/2014/main" id="{EFFCB300-C7E3-407C-8986-9C29E3FC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909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字段、错误码和状态流转理解不一致，增加联调成本</a:t>
            </a:r>
          </a:p>
        </p:txBody>
      </p:sp>
      <p:sp>
        <p:nvSpPr>
          <p:cNvPr id="17" name="challenge-3-dot">
            <a:extLst xmlns:a="http://schemas.openxmlformats.org/drawingml/2006/main">
              <a:ext uri="{FF2B5EF4-FFF2-40B4-BE49-F238E27FC236}">
                <a16:creationId xmlns:a16="http://schemas.microsoft.com/office/drawing/2014/main" id="{33BAFCBF-6EB9-43CB-854B-79BEDB31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allenge-3-heading">
            <a:extLst xmlns:a="http://schemas.openxmlformats.org/drawingml/2006/main">
              <a:ext uri="{FF2B5EF4-FFF2-40B4-BE49-F238E27FC236}">
                <a16:creationId xmlns:a16="http://schemas.microsoft.com/office/drawing/2014/main" id="{CF4C572D-BE77-4280-91EF-E44BA6DD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公共文件冲突</a:t>
            </a:r>
          </a:p>
        </p:txBody>
      </p:sp>
      <p:sp>
        <p:nvSpPr>
          <p:cNvPr id="19" name="challenge-3-detail">
            <a:extLst xmlns:a="http://schemas.openxmlformats.org/drawingml/2006/main">
              <a:ext uri="{FF2B5EF4-FFF2-40B4-BE49-F238E27FC236}">
                <a16:creationId xmlns:a16="http://schemas.microsoft.com/office/drawing/2014/main" id="{828B458E-CD44-4FA4-903C-E88FA8E2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148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多人修改页面与服务层时，容易覆盖或重复实现</a:t>
            </a:r>
          </a:p>
        </p:txBody>
      </p:sp>
      <p:sp>
        <p:nvSpPr>
          <p:cNvPr id="20" name="challenge-4-dot">
            <a:extLst xmlns:a="http://schemas.openxmlformats.org/drawingml/2006/main">
              <a:ext uri="{FF2B5EF4-FFF2-40B4-BE49-F238E27FC236}">
                <a16:creationId xmlns:a16="http://schemas.microsoft.com/office/drawing/2014/main" id="{F3664682-56DB-45D0-B620-03AA2B42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allenge-4-heading">
            <a:extLst xmlns:a="http://schemas.openxmlformats.org/drawingml/2006/main">
              <a:ext uri="{FF2B5EF4-FFF2-40B4-BE49-F238E27FC236}">
                <a16:creationId xmlns:a16="http://schemas.microsoft.com/office/drawing/2014/main" id="{7A94F9B4-3C38-46E3-BD36-0781E28B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72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故障定位跨度大</a:t>
            </a:r>
          </a:p>
        </p:txBody>
      </p:sp>
      <p:sp>
        <p:nvSpPr>
          <p:cNvPr id="22" name="challenge-4-detail">
            <a:extLst xmlns:a="http://schemas.openxmlformats.org/drawingml/2006/main">
              <a:ext uri="{FF2B5EF4-FFF2-40B4-BE49-F238E27FC236}">
                <a16:creationId xmlns:a16="http://schemas.microsoft.com/office/drawing/2014/main" id="{38223C41-D3FE-497A-8B9A-DAE1F0E4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问题可能来自客户端、网络、服务端或数据库</a:t>
            </a:r>
          </a:p>
        </p:txBody>
      </p:sp>
      <p:sp>
        <p:nvSpPr>
          <p:cNvPr id="23" name="learning-1-dot">
            <a:extLst xmlns:a="http://schemas.openxmlformats.org/drawingml/2006/main">
              <a:ext uri="{FF2B5EF4-FFF2-40B4-BE49-F238E27FC236}">
                <a16:creationId xmlns:a16="http://schemas.microsoft.com/office/drawing/2014/main" id="{56F8B1BE-7743-471F-8748-78507B1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66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earning-1-heading">
            <a:extLst xmlns:a="http://schemas.openxmlformats.org/drawingml/2006/main">
              <a:ext uri="{FF2B5EF4-FFF2-40B4-BE49-F238E27FC236}">
                <a16:creationId xmlns:a16="http://schemas.microsoft.com/office/drawing/2014/main" id="{B45C31B7-1803-4952-ABCD-F0D76180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003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统一环境与配置</a:t>
            </a:r>
          </a:p>
        </p:txBody>
      </p:sp>
      <p:sp>
        <p:nvSpPr>
          <p:cNvPr id="25" name="learning-1-detail">
            <a:extLst xmlns:a="http://schemas.openxmlformats.org/drawingml/2006/main">
              <a:ext uri="{FF2B5EF4-FFF2-40B4-BE49-F238E27FC236}">
                <a16:creationId xmlns:a16="http://schemas.microsoft.com/office/drawing/2014/main" id="{FE26CB42-B4E1-48DA-95AC-87CF9B78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固定依赖版本，集中管理接口地址、数据库连接和地图密钥</a:t>
            </a:r>
          </a:p>
        </p:txBody>
      </p:sp>
      <p:sp>
        <p:nvSpPr>
          <p:cNvPr id="26" name="learning-2-dot">
            <a:extLst xmlns:a="http://schemas.openxmlformats.org/drawingml/2006/main">
              <a:ext uri="{FF2B5EF4-FFF2-40B4-BE49-F238E27FC236}">
                <a16:creationId xmlns:a16="http://schemas.microsoft.com/office/drawing/2014/main" id="{F48CECC4-6FFD-43DE-AEA8-3916DC75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90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learning-2-heading">
            <a:extLst xmlns:a="http://schemas.openxmlformats.org/drawingml/2006/main">
              <a:ext uri="{FF2B5EF4-FFF2-40B4-BE49-F238E27FC236}">
                <a16:creationId xmlns:a16="http://schemas.microsoft.com/office/drawing/2014/main" id="{05925A59-9F13-4942-B2FB-5EBCC32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以 API 文档约定协作</a:t>
            </a:r>
          </a:p>
        </p:txBody>
      </p:sp>
      <p:sp>
        <p:nvSpPr>
          <p:cNvPr id="28" name="learning-2-detail">
            <a:extLst xmlns:a="http://schemas.openxmlformats.org/drawingml/2006/main">
              <a:ext uri="{FF2B5EF4-FFF2-40B4-BE49-F238E27FC236}">
                <a16:creationId xmlns:a16="http://schemas.microsoft.com/office/drawing/2014/main" id="{6BBA6332-0C38-446A-8352-01BFE15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明确请求参数、响应字段和错误处理，减少口头同步</a:t>
            </a:r>
          </a:p>
        </p:txBody>
      </p:sp>
      <p:sp>
        <p:nvSpPr>
          <p:cNvPr id="29" name="learning-3-dot">
            <a:extLst xmlns:a="http://schemas.openxmlformats.org/drawingml/2006/main">
              <a:ext uri="{FF2B5EF4-FFF2-40B4-BE49-F238E27FC236}">
                <a16:creationId xmlns:a16="http://schemas.microsoft.com/office/drawing/2014/main" id="{C599747D-B0E3-49F9-B4AE-37046981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learning-3-heading">
            <a:extLst xmlns:a="http://schemas.openxmlformats.org/drawingml/2006/main">
              <a:ext uri="{FF2B5EF4-FFF2-40B4-BE49-F238E27FC236}">
                <a16:creationId xmlns:a16="http://schemas.microsoft.com/office/drawing/2014/main" id="{77F692F5-85BD-4A79-8D3F-A40BBBB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48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分层开发并控制改动</a:t>
            </a:r>
          </a:p>
        </p:txBody>
      </p:sp>
      <p:sp>
        <p:nvSpPr>
          <p:cNvPr id="31" name="learning-3-detail">
            <a:extLst xmlns:a="http://schemas.openxmlformats.org/drawingml/2006/main">
              <a:ext uri="{FF2B5EF4-FFF2-40B4-BE49-F238E27FC236}">
                <a16:creationId xmlns:a16="http://schemas.microsoft.com/office/drawing/2014/main" id="{B4B5046E-5BF5-4971-8936-5789EAE3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按 Model、Service、Page 分工，小步提交降低合并风险</a:t>
            </a:r>
          </a:p>
        </p:txBody>
      </p:sp>
      <p:sp>
        <p:nvSpPr>
          <p:cNvPr id="32" name="learning-4-dot">
            <a:extLst xmlns:a="http://schemas.openxmlformats.org/drawingml/2006/main">
              <a:ext uri="{FF2B5EF4-FFF2-40B4-BE49-F238E27FC236}">
                <a16:creationId xmlns:a16="http://schemas.microsoft.com/office/drawing/2014/main" id="{F7C17538-6E30-4D8C-B59A-90FE1F6E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38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C4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learning-4-heading">
            <a:extLst xmlns:a="http://schemas.openxmlformats.org/drawingml/2006/main">
              <a:ext uri="{FF2B5EF4-FFF2-40B4-BE49-F238E27FC236}">
                <a16:creationId xmlns:a16="http://schemas.microsoft.com/office/drawing/2014/main" id="{DD06E0EF-4DD0-4E33-91D3-4AB0DCFB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720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形成联调排查链路</a:t>
            </a:r>
          </a:p>
        </p:txBody>
      </p:sp>
      <p:sp>
        <p:nvSpPr>
          <p:cNvPr id="34" name="learning-4-detail">
            <a:extLst xmlns:a="http://schemas.openxmlformats.org/drawingml/2006/main">
              <a:ext uri="{FF2B5EF4-FFF2-40B4-BE49-F238E27FC236}">
                <a16:creationId xmlns:a16="http://schemas.microsoft.com/office/drawing/2014/main" id="{53F31D63-CE2A-4C06-B747-B4124D3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38700"/>
            <a:ext cx="417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结合客户端日志、服务端日志和数据库状态定位问题</a:t>
            </a:r>
          </a:p>
        </p:txBody>
      </p:sp>
      <p:sp>
        <p:nvSpPr>
          <p:cNvPr id="35" name="challenge-summary">
            <a:extLst xmlns:a="http://schemas.openxmlformats.org/drawingml/2006/main">
              <a:ext uri="{FF2B5EF4-FFF2-40B4-BE49-F238E27FC236}">
                <a16:creationId xmlns:a16="http://schemas.microsoft.com/office/drawing/2014/main" id="{A1725791-553B-4AFD-9E85-A519C668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668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allenge-summary-text">
            <a:extLst xmlns:a="http://schemas.openxmlformats.org/drawingml/2006/main">
              <a:ext uri="{FF2B5EF4-FFF2-40B4-BE49-F238E27FC236}">
                <a16:creationId xmlns:a16="http://schemas.microsoft.com/office/drawing/2014/main" id="{B135AC85-AD4A-4B1D-BEC8-5AEF1A23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38800"/>
            <a:ext cx="1017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0161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61B"/>
                </a:solidFill>
                <a:latin typeface="Arial"/>
                <a:ea typeface="Arial"/>
                <a:cs typeface="Arial"/>
              </a:rPr>
              <a:t>统一配置、接口文档和分层协作，直接影响团队的联调效率</a:t>
            </a:r>
          </a:p>
        </p:txBody>
      </p:sp>
      <p:sp>
        <p:nvSpPr>
          <p:cNvPr id="37" name="challenge-footer-divider">
            <a:extLst xmlns:a="http://schemas.openxmlformats.org/drawingml/2006/main">
              <a:ext uri="{FF2B5EF4-FFF2-40B4-BE49-F238E27FC236}">
                <a16:creationId xmlns:a16="http://schemas.microsoft.com/office/drawing/2014/main" id="{9ABBF5E3-4E50-4469-B62E-F4ED6E66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hallenge-footer-title">
            <a:extLst xmlns:a="http://schemas.openxmlformats.org/drawingml/2006/main">
              <a:ext uri="{FF2B5EF4-FFF2-40B4-BE49-F238E27FC236}">
                <a16:creationId xmlns:a16="http://schemas.microsoft.com/office/drawing/2014/main" id="{A3DF6673-5DD6-495D-B945-B8740BD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39" name="challenge-footer-team">
            <a:extLst xmlns:a="http://schemas.openxmlformats.org/drawingml/2006/main">
              <a:ext uri="{FF2B5EF4-FFF2-40B4-BE49-F238E27FC236}">
                <a16:creationId xmlns:a16="http://schemas.microsoft.com/office/drawing/2014/main" id="{BBD6F4EA-66A7-4908-BC60-C5B24DF5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>
                <a:solidFill>
                  <a:srgbClr val="A5AFB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5AFB4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1115608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6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B900E4E-0C1F-4353-AE24-3ED9C5A8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2D3D9D0-EFE1-4E2E-B5F0-DE22FBCF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525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6B35"/>
                </a:solidFill>
                <a:latin typeface="Arial"/>
                <a:ea typeface="Arial"/>
                <a:cs typeface="Arial"/>
              </a:rPr>
              <a:t>GALE / VERDICT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A68BA92-03BF-4F5C-A508-6ED15625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45"/>
            <a:ext cx="5905500" cy="1028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谢谢大家</a:t>
            </a:r>
            <a:endParaRPr sz="48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C7DD38E-AE46-4F62-91F6-032AFCD6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D9C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D9C9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5" name="直接连接符 4">
            <a:extLst xmlns:a="http://schemas.openxmlformats.org/drawingml/2006/main">
              <a:ext uri="{FF2B5EF4-FFF2-40B4-BE49-F238E27FC236}">
                <a16:creationId xmlns:a16="http://schemas.microsoft.com/office/drawing/2014/main" id="{402363D5-3BE3-4086-9669-06C94F41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35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56B3C74-1619-4B19-B7AB-FEFB4DC8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  ·  2026.09.10</a:t>
            </a:r>
          </a:p>
        </p:txBody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90D58CC1-4BE8-45D5-95D8-1E8A9A9A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249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9D2717A-9B94-4D85-9A24-BEB2EA8C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电动汽车充电运营管理平台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FF8C56-B8D1-4561-9F35-F0B10D62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AEB9B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EB9B8"/>
                </a:solidFill>
                <a:latin typeface="Arial"/>
                <a:ea typeface="Arial"/>
                <a:cs typeface="Arial"/>
              </a:rPr>
              <a:t>第四组</a:t>
            </a:r>
          </a:p>
        </p:txBody>
      </p:sp>
    </p:spTree>
    <p:extLst>
      <p:ext uri="{BB962C8B-B14F-4D97-AF65-F5344CB8AC3E}">
        <p14:creationId xmlns:p14="http://schemas.microsoft.com/office/powerpoint/2010/main" val="689201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2026-09-10T06:32:13.9960000Z</dcterms:created>
  <dcterms:modified xsi:type="dcterms:W3CDTF">2026-09-10T06:32:13.9970000Z</dcterms:modified>
</coreProperties>
</file>