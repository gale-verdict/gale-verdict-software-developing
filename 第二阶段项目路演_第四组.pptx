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25 秒。各位老师好，我们是第4组烈风裁决。本次汇报第二阶段成果，重点介绍数据集建设、数据处理与分析、可视化系统和测试分工。</a:t>
            </a:r>
            <a:endParaRPr lang="zh-CN" altLang="en-US" dirty="0"/>
          </a:p>
          <a:p>
            <a:r>
              <a:rPr lang="zh-CN" altLang="en-US" dirty="0"/>
              <a:t>资料来源：</a:t>
            </a:r>
            <a:r>
              <a:rPr lang="en-US" dirty="0"/>
              <a:t>C:/Users/wantu/share/Big-data-experiment/README.md；</a:t>
            </a:r>
            <a:r>
              <a:rPr lang="zh-CN" altLang="en-US" dirty="0"/>
              <a:t>数据集</a:t>
            </a:r>
            <a:r>
              <a:rPr lang="en-US" altLang="zh-CN" dirty="0"/>
              <a:t>/</a:t>
            </a:r>
            <a:r>
              <a:rPr lang="en-US" dirty="0"/>
              <a:t>data_spec_v1.0/README.md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35 秒。本阶段围绕数据补充项目完成五项任务。我们先建立符合业务约束的数据集，再完成清洗和数据库适配。在此基础上实现指标分析、可视化页面和系统联调。</a:t>
            </a:r>
          </a:p>
          <a:p>
            <a:r>
              <a:rPr dirty="0" err="1"/>
              <a:t>资料来源：C</a:t>
            </a:r>
            <a:r>
              <a:rPr dirty="0"/>
              <a:t>:/Users/wantu/share/Big-data-experiment/README.md；PRODUCT.md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秒。第二阶段直接读取第一阶段充电系统的数据结构。规范化数据先适配 PostgreSQL，Python 和 PySpark 负责清洗与指标准备，Flask 提供只读聚合接口，Vue3 和 ECharts 展示分析结果。预测模块读取规范化数据并输出结果文件，由 Flask 统一提供给前端。</a:t>
            </a:r>
          </a:p>
          <a:p>
            <a:endParaRPr/>
          </a:p>
          <a:p>
            <a:r>
              <a:t>资料来源：C:/Users/wantu/share/Big-data-experiment/README.md；backend/app.py；frontend/src/App.vue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55 秒。数据集由三张业务表组成。原始数据来自课程教师，充电会话只有3395条、电池时序1594条、站点105条。为了满足大数据处理实验，我们按配置和业务约束生成扩充数据，并注入少量可控脏数据。清洗后得到149801条会话、1206262条时序记录和105个站点。扩充数据属于课程合成模拟数据，不代表真实运营采集。</a:t>
            </a:r>
          </a:p>
          <a:p>
            <a:endParaRPr/>
          </a:p>
          <a:p>
            <a:r>
              <a:t>资料来源：C:/Users/wantu/share/Big-data-experiment/数据集/data_spec_v1.0/README.md；data/README.md；data/normalized/expanded/report/spec_quality_metrics.csv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45 秒。会话表是分析主表，核心字段覆盖会话、用户、站点、时间、充电量和费用。站点表补充名称、地址与坐标，电池时序表记录SOC、电压、电流与温度。页面中的统计指标都能追溯到这些字段。下方样例来自清洗后的规范化会话表。</a:t>
            </a:r>
          </a:p>
          <a:p>
            <a:endParaRPr dirty="0"/>
          </a:p>
          <a:p>
            <a:r>
              <a:rPr dirty="0" err="1"/>
              <a:t>资料来源：C</a:t>
            </a:r>
            <a:r>
              <a:rPr dirty="0"/>
              <a:t>:/Users/</a:t>
            </a:r>
            <a:r>
              <a:rPr dirty="0" err="1"/>
              <a:t>wantu</a:t>
            </a:r>
            <a:r>
              <a:rPr dirty="0"/>
              <a:t>/share/Big-data-experiment/</a:t>
            </a:r>
            <a:r>
              <a:rPr dirty="0" err="1"/>
              <a:t>数据集</a:t>
            </a:r>
            <a:r>
              <a:rPr dirty="0"/>
              <a:t>/</a:t>
            </a:r>
            <a:r>
              <a:rPr dirty="0" err="1"/>
              <a:t>数据集_original</a:t>
            </a:r>
            <a:r>
              <a:rPr dirty="0"/>
              <a:t>/*</a:t>
            </a:r>
            <a:r>
              <a:rPr dirty="0" err="1"/>
              <a:t>字段说明.csv；data</a:t>
            </a:r>
            <a:r>
              <a:rPr dirty="0"/>
              <a:t>/normalized/expanded/charging_session.csv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50 秒。处理从原始CSV开始。脚本先读取三张表，再在ODS层保留原始字段，在DWD层完成去重、时间转换、缺失处理、异常修复和跨表一致性校验，随后在DWS层汇总指标，并生成适配原数据库的四张表。无法可靠修复的数据进入quarantine目录，所有处理规则写入质量报告。</a:t>
            </a:r>
          </a:p>
          <a:p>
            <a:endParaRPr dirty="0"/>
          </a:p>
          <a:p>
            <a:r>
              <a:rPr dirty="0" err="1"/>
              <a:t>资料来源：C</a:t>
            </a:r>
            <a:r>
              <a:rPr dirty="0"/>
              <a:t>:/Users/wantu/share/Big-data-experiment/cleaning/cleanData.py；docs/schema-mapping.md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60 秒。以下结果由清洗后的规范化会话CSV重新汇总。两年范围内共有149801次会话，累计充电930561.31千瓦时，累计时长423905.08小时，按清洗后的费用字段汇总营收173785.35元。活跃用户3000人，覆盖105个站点。按会话开始时间统计，17点是最集中时段，共10734次。需要说明，费用包含按项目规则补算的数据，因此属于实验口径。</a:t>
            </a:r>
          </a:p>
          <a:p>
            <a:endParaRPr dirty="0"/>
          </a:p>
          <a:p>
            <a:r>
              <a:rPr dirty="0" err="1"/>
              <a:t>资料来源：C</a:t>
            </a:r>
            <a:r>
              <a:rPr dirty="0"/>
              <a:t>:/Users/wantu/share/Big-data-experiment/data/normalized/expanded/charging_session.csv；backend/api/analytics.py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推荐截取最新版运营总览页面，浏览器宽度至少1440像素，确保画面同时包含顶部导航、六个KPI卡片、充电量日趋势和营收月度趋势。如果一张图放不下，</a:t>
            </a:r>
          </a:p>
          <a:p>
            <a:r>
              <a:rPr dirty="0" err="1"/>
              <a:t>资料来源：C</a:t>
            </a:r>
            <a:r>
              <a:rPr dirty="0"/>
              <a:t>:/Users/</a:t>
            </a:r>
            <a:r>
              <a:rPr dirty="0" err="1"/>
              <a:t>wantu</a:t>
            </a:r>
            <a:r>
              <a:rPr dirty="0"/>
              <a:t>/share/Big-data-experiment/frontend/</a:t>
            </a:r>
            <a:r>
              <a:rPr dirty="0" err="1"/>
              <a:t>src</a:t>
            </a:r>
            <a:r>
              <a:rPr dirty="0"/>
              <a:t>/views/</a:t>
            </a:r>
            <a:r>
              <a:rPr dirty="0" err="1"/>
              <a:t>Dashboard.vue；frontend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/views/</a:t>
            </a:r>
            <a:r>
              <a:rPr dirty="0" err="1"/>
              <a:t>Stations.vue；frontend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/views/</a:t>
            </a:r>
            <a:r>
              <a:rPr dirty="0" err="1"/>
              <a:t>Prediction.vue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建议用时</a:t>
            </a:r>
            <a:r>
              <a:rPr dirty="0"/>
              <a:t> 55 秒。项目包含三项核心预测任务。第一项预测未来24小时充电负荷，GBDT的平均绝对误差为16.54千瓦时，比最强的上周同时刻基线低约28%。第二项预测站点繁忙风险，提前1小时的ROC-AUC为0.932，适合短时预警。第三项根据充电开始后前15分钟的电池曲线预测总时长，平均误差为18.98分钟。系统还实现了用户流失风险、异常会话识别和用户聚类。所有指标来自课程合成数据的离线时间切分回测，不能直接作为真实运营承诺。</a:t>
            </a:r>
          </a:p>
          <a:p>
            <a:endParaRPr dirty="0"/>
          </a:p>
          <a:p>
            <a:r>
              <a:rPr dirty="0" err="1"/>
              <a:t>资料来源：C</a:t>
            </a:r>
            <a:r>
              <a:rPr dirty="0"/>
              <a:t>:/Users/wantu/share/Big-data-experiment/ml/README.md；ml/train_load_forecast.py；ml/train_full_probability.py；ml/train_duration.py；backend/api/ml.py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这里先用A到E代替组员姓名。A负责数据规范和模拟数据生成，B负责PySpark清洗及质量报告，C负责数据库适配、Flask接口和指标SQL，D负责Vue3与ECharts页面，E负责预测模型、测试联调和汇报材料。最终提交前替换姓名，并确保每个人都能说明自己的输入、输出和验证方式。</a:t>
            </a:r>
          </a:p>
          <a:p>
            <a:endParaRPr/>
          </a:p>
          <a:p>
            <a:r>
              <a:t>资料来源：C:/Users/wantu/share/Big-data-experiment/README.md；cleaning/；backend/；frontend/；ml/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2D324C8-02C1-429F-B043-25516179854C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烈风裁决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1BB00D-42A3-4FC6-8D2A-1AC40DCE2EBA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314BF1-DEDB-4863-B3DD-6DA4E8A614D8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1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3B63"/>
                </a:solidFill>
                <a:latin typeface="Microsoft YaHei"/>
                <a:ea typeface="Microsoft YaHei"/>
                <a:cs typeface="Microsoft YaHei"/>
              </a:rPr>
              <a:t>充电桩运营数据分析平台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6A31FF-9DF6-4EF6-A360-1E27638DFFA4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7810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第二阶段成果展示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722AF1-2F9F-4D21-B098-80D37C9BA130}"/>
              </a:ext>
            </a:extLst>
          </p:cNvPr>
          <p:cNvSpPr>
            <a:spLocks noGrp="1"/>
          </p:cNvSpPr>
          <p:nvPr/>
        </p:nvSpPr>
        <p:spPr>
          <a:xfrm>
            <a:off x="695325" y="3762375"/>
            <a:ext cx="6191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4 组 / 烈风裁决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3FF437-94CB-4FD7-BCF7-CAE0AC9E5E6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190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3977E6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DD7821-C80E-4A1E-B329-903CF2968CA6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190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7EA58F-0ECE-4D50-A246-18076A89B42F}"/>
              </a:ext>
            </a:extLst>
          </p:cNvPr>
          <p:cNvSpPr>
            <a:spLocks noGrp="1"/>
          </p:cNvSpPr>
          <p:nvPr/>
        </p:nvSpPr>
        <p:spPr>
          <a:xfrm>
            <a:off x="2047875" y="4972050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27B8C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18A0F1-BC0E-4143-846F-9EFCA31553F0}"/>
              </a:ext>
            </a:extLst>
          </p:cNvPr>
          <p:cNvSpPr>
            <a:spLocks noGrp="1"/>
          </p:cNvSpPr>
          <p:nvPr/>
        </p:nvSpPr>
        <p:spPr>
          <a:xfrm>
            <a:off x="2047875" y="4972050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PySpark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348BFA5-A253-4D7C-97B7-295358C403C5}"/>
              </a:ext>
            </a:extLst>
          </p:cNvPr>
          <p:cNvSpPr>
            <a:spLocks noGrp="1"/>
          </p:cNvSpPr>
          <p:nvPr/>
        </p:nvSpPr>
        <p:spPr>
          <a:xfrm>
            <a:off x="3552825" y="4972050"/>
            <a:ext cx="10953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2DA67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30F48F-69B3-4D2D-A022-2B8696DE3667}"/>
              </a:ext>
            </a:extLst>
          </p:cNvPr>
          <p:cNvSpPr>
            <a:spLocks noGrp="1"/>
          </p:cNvSpPr>
          <p:nvPr/>
        </p:nvSpPr>
        <p:spPr>
          <a:xfrm>
            <a:off x="3552825" y="4972050"/>
            <a:ext cx="1095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Flask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6A0609A-1D44-4257-AE3A-6C16F7086155}"/>
              </a:ext>
            </a:extLst>
          </p:cNvPr>
          <p:cNvSpPr>
            <a:spLocks noGrp="1"/>
          </p:cNvSpPr>
          <p:nvPr/>
        </p:nvSpPr>
        <p:spPr>
          <a:xfrm>
            <a:off x="4819650" y="4972050"/>
            <a:ext cx="10953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89B44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B27F6E-1711-47F2-8B2F-B3716E7E3D28}"/>
              </a:ext>
            </a:extLst>
          </p:cNvPr>
          <p:cNvSpPr>
            <a:spLocks noGrp="1"/>
          </p:cNvSpPr>
          <p:nvPr/>
        </p:nvSpPr>
        <p:spPr>
          <a:xfrm>
            <a:off x="4819650" y="4972050"/>
            <a:ext cx="1095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rPr>
              <a:t>Vue3</a:t>
            </a:r>
          </a:p>
        </p:txBody>
      </p:sp>
    </p:spTree>
    <p:extLst>
      <p:ext uri="{BB962C8B-B14F-4D97-AF65-F5344CB8AC3E}">
        <p14:creationId xmlns:p14="http://schemas.microsoft.com/office/powerpoint/2010/main" val="45267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E5F0EB8-1FCA-4284-A7C1-44BBD61FA5CC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第二阶段任务目标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8C7FCC-AF89-47D6-878B-8FA45BD0803A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28F64F-3058-4E0E-B349-22E366A5AB37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9436FE-0F38-441E-91BA-339D8990E5D1}"/>
              </a:ext>
            </a:extLst>
          </p:cNvPr>
          <p:cNvSpPr>
            <a:spLocks noGrp="1"/>
          </p:cNvSpPr>
          <p:nvPr/>
        </p:nvSpPr>
        <p:spPr>
          <a:xfrm>
            <a:off x="1257300" y="1428750"/>
            <a:ext cx="4552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构建充电业务数据集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BDF3C5-297B-4C7E-94F4-EFE27445AB2E}"/>
              </a:ext>
            </a:extLst>
          </p:cNvPr>
          <p:cNvSpPr>
            <a:spLocks noGrp="1"/>
          </p:cNvSpPr>
          <p:nvPr/>
        </p:nvSpPr>
        <p:spPr>
          <a:xfrm>
            <a:off x="1257300" y="1838325"/>
            <a:ext cx="4552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保留教师原始数据，按业务规则生成扩充数据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C1838D-3F63-4E15-9743-C992CFCB608F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837A10-41D9-4595-8E57-52B5F1512D9C}"/>
              </a:ext>
            </a:extLst>
          </p:cNvPr>
          <p:cNvSpPr>
            <a:spLocks noGrp="1"/>
          </p:cNvSpPr>
          <p:nvPr/>
        </p:nvSpPr>
        <p:spPr>
          <a:xfrm>
            <a:off x="6781800" y="1428750"/>
            <a:ext cx="4648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完成数据预处理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4B6FCA-2B60-4829-A97E-2CA77E5BAAC1}"/>
              </a:ext>
            </a:extLst>
          </p:cNvPr>
          <p:cNvSpPr>
            <a:spLocks noGrp="1"/>
          </p:cNvSpPr>
          <p:nvPr/>
        </p:nvSpPr>
        <p:spPr>
          <a:xfrm>
            <a:off x="6781800" y="1838325"/>
            <a:ext cx="46482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字段转换、缺失处理、异常修复与隔离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759A03-A023-4092-A34A-96B985D5AC3F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959F83-3594-4F8B-90A0-CB57194AA5FC}"/>
              </a:ext>
            </a:extLst>
          </p:cNvPr>
          <p:cNvSpPr>
            <a:spLocks noGrp="1"/>
          </p:cNvSpPr>
          <p:nvPr/>
        </p:nvSpPr>
        <p:spPr>
          <a:xfrm>
            <a:off x="1257300" y="3095625"/>
            <a:ext cx="4552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实现统计分析</a:t>
            </a:r>
            <a:endParaRPr sz="187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8B1D99-B163-4DD5-9B18-793333C54791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4552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计算充电量、营收、时段负荷与利用率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3969DD-10FD-43C5-B638-15C32E69A275}"/>
              </a:ext>
            </a:extLst>
          </p:cNvPr>
          <p:cNvSpPr>
            <a:spLocks noGrp="1"/>
          </p:cNvSpPr>
          <p:nvPr/>
        </p:nvSpPr>
        <p:spPr>
          <a:xfrm>
            <a:off x="6191250" y="3095625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7D0A45-114B-4221-9C68-127EEF4E2FCE}"/>
              </a:ext>
            </a:extLst>
          </p:cNvPr>
          <p:cNvSpPr>
            <a:spLocks noGrp="1"/>
          </p:cNvSpPr>
          <p:nvPr/>
        </p:nvSpPr>
        <p:spPr>
          <a:xfrm>
            <a:off x="6781800" y="3095625"/>
            <a:ext cx="4648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完成可视化展示</a:t>
            </a:r>
            <a:endParaRPr sz="187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0855A3-01CB-4D9D-AD62-56EB9A38E103}"/>
              </a:ext>
            </a:extLst>
          </p:cNvPr>
          <p:cNvSpPr>
            <a:spLocks noGrp="1"/>
          </p:cNvSpPr>
          <p:nvPr/>
        </p:nvSpPr>
        <p:spPr>
          <a:xfrm>
            <a:off x="6781800" y="3505200"/>
            <a:ext cx="46482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六个分析页面展示运营与预测结果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D3D185-6C67-4416-BB05-B21FE6D41A5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4F06E8-48B7-46FD-A9DB-0AEF5985886E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66484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机器学习智能预测</a:t>
            </a:r>
            <a:endParaRPr sz="187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41CE5B-8FE6-49CA-AC89-DAE81EB55D5A}"/>
              </a:ext>
            </a:extLst>
          </p:cNvPr>
          <p:cNvSpPr>
            <a:spLocks noGrp="1"/>
          </p:cNvSpPr>
          <p:nvPr/>
        </p:nvSpPr>
        <p:spPr>
          <a:xfrm>
            <a:off x="1257300" y="5172075"/>
            <a:ext cx="66484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利用机器学习智能预测数据趋势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8207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3ACE1F7-E3D7-4AB2-AFEA-B7E290D4AFAE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第二阶段技术架构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F865C5-D346-4395-923B-983A33D161CF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FBE53FF-0E49-448D-A981-A1442C0DE811}"/>
              </a:ext>
            </a:extLst>
          </p:cNvPr>
          <p:cNvSpPr>
            <a:spLocks noGrp="1"/>
          </p:cNvSpPr>
          <p:nvPr/>
        </p:nvSpPr>
        <p:spPr>
          <a:xfrm>
            <a:off x="1924050" y="1200150"/>
            <a:ext cx="8343900" cy="723900"/>
          </a:xfrm>
          <a:prstGeom prst="roundRect">
            <a:avLst>
              <a:gd name="adj" fmla="val 10526"/>
            </a:avLst>
          </a:prstGeom>
          <a:solidFill>
            <a:srgbClr val="213B63"/>
          </a:solidFill>
          <a:ln w="9525">
            <a:solidFill>
              <a:srgbClr val="213B63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880C3B-467E-463F-9B3E-2D162D0E322E}"/>
              </a:ext>
            </a:extLst>
          </p:cNvPr>
          <p:cNvSpPr>
            <a:spLocks noGrp="1"/>
          </p:cNvSpPr>
          <p:nvPr/>
        </p:nvSpPr>
        <p:spPr>
          <a:xfrm>
            <a:off x="2190750" y="1266825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原业务数据库 / PostgreSQL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8B5976-6D26-438F-ACA0-C4C50E3E8CA5}"/>
              </a:ext>
            </a:extLst>
          </p:cNvPr>
          <p:cNvSpPr>
            <a:spLocks noGrp="1"/>
          </p:cNvSpPr>
          <p:nvPr/>
        </p:nvSpPr>
        <p:spPr>
          <a:xfrm>
            <a:off x="5667375" y="1266825"/>
            <a:ext cx="4238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DD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9FA"/>
                </a:solidFill>
                <a:latin typeface="Microsoft YaHei"/>
                <a:ea typeface="Microsoft YaHei"/>
                <a:cs typeface="Microsoft YaHei"/>
              </a:rPr>
              <a:t>充电会话、站点、充电桩、用户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30563E-3E50-4985-8482-01B4B39E1662}"/>
              </a:ext>
            </a:extLst>
          </p:cNvPr>
          <p:cNvSpPr>
            <a:spLocks noGrp="1"/>
          </p:cNvSpPr>
          <p:nvPr/>
        </p:nvSpPr>
        <p:spPr>
          <a:xfrm>
            <a:off x="5743575" y="1885950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1F6350-5F43-4892-91C3-953CA0983100}"/>
              </a:ext>
            </a:extLst>
          </p:cNvPr>
          <p:cNvSpPr>
            <a:spLocks noGrp="1"/>
          </p:cNvSpPr>
          <p:nvPr/>
        </p:nvSpPr>
        <p:spPr>
          <a:xfrm>
            <a:off x="1924050" y="2238375"/>
            <a:ext cx="834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DF3B73-35E7-4745-9939-70740CF8CC1D}"/>
              </a:ext>
            </a:extLst>
          </p:cNvPr>
          <p:cNvSpPr>
            <a:spLocks noGrp="1"/>
          </p:cNvSpPr>
          <p:nvPr/>
        </p:nvSpPr>
        <p:spPr>
          <a:xfrm>
            <a:off x="2190750" y="23050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Python + PySpark 数据处理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F25539-50E1-4849-981A-54F2B7EA95BF}"/>
              </a:ext>
            </a:extLst>
          </p:cNvPr>
          <p:cNvSpPr>
            <a:spLocks noGrp="1"/>
          </p:cNvSpPr>
          <p:nvPr/>
        </p:nvSpPr>
        <p:spPr>
          <a:xfrm>
            <a:off x="5667375" y="2305050"/>
            <a:ext cx="4238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ODS / DWD / </a:t>
            </a:r>
            <a:r>
              <a:rPr sz="1350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DWS、质量校验、Schema</a:t>
            </a:r>
            <a:r>
              <a:rPr sz="1350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1350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8E3201-EE4B-47ED-814A-68BA1B38E8E3}"/>
              </a:ext>
            </a:extLst>
          </p:cNvPr>
          <p:cNvSpPr>
            <a:spLocks noGrp="1"/>
          </p:cNvSpPr>
          <p:nvPr/>
        </p:nvSpPr>
        <p:spPr>
          <a:xfrm>
            <a:off x="5743575" y="2924175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F21ACD1-70A8-4364-B3B1-D0323C9EA160}"/>
              </a:ext>
            </a:extLst>
          </p:cNvPr>
          <p:cNvSpPr>
            <a:spLocks noGrp="1"/>
          </p:cNvSpPr>
          <p:nvPr/>
        </p:nvSpPr>
        <p:spPr>
          <a:xfrm>
            <a:off x="1924050" y="3276600"/>
            <a:ext cx="834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F9B1A1-A12F-4E28-BD0C-3E9707A01B1B}"/>
              </a:ext>
            </a:extLst>
          </p:cNvPr>
          <p:cNvSpPr>
            <a:spLocks noGrp="1"/>
          </p:cNvSpPr>
          <p:nvPr/>
        </p:nvSpPr>
        <p:spPr>
          <a:xfrm>
            <a:off x="2190750" y="3343275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Flask 分析接口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6CC326-5BC2-439E-9019-6357A208DF90}"/>
              </a:ext>
            </a:extLst>
          </p:cNvPr>
          <p:cNvSpPr>
            <a:spLocks noGrp="1"/>
          </p:cNvSpPr>
          <p:nvPr/>
        </p:nvSpPr>
        <p:spPr>
          <a:xfrm>
            <a:off x="5667375" y="3343275"/>
            <a:ext cx="4238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只读聚合查询、对比分析、模型结果读取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C6063D-44C0-436E-8B8D-648630FECDEF}"/>
              </a:ext>
            </a:extLst>
          </p:cNvPr>
          <p:cNvSpPr>
            <a:spLocks noGrp="1"/>
          </p:cNvSpPr>
          <p:nvPr/>
        </p:nvSpPr>
        <p:spPr>
          <a:xfrm>
            <a:off x="5743575" y="3962400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3E60617-C3E1-4CE3-B249-7BF0CD34AD0E}"/>
              </a:ext>
            </a:extLst>
          </p:cNvPr>
          <p:cNvSpPr>
            <a:spLocks noGrp="1"/>
          </p:cNvSpPr>
          <p:nvPr/>
        </p:nvSpPr>
        <p:spPr>
          <a:xfrm>
            <a:off x="1924050" y="4314825"/>
            <a:ext cx="834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82451A-A39D-4C63-816F-3DE2642F88F3}"/>
              </a:ext>
            </a:extLst>
          </p:cNvPr>
          <p:cNvSpPr>
            <a:spLocks noGrp="1"/>
          </p:cNvSpPr>
          <p:nvPr/>
        </p:nvSpPr>
        <p:spPr>
          <a:xfrm>
            <a:off x="2190750" y="438150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指标统计与模型结果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6B8490-9B16-42B9-A88D-4268CCF7D48E}"/>
              </a:ext>
            </a:extLst>
          </p:cNvPr>
          <p:cNvSpPr>
            <a:spLocks noGrp="1"/>
          </p:cNvSpPr>
          <p:nvPr/>
        </p:nvSpPr>
        <p:spPr>
          <a:xfrm>
            <a:off x="5667375" y="4381500"/>
            <a:ext cx="4238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充电量、营收、利用率、负荷与风险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C991D2-B75F-45E0-B84B-E053D8878445}"/>
              </a:ext>
            </a:extLst>
          </p:cNvPr>
          <p:cNvSpPr>
            <a:spLocks noGrp="1"/>
          </p:cNvSpPr>
          <p:nvPr/>
        </p:nvSpPr>
        <p:spPr>
          <a:xfrm>
            <a:off x="5743575" y="5000625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594316E-C2B8-48F2-9CB9-DFE9B7E12C39}"/>
              </a:ext>
            </a:extLst>
          </p:cNvPr>
          <p:cNvSpPr>
            <a:spLocks noGrp="1"/>
          </p:cNvSpPr>
          <p:nvPr/>
        </p:nvSpPr>
        <p:spPr>
          <a:xfrm>
            <a:off x="1924050" y="5353050"/>
            <a:ext cx="8343900" cy="723900"/>
          </a:xfrm>
          <a:prstGeom prst="roundRect">
            <a:avLst>
              <a:gd name="adj" fmla="val 10526"/>
            </a:avLst>
          </a:prstGeom>
          <a:solidFill>
            <a:srgbClr val="EAF6F7"/>
          </a:solidFill>
          <a:ln w="9525">
            <a:solidFill>
              <a:srgbClr val="DCE3EC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E7120D-89A6-49A0-84D2-FBFAC5E324D9}"/>
              </a:ext>
            </a:extLst>
          </p:cNvPr>
          <p:cNvSpPr>
            <a:spLocks noGrp="1"/>
          </p:cNvSpPr>
          <p:nvPr/>
        </p:nvSpPr>
        <p:spPr>
          <a:xfrm>
            <a:off x="2190750" y="5419725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Vue3 + ECharts 可视化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E577A9-DB12-4EB5-886F-ABC7757C75FC}"/>
              </a:ext>
            </a:extLst>
          </p:cNvPr>
          <p:cNvSpPr>
            <a:spLocks noGrp="1"/>
          </p:cNvSpPr>
          <p:nvPr/>
        </p:nvSpPr>
        <p:spPr>
          <a:xfrm>
            <a:off x="5667375" y="5419725"/>
            <a:ext cx="4238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运营总览、站点、用户、对比、电池、预测</a:t>
            </a:r>
          </a:p>
        </p:txBody>
      </p:sp>
    </p:spTree>
    <p:extLst>
      <p:ext uri="{BB962C8B-B14F-4D97-AF65-F5344CB8AC3E}">
        <p14:creationId xmlns:p14="http://schemas.microsoft.com/office/powerpoint/2010/main" val="142159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F8CB105-61A1-4EB7-8225-0CB32D50AFDD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数据集设计与来源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67B5A0-5DFC-4262-9BF5-DDE2ECBF0DFC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EBA6CF-8CD3-4B81-95AA-A407D261CDE3}"/>
              </a:ext>
            </a:extLst>
          </p:cNvPr>
          <p:cNvSpPr>
            <a:spLocks noGrp="1"/>
          </p:cNvSpPr>
          <p:nvPr/>
        </p:nvSpPr>
        <p:spPr>
          <a:xfrm>
            <a:off x="666750" y="122872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教师原始数据</a:t>
            </a:r>
            <a:endParaRPr sz="202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E75E2F-86DB-44DF-8655-2216570F76BC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永久保留，不覆盖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48045D-23B6-4FEA-A25D-BB2FA085EE67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667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3,395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5324BE-B2A7-4677-A652-18DE601F9A6B}"/>
              </a:ext>
            </a:extLst>
          </p:cNvPr>
          <p:cNvSpPr>
            <a:spLocks noGrp="1"/>
          </p:cNvSpPr>
          <p:nvPr/>
        </p:nvSpPr>
        <p:spPr>
          <a:xfrm>
            <a:off x="666750" y="298132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充电会话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E2D84-72CE-40FC-B0C4-E6FD7A2FC1F0}"/>
              </a:ext>
            </a:extLst>
          </p:cNvPr>
          <p:cNvSpPr>
            <a:spLocks noGrp="1"/>
          </p:cNvSpPr>
          <p:nvPr/>
        </p:nvSpPr>
        <p:spPr>
          <a:xfrm>
            <a:off x="3238500" y="2238375"/>
            <a:ext cx="2667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1,594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D9330C-648E-42E2-A590-AA9191D291DC}"/>
              </a:ext>
            </a:extLst>
          </p:cNvPr>
          <p:cNvSpPr>
            <a:spLocks noGrp="1"/>
          </p:cNvSpPr>
          <p:nvPr/>
        </p:nvSpPr>
        <p:spPr>
          <a:xfrm>
            <a:off x="3238500" y="298132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设备时序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921D60-A74F-4749-A255-B814C0AAA3DF}"/>
              </a:ext>
            </a:extLst>
          </p:cNvPr>
          <p:cNvSpPr>
            <a:spLocks noGrp="1"/>
          </p:cNvSpPr>
          <p:nvPr/>
        </p:nvSpPr>
        <p:spPr>
          <a:xfrm>
            <a:off x="5810250" y="2238375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BDEBD8-9099-4A5F-BB6E-A48795CDB589}"/>
              </a:ext>
            </a:extLst>
          </p:cNvPr>
          <p:cNvSpPr>
            <a:spLocks noGrp="1"/>
          </p:cNvSpPr>
          <p:nvPr/>
        </p:nvSpPr>
        <p:spPr>
          <a:xfrm>
            <a:off x="5810250" y="29813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0BB752-43A6-42D7-9C7E-AABA910ED1A7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609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按业务规则构造模拟数据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39110B-80FC-4266-87F3-E5A145BA67C3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保持字段语义与跨表关系，按配置生成规模、时段分布与少量脏数据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BB6AC9-27AF-4842-8D2C-EC9722A5B396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149,801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0507AF-CF92-4D3A-87FA-7FCF6971B51E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清洗后会话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D0BFAD-DE3E-419E-992E-6CCCEEE442DC}"/>
              </a:ext>
            </a:extLst>
          </p:cNvPr>
          <p:cNvSpPr>
            <a:spLocks noGrp="1"/>
          </p:cNvSpPr>
          <p:nvPr/>
        </p:nvSpPr>
        <p:spPr>
          <a:xfrm>
            <a:off x="3429000" y="4953000"/>
            <a:ext cx="29527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1,206,262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3AE7F3-09F6-4768-8E13-D312A1B233FF}"/>
              </a:ext>
            </a:extLst>
          </p:cNvPr>
          <p:cNvSpPr>
            <a:spLocks noGrp="1"/>
          </p:cNvSpPr>
          <p:nvPr/>
        </p:nvSpPr>
        <p:spPr>
          <a:xfrm>
            <a:off x="3429000" y="56959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清洗后时序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8F859E-1FF5-4B22-B778-AC4A1164B6C6}"/>
              </a:ext>
            </a:extLst>
          </p:cNvPr>
          <p:cNvSpPr>
            <a:spLocks noGrp="1"/>
          </p:cNvSpPr>
          <p:nvPr/>
        </p:nvSpPr>
        <p:spPr>
          <a:xfrm>
            <a:off x="6667500" y="4953000"/>
            <a:ext cx="2381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rPr>
              <a:t>562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14C43B-815B-41B9-9DF4-483A4E5F0F7A}"/>
              </a:ext>
            </a:extLst>
          </p:cNvPr>
          <p:cNvSpPr>
            <a:spLocks noGrp="1"/>
          </p:cNvSpPr>
          <p:nvPr/>
        </p:nvSpPr>
        <p:spPr>
          <a:xfrm>
            <a:off x="6667500" y="56959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生成充电桩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460A0D9-2B0A-4CC7-8575-C2D00A67F42A}"/>
              </a:ext>
            </a:extLst>
          </p:cNvPr>
          <p:cNvSpPr>
            <a:spLocks noGrp="1"/>
          </p:cNvSpPr>
          <p:nvPr/>
        </p:nvSpPr>
        <p:spPr>
          <a:xfrm>
            <a:off x="9124950" y="1381125"/>
            <a:ext cx="2333625" cy="3429000"/>
          </a:xfrm>
          <a:prstGeom prst="roundRect">
            <a:avLst>
              <a:gd name="adj" fmla="val 3265"/>
            </a:avLst>
          </a:prstGeom>
          <a:solidFill>
            <a:srgbClr val="FFF5E8"/>
          </a:solidFill>
          <a:ln w="9525">
            <a:solidFill>
              <a:srgbClr val="F3C27C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4787D1-E1FD-441E-8B6F-FECAE856E59A}"/>
              </a:ext>
            </a:extLst>
          </p:cNvPr>
          <p:cNvSpPr>
            <a:spLocks noGrp="1"/>
          </p:cNvSpPr>
          <p:nvPr/>
        </p:nvSpPr>
        <p:spPr>
          <a:xfrm>
            <a:off x="9382125" y="16668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rPr>
              <a:t>真实性说明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D2F97D-8412-4774-96BD-91E867C529C0}"/>
              </a:ext>
            </a:extLst>
          </p:cNvPr>
          <p:cNvSpPr>
            <a:spLocks noGrp="1"/>
          </p:cNvSpPr>
          <p:nvPr/>
        </p:nvSpPr>
        <p:spPr>
          <a:xfrm>
            <a:off x="9372600" y="2190750"/>
            <a:ext cx="1847850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扩充数据用于课程中的清洗、统计分析和可视化实验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endParaRPr sz="1575" b="0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lang="zh-CN" altLang="en-US"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真实运营平台采集数据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79069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18C6B56D-66E3-4797-89B1-BB096C91A443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主要字段与数据样例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358820-D77B-4EEE-8A61-6E6ACEA3ADD1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834236-CE01-4A6D-999D-0713FC55798C}"/>
              </a:ext>
            </a:extLst>
          </p:cNvPr>
          <p:cNvSpPr>
            <a:spLocks noGrp="1"/>
          </p:cNvSpPr>
          <p:nvPr/>
        </p:nvSpPr>
        <p:spPr>
          <a:xfrm>
            <a:off x="666750" y="1304925"/>
            <a:ext cx="5334000" cy="457200"/>
          </a:xfrm>
          <a:prstGeom prst="rect">
            <a:avLst/>
          </a:prstGeom>
          <a:solidFill>
            <a:srgbClr val="213B63"/>
          </a:solidFill>
          <a:ln w="9525">
            <a:solidFill>
              <a:srgbClr val="213B63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05D097-13F3-463A-971A-07CA024D85CF}"/>
              </a:ext>
            </a:extLst>
          </p:cNvPr>
          <p:cNvSpPr>
            <a:spLocks noGrp="1"/>
          </p:cNvSpPr>
          <p:nvPr/>
        </p:nvSpPr>
        <p:spPr>
          <a:xfrm>
            <a:off x="838200" y="130492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72F5B4-3E1F-4496-8189-D9CA42DD3A2D}"/>
              </a:ext>
            </a:extLst>
          </p:cNvPr>
          <p:cNvSpPr>
            <a:spLocks noGrp="1"/>
          </p:cNvSpPr>
          <p:nvPr/>
        </p:nvSpPr>
        <p:spPr>
          <a:xfrm>
            <a:off x="3000375" y="13049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D9A15D-A056-42AF-96F1-D716E7B77ED2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5B9D38-9B71-43AF-B295-F194C57DB299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C5BE5C-5799-4507-9E02-954DAFB48A60}"/>
              </a:ext>
            </a:extLst>
          </p:cNvPr>
          <p:cNvSpPr>
            <a:spLocks noGrp="1"/>
          </p:cNvSpPr>
          <p:nvPr/>
        </p:nvSpPr>
        <p:spPr>
          <a:xfrm>
            <a:off x="3000375" y="18192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充电会话唯一编号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183125-B4CE-4E07-AF22-CB977D6693CC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D2181E-362D-4B68-8E00-3D273C03FBBF}"/>
              </a:ext>
            </a:extLst>
          </p:cNvPr>
          <p:cNvSpPr>
            <a:spLocks noGrp="1"/>
          </p:cNvSpPr>
          <p:nvPr/>
        </p:nvSpPr>
        <p:spPr>
          <a:xfrm>
            <a:off x="838200" y="233362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user_id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1ABFBE-9928-4F9A-94FF-12313D828527}"/>
              </a:ext>
            </a:extLst>
          </p:cNvPr>
          <p:cNvSpPr>
            <a:spLocks noGrp="1"/>
          </p:cNvSpPr>
          <p:nvPr/>
        </p:nvSpPr>
        <p:spPr>
          <a:xfrm>
            <a:off x="3000375" y="23336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用户编号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B3E95F-1B3A-4DDB-BFD8-0840E745662D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4BC1E2-1397-4C83-98B5-7FF0F608E7A8}"/>
              </a:ext>
            </a:extLst>
          </p:cNvPr>
          <p:cNvSpPr>
            <a:spLocks noGrp="1"/>
          </p:cNvSpPr>
          <p:nvPr/>
        </p:nvSpPr>
        <p:spPr>
          <a:xfrm>
            <a:off x="838200" y="284797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charging_station_id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9DDA87-96D4-426B-9EA5-4C36ADC39FA3}"/>
              </a:ext>
            </a:extLst>
          </p:cNvPr>
          <p:cNvSpPr>
            <a:spLocks noGrp="1"/>
          </p:cNvSpPr>
          <p:nvPr/>
        </p:nvSpPr>
        <p:spPr>
          <a:xfrm>
            <a:off x="3000375" y="28479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充电站编号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D728C2-5D73-49A1-828D-CAB06E288002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22F80E-40C8-4FB0-B47F-781A47EA6B5B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start_time / end_time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A42D07-B717-4A74-94E6-EEC61D2D62BF}"/>
              </a:ext>
            </a:extLst>
          </p:cNvPr>
          <p:cNvSpPr>
            <a:spLocks noGrp="1"/>
          </p:cNvSpPr>
          <p:nvPr/>
        </p:nvSpPr>
        <p:spPr>
          <a:xfrm>
            <a:off x="3000375" y="33623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开始时间 / 结束时间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11408C-76EE-4039-A1C4-9774A315AF68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524C48-9D8E-4284-BA96-ECAF97F369ED}"/>
              </a:ext>
            </a:extLst>
          </p:cNvPr>
          <p:cNvSpPr>
            <a:spLocks noGrp="1"/>
          </p:cNvSpPr>
          <p:nvPr/>
        </p:nvSpPr>
        <p:spPr>
          <a:xfrm>
            <a:off x="838200" y="387667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energy_kwh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CA7696-D025-4227-ABA9-0CF500025C5E}"/>
              </a:ext>
            </a:extLst>
          </p:cNvPr>
          <p:cNvSpPr>
            <a:spLocks noGrp="1"/>
          </p:cNvSpPr>
          <p:nvPr/>
        </p:nvSpPr>
        <p:spPr>
          <a:xfrm>
            <a:off x="3000375" y="38766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本次充电量（kWh）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9D8A34-567B-4F5B-B5AD-2C532A532A5C}"/>
              </a:ext>
            </a:extLst>
          </p:cNvPr>
          <p:cNvSpPr>
            <a:spLocks noGrp="1"/>
          </p:cNvSpPr>
          <p:nvPr/>
        </p:nvSpPr>
        <p:spPr>
          <a:xfrm>
            <a:off x="666750" y="4391025"/>
            <a:ext cx="533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2D3E02-6A22-41CC-AE5A-0838524F82DD}"/>
              </a:ext>
            </a:extLst>
          </p:cNvPr>
          <p:cNvSpPr>
            <a:spLocks noGrp="1"/>
          </p:cNvSpPr>
          <p:nvPr/>
        </p:nvSpPr>
        <p:spPr>
          <a:xfrm>
            <a:off x="838200" y="4391025"/>
            <a:ext cx="2143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total_cost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3F2215-B67B-4E6A-9ED6-11AD613CC979}"/>
              </a:ext>
            </a:extLst>
          </p:cNvPr>
          <p:cNvSpPr>
            <a:spLocks noGrp="1"/>
          </p:cNvSpPr>
          <p:nvPr/>
        </p:nvSpPr>
        <p:spPr>
          <a:xfrm>
            <a:off x="3000375" y="43910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本次费用（元）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47B758-1860-4256-813A-58B7E854A08F}"/>
              </a:ext>
            </a:extLst>
          </p:cNvPr>
          <p:cNvSpPr>
            <a:spLocks noGrp="1"/>
          </p:cNvSpPr>
          <p:nvPr/>
        </p:nvSpPr>
        <p:spPr>
          <a:xfrm>
            <a:off x="6477000" y="130492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清洗后数据样例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44AC0DC-3C8E-4A45-B25D-6B87428C5073}"/>
              </a:ext>
            </a:extLst>
          </p:cNvPr>
          <p:cNvSpPr>
            <a:spLocks noGrp="1"/>
          </p:cNvSpPr>
          <p:nvPr/>
        </p:nvSpPr>
        <p:spPr>
          <a:xfrm>
            <a:off x="6477000" y="1828800"/>
            <a:ext cx="495300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53C907-C144-43C3-AABC-7FBFF29F7685}"/>
              </a:ext>
            </a:extLst>
          </p:cNvPr>
          <p:cNvSpPr>
            <a:spLocks noGrp="1"/>
          </p:cNvSpPr>
          <p:nvPr/>
        </p:nvSpPr>
        <p:spPr>
          <a:xfrm>
            <a:off x="6762750" y="20574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 ID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EB2042-2708-4D0C-8866-CAD9924C6BFC}"/>
              </a:ext>
            </a:extLst>
          </p:cNvPr>
          <p:cNvSpPr>
            <a:spLocks noGrp="1"/>
          </p:cNvSpPr>
          <p:nvPr/>
        </p:nvSpPr>
        <p:spPr>
          <a:xfrm>
            <a:off x="8572500" y="20574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1259301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E1EFB2-57BA-4E39-A13B-52D88DFE12CF}"/>
              </a:ext>
            </a:extLst>
          </p:cNvPr>
          <p:cNvSpPr>
            <a:spLocks noGrp="1"/>
          </p:cNvSpPr>
          <p:nvPr/>
        </p:nvSpPr>
        <p:spPr>
          <a:xfrm>
            <a:off x="6762750" y="2505075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 / 站点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565216-C3C1-4F3F-8748-0D44E5A919FC}"/>
              </a:ext>
            </a:extLst>
          </p:cNvPr>
          <p:cNvSpPr>
            <a:spLocks noGrp="1"/>
          </p:cNvSpPr>
          <p:nvPr/>
        </p:nvSpPr>
        <p:spPr>
          <a:xfrm>
            <a:off x="8572500" y="25050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30464676 / 191826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E6C9A3-D556-4F6F-B13B-3386DBCEAB82}"/>
              </a:ext>
            </a:extLst>
          </p:cNvPr>
          <p:cNvSpPr>
            <a:spLocks noGrp="1"/>
          </p:cNvSpPr>
          <p:nvPr/>
        </p:nvSpPr>
        <p:spPr>
          <a:xfrm>
            <a:off x="6762750" y="295275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开始时间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F7AA24-5313-4030-B52C-9F702A9FAC21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2015-08-11 13:24:11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4DB7AA-8AA6-44C9-9421-720C65823C1C}"/>
              </a:ext>
            </a:extLst>
          </p:cNvPr>
          <p:cNvSpPr>
            <a:spLocks noGrp="1"/>
          </p:cNvSpPr>
          <p:nvPr/>
        </p:nvSpPr>
        <p:spPr>
          <a:xfrm>
            <a:off x="6762750" y="3400425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结束时间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ABE7DA-9D8B-4858-9AED-A8D4B83A66D6}"/>
              </a:ext>
            </a:extLst>
          </p:cNvPr>
          <p:cNvSpPr>
            <a:spLocks noGrp="1"/>
          </p:cNvSpPr>
          <p:nvPr/>
        </p:nvSpPr>
        <p:spPr>
          <a:xfrm>
            <a:off x="8572500" y="34004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2015-08-11 16:01:15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F2CC56-A15D-4880-AFA6-AB917A4BE481}"/>
              </a:ext>
            </a:extLst>
          </p:cNvPr>
          <p:cNvSpPr>
            <a:spLocks noGrp="1"/>
          </p:cNvSpPr>
          <p:nvPr/>
        </p:nvSpPr>
        <p:spPr>
          <a:xfrm>
            <a:off x="6762750" y="38481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充电量 / 费用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73714E-107D-42EF-AECD-28452C227601}"/>
              </a:ext>
            </a:extLst>
          </p:cNvPr>
          <p:cNvSpPr>
            <a:spLocks noGrp="1"/>
          </p:cNvSpPr>
          <p:nvPr/>
        </p:nvSpPr>
        <p:spPr>
          <a:xfrm>
            <a:off x="8572500" y="3848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6.76 kWh / 1.2341 元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B557CE-D458-4628-905C-ED6B84FFEFA6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站点字段：名称、地址、经纬度    电池字段：SOC、电压、电流、温度</a:t>
            </a:r>
          </a:p>
        </p:txBody>
      </p:sp>
    </p:spTree>
    <p:extLst>
      <p:ext uri="{BB962C8B-B14F-4D97-AF65-F5344CB8AC3E}">
        <p14:creationId xmlns:p14="http://schemas.microsoft.com/office/powerpoint/2010/main" val="1116455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7818F96-EC0D-4CD0-8C7D-A592D2169F9E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数据处理与分析流程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3B32DD-258E-4D63-B360-52BE6AD523B4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A86B026-B6FE-440F-88B8-574A517FABED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213B63"/>
          </a:solidFill>
          <a:ln w="9525">
            <a:solidFill>
              <a:srgbClr val="213B63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C43BBE-1E58-4D87-9599-179BFC7FB7DF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1DEC4A-450C-4F27-88C1-FD5416288837}"/>
              </a:ext>
            </a:extLst>
          </p:cNvPr>
          <p:cNvSpPr>
            <a:spLocks noGrp="1"/>
          </p:cNvSpPr>
          <p:nvPr/>
        </p:nvSpPr>
        <p:spPr>
          <a:xfrm>
            <a:off x="2038350" y="1590675"/>
            <a:ext cx="4095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8CF09E4-D9D0-4F31-8AFD-FB57E65D98F9}"/>
              </a:ext>
            </a:extLst>
          </p:cNvPr>
          <p:cNvSpPr>
            <a:spLocks noGrp="1"/>
          </p:cNvSpPr>
          <p:nvPr/>
        </p:nvSpPr>
        <p:spPr>
          <a:xfrm>
            <a:off x="244792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C4C464-99B7-44B4-9A39-1F1BF8D6652A}"/>
              </a:ext>
            </a:extLst>
          </p:cNvPr>
          <p:cNvSpPr>
            <a:spLocks noGrp="1"/>
          </p:cNvSpPr>
          <p:nvPr/>
        </p:nvSpPr>
        <p:spPr>
          <a:xfrm>
            <a:off x="244792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数据读取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756BD3-9963-4364-843B-A87EAA0590CA}"/>
              </a:ext>
            </a:extLst>
          </p:cNvPr>
          <p:cNvSpPr>
            <a:spLocks noGrp="1"/>
          </p:cNvSpPr>
          <p:nvPr/>
        </p:nvSpPr>
        <p:spPr>
          <a:xfrm>
            <a:off x="3962400" y="1590675"/>
            <a:ext cx="4095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8956D58-FE6C-43C7-B3CD-10E1B0A2B189}"/>
              </a:ext>
            </a:extLst>
          </p:cNvPr>
          <p:cNvSpPr>
            <a:spLocks noGrp="1"/>
          </p:cNvSpPr>
          <p:nvPr/>
        </p:nvSpPr>
        <p:spPr>
          <a:xfrm>
            <a:off x="437197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C77D7B-70C0-45AC-85AD-62FB71BD4B61}"/>
              </a:ext>
            </a:extLst>
          </p:cNvPr>
          <p:cNvSpPr>
            <a:spLocks noGrp="1"/>
          </p:cNvSpPr>
          <p:nvPr/>
        </p:nvSpPr>
        <p:spPr>
          <a:xfrm>
            <a:off x="437197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43089-E83D-4F54-A42A-CE5A70EE0A5F}"/>
              </a:ext>
            </a:extLst>
          </p:cNvPr>
          <p:cNvSpPr>
            <a:spLocks noGrp="1"/>
          </p:cNvSpPr>
          <p:nvPr/>
        </p:nvSpPr>
        <p:spPr>
          <a:xfrm>
            <a:off x="5886450" y="1590675"/>
            <a:ext cx="4095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998BCC5-B253-468A-8D28-2717CC714EA7}"/>
              </a:ext>
            </a:extLst>
          </p:cNvPr>
          <p:cNvSpPr>
            <a:spLocks noGrp="1"/>
          </p:cNvSpPr>
          <p:nvPr/>
        </p:nvSpPr>
        <p:spPr>
          <a:xfrm>
            <a:off x="629602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D248C1-803E-4935-89F7-BDA69AE2CB0B}"/>
              </a:ext>
            </a:extLst>
          </p:cNvPr>
          <p:cNvSpPr>
            <a:spLocks noGrp="1"/>
          </p:cNvSpPr>
          <p:nvPr/>
        </p:nvSpPr>
        <p:spPr>
          <a:xfrm>
            <a:off x="629602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数据转换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B85982-ED85-41C0-8264-1C35FED2EF60}"/>
              </a:ext>
            </a:extLst>
          </p:cNvPr>
          <p:cNvSpPr>
            <a:spLocks noGrp="1"/>
          </p:cNvSpPr>
          <p:nvPr/>
        </p:nvSpPr>
        <p:spPr>
          <a:xfrm>
            <a:off x="7810500" y="1590675"/>
            <a:ext cx="4095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AA8B89D-8A99-49A2-A517-D96224F1A262}"/>
              </a:ext>
            </a:extLst>
          </p:cNvPr>
          <p:cNvSpPr>
            <a:spLocks noGrp="1"/>
          </p:cNvSpPr>
          <p:nvPr/>
        </p:nvSpPr>
        <p:spPr>
          <a:xfrm>
            <a:off x="822007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BBD2BD-6733-43F8-BAA5-E638CE231BB9}"/>
              </a:ext>
            </a:extLst>
          </p:cNvPr>
          <p:cNvSpPr>
            <a:spLocks noGrp="1"/>
          </p:cNvSpPr>
          <p:nvPr/>
        </p:nvSpPr>
        <p:spPr>
          <a:xfrm>
            <a:off x="822007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指标计算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4752DC-F619-4968-950F-52262366AA0E}"/>
              </a:ext>
            </a:extLst>
          </p:cNvPr>
          <p:cNvSpPr>
            <a:spLocks noGrp="1"/>
          </p:cNvSpPr>
          <p:nvPr/>
        </p:nvSpPr>
        <p:spPr>
          <a:xfrm>
            <a:off x="9734550" y="1590675"/>
            <a:ext cx="4095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A925EA6-A0C0-40E9-92AB-3C8B459D57D1}"/>
              </a:ext>
            </a:extLst>
          </p:cNvPr>
          <p:cNvSpPr>
            <a:spLocks noGrp="1"/>
          </p:cNvSpPr>
          <p:nvPr/>
        </p:nvSpPr>
        <p:spPr>
          <a:xfrm>
            <a:off x="10144125" y="147637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DFF3EE"/>
          </a:solidFill>
          <a:ln w="9525">
            <a:solidFill>
              <a:srgbClr val="DCE3E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3028AC-91C6-43E4-AE79-450638AD3346}"/>
              </a:ext>
            </a:extLst>
          </p:cNvPr>
          <p:cNvSpPr>
            <a:spLocks noGrp="1"/>
          </p:cNvSpPr>
          <p:nvPr/>
        </p:nvSpPr>
        <p:spPr>
          <a:xfrm>
            <a:off x="10144125" y="1476375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分析结果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1E7D13-D97A-4683-BA37-00C445DB1B46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C38989-34AF-4FC4-A8AB-B6162C6C0812}"/>
              </a:ext>
            </a:extLst>
          </p:cNvPr>
          <p:cNvSpPr>
            <a:spLocks noGrp="1"/>
          </p:cNvSpPr>
          <p:nvPr/>
        </p:nvSpPr>
        <p:spPr>
          <a:xfrm>
            <a:off x="1095375" y="2857500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时间字段转换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6CFEF9-8DD2-42F9-BFB3-BD36DA7EAB84}"/>
              </a:ext>
            </a:extLst>
          </p:cNvPr>
          <p:cNvSpPr>
            <a:spLocks noGrp="1"/>
          </p:cNvSpPr>
          <p:nvPr/>
        </p:nvSpPr>
        <p:spPr>
          <a:xfrm>
            <a:off x="1095375" y="3209925"/>
            <a:ext cx="2905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年份补齐、时间格式统一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E0007F-0F55-4D03-A25F-96BFDFAA82D9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6A038F-BD54-4F82-8D66-171BA38DEF2B}"/>
              </a:ext>
            </a:extLst>
          </p:cNvPr>
          <p:cNvSpPr>
            <a:spLocks noGrp="1"/>
          </p:cNvSpPr>
          <p:nvPr/>
        </p:nvSpPr>
        <p:spPr>
          <a:xfrm>
            <a:off x="1095375" y="3724275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缺失值处理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0B9D73-44F1-46AA-B46C-F41D1084DB8F}"/>
              </a:ext>
            </a:extLst>
          </p:cNvPr>
          <p:cNvSpPr>
            <a:spLocks noGrp="1"/>
          </p:cNvSpPr>
          <p:nvPr/>
        </p:nvSpPr>
        <p:spPr>
          <a:xfrm>
            <a:off x="1095375" y="4076700"/>
            <a:ext cx="2905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序列填充与中位数兜底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6D1992-162F-4347-AF43-88C2ACA23B5F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1EC993-1A43-4986-90FD-FF5F23478A24}"/>
              </a:ext>
            </a:extLst>
          </p:cNvPr>
          <p:cNvSpPr>
            <a:spLocks noGrp="1"/>
          </p:cNvSpPr>
          <p:nvPr/>
        </p:nvSpPr>
        <p:spPr>
          <a:xfrm>
            <a:off x="1095375" y="4591050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异常值处理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B54887-57E7-413A-A2B0-516B3591DBFE}"/>
              </a:ext>
            </a:extLst>
          </p:cNvPr>
          <p:cNvSpPr>
            <a:spLocks noGrp="1"/>
          </p:cNvSpPr>
          <p:nvPr/>
        </p:nvSpPr>
        <p:spPr>
          <a:xfrm>
            <a:off x="1095375" y="4943475"/>
            <a:ext cx="2905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可修复项更正，不可修复项隔离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BFBC51-AA14-4200-BF02-B332127CE4A6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EB804E-16EA-4C20-9248-2377634A5F95}"/>
              </a:ext>
            </a:extLst>
          </p:cNvPr>
          <p:cNvSpPr>
            <a:spLocks noGrp="1"/>
          </p:cNvSpPr>
          <p:nvPr/>
        </p:nvSpPr>
        <p:spPr>
          <a:xfrm>
            <a:off x="4905375" y="2857500"/>
            <a:ext cx="6143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业务指标计算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4F0B54-44DA-46AC-84B8-7BA621C6783E}"/>
              </a:ext>
            </a:extLst>
          </p:cNvPr>
          <p:cNvSpPr>
            <a:spLocks noGrp="1"/>
          </p:cNvSpPr>
          <p:nvPr/>
        </p:nvSpPr>
        <p:spPr>
          <a:xfrm>
            <a:off x="4905375" y="3209925"/>
            <a:ext cx="6143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时长、充电量、营收与利用率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73B7F7C-C6C6-4B7C-A4B4-1F10E93B6617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5D6FB8-FECB-49F0-B47F-EF95CEC43FCC}"/>
              </a:ext>
            </a:extLst>
          </p:cNvPr>
          <p:cNvSpPr>
            <a:spLocks noGrp="1"/>
          </p:cNvSpPr>
          <p:nvPr/>
        </p:nvSpPr>
        <p:spPr>
          <a:xfrm>
            <a:off x="4905375" y="3981450"/>
            <a:ext cx="6143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质量校验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E42C73-94E8-465B-BB42-B3036ACD9F9B}"/>
              </a:ext>
            </a:extLst>
          </p:cNvPr>
          <p:cNvSpPr>
            <a:spLocks noGrp="1"/>
          </p:cNvSpPr>
          <p:nvPr/>
        </p:nvSpPr>
        <p:spPr>
          <a:xfrm>
            <a:off x="4905375" y="4333875"/>
            <a:ext cx="6143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29 项约束检查并输出报告</a:t>
            </a:r>
          </a:p>
        </p:txBody>
      </p:sp>
    </p:spTree>
    <p:extLst>
      <p:ext uri="{BB962C8B-B14F-4D97-AF65-F5344CB8AC3E}">
        <p14:creationId xmlns:p14="http://schemas.microsoft.com/office/powerpoint/2010/main" val="159879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67A5C5A-83A3-4E18-B8ED-2C08E2A90FC3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核心分析结果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3527CE-ECDA-4627-9733-534FC9568259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BB276F-D873-4604-89FD-10266444413E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3190875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149,801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494FDB-A9D6-43F8-BFC7-DB2B19BB5709}"/>
              </a:ext>
            </a:extLst>
          </p:cNvPr>
          <p:cNvSpPr>
            <a:spLocks noGrp="1"/>
          </p:cNvSpPr>
          <p:nvPr/>
        </p:nvSpPr>
        <p:spPr>
          <a:xfrm>
            <a:off x="666750" y="21240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总充电次数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14674C-461B-4BB8-AC49-24FD84806B10}"/>
              </a:ext>
            </a:extLst>
          </p:cNvPr>
          <p:cNvSpPr>
            <a:spLocks noGrp="1"/>
          </p:cNvSpPr>
          <p:nvPr/>
        </p:nvSpPr>
        <p:spPr>
          <a:xfrm>
            <a:off x="4095750" y="1381125"/>
            <a:ext cx="37147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930,561.31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8313A-B70D-4361-ACE5-08284ABB8369}"/>
              </a:ext>
            </a:extLst>
          </p:cNvPr>
          <p:cNvSpPr>
            <a:spLocks noGrp="1"/>
          </p:cNvSpPr>
          <p:nvPr/>
        </p:nvSpPr>
        <p:spPr>
          <a:xfrm>
            <a:off x="4095750" y="212407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累计充电量（kWh）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98385E-E815-4C9A-89FC-81D1954FEEC3}"/>
              </a:ext>
            </a:extLst>
          </p:cNvPr>
          <p:cNvSpPr>
            <a:spLocks noGrp="1"/>
          </p:cNvSpPr>
          <p:nvPr/>
        </p:nvSpPr>
        <p:spPr>
          <a:xfrm>
            <a:off x="8191500" y="1381125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89B44"/>
                </a:solidFill>
                <a:latin typeface="Microsoft YaHei"/>
                <a:ea typeface="Microsoft YaHei"/>
                <a:cs typeface="Microsoft YaHei"/>
              </a:rPr>
              <a:t>173,785.35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F15B0-6953-450F-B24C-6FDD6B61B4ED}"/>
              </a:ext>
            </a:extLst>
          </p:cNvPr>
          <p:cNvSpPr>
            <a:spLocks noGrp="1"/>
          </p:cNvSpPr>
          <p:nvPr/>
        </p:nvSpPr>
        <p:spPr>
          <a:xfrm>
            <a:off x="8191500" y="21240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累计营收（元）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EE47F7-ABE3-4341-98EE-E601C95D101F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3429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1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3B63"/>
                </a:solidFill>
                <a:latin typeface="Microsoft YaHei"/>
                <a:ea typeface="Microsoft YaHei"/>
                <a:cs typeface="Microsoft YaHei"/>
              </a:rPr>
              <a:t>423,905.08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C6F3C6-EC33-4CA9-837C-AD6208D5DCC9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总充电时长（小时）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6021A0-3F14-4839-AAE5-DEFA4D42A625}"/>
              </a:ext>
            </a:extLst>
          </p:cNvPr>
          <p:cNvSpPr>
            <a:spLocks noGrp="1"/>
          </p:cNvSpPr>
          <p:nvPr/>
        </p:nvSpPr>
        <p:spPr>
          <a:xfrm>
            <a:off x="4333875" y="3143250"/>
            <a:ext cx="28575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3,000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EE523D-AE31-449E-A660-F327939D61A7}"/>
              </a:ext>
            </a:extLst>
          </p:cNvPr>
          <p:cNvSpPr>
            <a:spLocks noGrp="1"/>
          </p:cNvSpPr>
          <p:nvPr/>
        </p:nvSpPr>
        <p:spPr>
          <a:xfrm>
            <a:off x="4333875" y="38862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活跃用户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8667EF-2F14-49CD-ADE5-A15DE78C3F1B}"/>
              </a:ext>
            </a:extLst>
          </p:cNvPr>
          <p:cNvSpPr>
            <a:spLocks noGrp="1"/>
          </p:cNvSpPr>
          <p:nvPr/>
        </p:nvSpPr>
        <p:spPr>
          <a:xfrm>
            <a:off x="7667625" y="3143250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17:00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F87051-B9ED-4763-AEAC-9FCC0DC9429B}"/>
              </a:ext>
            </a:extLst>
          </p:cNvPr>
          <p:cNvSpPr>
            <a:spLocks noGrp="1"/>
          </p:cNvSpPr>
          <p:nvPr/>
        </p:nvSpPr>
        <p:spPr>
          <a:xfrm>
            <a:off x="7667625" y="38862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会话开始高峰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3702A97-BCC0-4508-A4F5-054188DCAB66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763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B1E469-8F62-48AB-BC9D-20BB48C6F2C3}"/>
              </a:ext>
            </a:extLst>
          </p:cNvPr>
          <p:cNvSpPr>
            <a:spLocks noGrp="1"/>
          </p:cNvSpPr>
          <p:nvPr/>
        </p:nvSpPr>
        <p:spPr>
          <a:xfrm>
            <a:off x="904875" y="5248275"/>
            <a:ext cx="9048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EC12A0-59F1-4CF1-90BC-7C335E931A6D}"/>
              </a:ext>
            </a:extLst>
          </p:cNvPr>
          <p:cNvSpPr>
            <a:spLocks noGrp="1"/>
          </p:cNvSpPr>
          <p:nvPr/>
        </p:nvSpPr>
        <p:spPr>
          <a:xfrm>
            <a:off x="1809750" y="5248275"/>
            <a:ext cx="9239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晚高峰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17–20 </a:t>
            </a:r>
            <a:r>
              <a:rPr sz="1575" b="0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时会话较集中；统计结果用于课程实验</a:t>
            </a:r>
            <a:r>
              <a:rPr sz="1575" b="0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109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DCAF376-2A4C-4340-9F5B-8FD1F39BC266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可视化成果与系统演示</a:t>
            </a:r>
            <a:endParaRPr sz="2850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A3B1E0-1D02-4E88-998D-7F16C0EEDE78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EF532F-9C41-5BEA-890B-A8B73EA25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63" y="1306034"/>
            <a:ext cx="5969630" cy="33839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2DF819B-2EE3-6091-0DA1-4BF2FFAE1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493" y="1306034"/>
            <a:ext cx="5927133" cy="338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2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D5A024CA-BECD-04EC-6C06-70CFD81FC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284" y="1266825"/>
            <a:ext cx="5519893" cy="38671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59CA674-839A-457C-877F-229D6C00FE25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机器学习预测与智能分析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984F91-EB69-4FEA-B645-454F56561F5A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B7F99A-6E1C-43DF-BFB0-8278EE7AA1A3}"/>
              </a:ext>
            </a:extLst>
          </p:cNvPr>
          <p:cNvSpPr>
            <a:spLocks noGrp="1"/>
          </p:cNvSpPr>
          <p:nvPr/>
        </p:nvSpPr>
        <p:spPr>
          <a:xfrm>
            <a:off x="628650" y="1033463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采用时间顺序切分，并与简单基线比较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5B7E87-4FDC-4318-A9BB-E71C6FD9F11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BBDF76-CFCF-4B77-AD3F-0B6598347543}"/>
              </a:ext>
            </a:extLst>
          </p:cNvPr>
          <p:cNvSpPr>
            <a:spLocks noGrp="1"/>
          </p:cNvSpPr>
          <p:nvPr/>
        </p:nvSpPr>
        <p:spPr>
          <a:xfrm>
            <a:off x="1352550" y="16573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未来 24 小时负荷预测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902D3-C09F-487E-BCF8-0EE4F39D583C}"/>
              </a:ext>
            </a:extLst>
          </p:cNvPr>
          <p:cNvSpPr>
            <a:spLocks noGrp="1"/>
          </p:cNvSpPr>
          <p:nvPr/>
        </p:nvSpPr>
        <p:spPr>
          <a:xfrm>
            <a:off x="3762480" y="16573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MAE 16.54 kWh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E69B34-45A9-4150-9B5E-A89E2AE54BC7}"/>
              </a:ext>
            </a:extLst>
          </p:cNvPr>
          <p:cNvSpPr>
            <a:spLocks noGrp="1"/>
          </p:cNvSpPr>
          <p:nvPr/>
        </p:nvSpPr>
        <p:spPr>
          <a:xfrm>
            <a:off x="3762480" y="21050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较“上周同时刻”基线降低约</a:t>
            </a:r>
            <a:r>
              <a:rPr sz="1350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 28%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2AEAD2-88B1-4339-9114-F3C74363E4B8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444D14-658E-477D-A455-9484EF9E833F}"/>
              </a:ext>
            </a:extLst>
          </p:cNvPr>
          <p:cNvSpPr>
            <a:spLocks noGrp="1"/>
          </p:cNvSpPr>
          <p:nvPr/>
        </p:nvSpPr>
        <p:spPr>
          <a:xfrm>
            <a:off x="1352550" y="29908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站点繁忙风险预测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36A43D-90E8-481B-B33C-DBAEB21D78BC}"/>
              </a:ext>
            </a:extLst>
          </p:cNvPr>
          <p:cNvSpPr>
            <a:spLocks noGrp="1"/>
          </p:cNvSpPr>
          <p:nvPr/>
        </p:nvSpPr>
        <p:spPr>
          <a:xfrm>
            <a:off x="3762480" y="29908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B8C7"/>
                </a:solidFill>
                <a:latin typeface="Microsoft YaHei"/>
                <a:ea typeface="Microsoft YaHei"/>
                <a:cs typeface="Microsoft YaHei"/>
              </a:rPr>
              <a:t>1 小时 AUC 0.932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D5F6AB-B24B-4546-99E3-AF5CDA38E4E4}"/>
              </a:ext>
            </a:extLst>
          </p:cNvPr>
          <p:cNvSpPr>
            <a:spLocks noGrp="1"/>
          </p:cNvSpPr>
          <p:nvPr/>
        </p:nvSpPr>
        <p:spPr>
          <a:xfrm>
            <a:off x="3762480" y="34385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提前 1–3 小时更有预警价值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4D8F7A-2A5B-4D60-A11B-05EBBD779203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334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003DAC-BDEE-41B2-A74E-EA801F95DCA6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充电用时预测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6956A0-9C11-4AF6-82F0-7A7202F87138}"/>
              </a:ext>
            </a:extLst>
          </p:cNvPr>
          <p:cNvSpPr>
            <a:spLocks noGrp="1"/>
          </p:cNvSpPr>
          <p:nvPr/>
        </p:nvSpPr>
        <p:spPr>
          <a:xfrm>
            <a:off x="3762480" y="43243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A67A"/>
                </a:solidFill>
                <a:latin typeface="Microsoft YaHei"/>
                <a:ea typeface="Microsoft YaHei"/>
                <a:cs typeface="Microsoft YaHei"/>
              </a:rPr>
              <a:t>MAE 18.98 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294B49-AAF4-4794-AB1D-6BCE40FB18D6}"/>
              </a:ext>
            </a:extLst>
          </p:cNvPr>
          <p:cNvSpPr>
            <a:spLocks noGrp="1"/>
          </p:cNvSpPr>
          <p:nvPr/>
        </p:nvSpPr>
        <p:spPr>
          <a:xfrm>
            <a:off x="3762480" y="47720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使用充电开始后前 15 分钟曲线</a:t>
            </a:r>
          </a:p>
        </p:txBody>
      </p:sp>
    </p:spTree>
    <p:extLst>
      <p:ext uri="{BB962C8B-B14F-4D97-AF65-F5344CB8AC3E}">
        <p14:creationId xmlns:p14="http://schemas.microsoft.com/office/powerpoint/2010/main" val="57072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1BFCFD1-432F-4C22-AF00-FD4BE867F96C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团队分工与交付检查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56265C-9DA6-486D-85D2-A575AE13B77F}"/>
              </a:ext>
            </a:extLst>
          </p:cNvPr>
          <p:cNvSpPr>
            <a:spLocks noGrp="1"/>
          </p:cNvSpPr>
          <p:nvPr/>
        </p:nvSpPr>
        <p:spPr>
          <a:xfrm>
            <a:off x="11239500" y="620077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CDBA43-B951-4F45-901B-FE90505E63D7}"/>
              </a:ext>
            </a:extLst>
          </p:cNvPr>
          <p:cNvSpPr>
            <a:spLocks noGrp="1"/>
          </p:cNvSpPr>
          <p:nvPr/>
        </p:nvSpPr>
        <p:spPr>
          <a:xfrm>
            <a:off x="529098" y="1200150"/>
            <a:ext cx="994902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徐钲</a:t>
            </a:r>
            <a:endParaRPr sz="2250" b="1" dirty="0">
              <a:solidFill>
                <a:srgbClr val="3977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7E4E66-E8DF-4528-A219-0294E90A48DB}"/>
              </a:ext>
            </a:extLst>
          </p:cNvPr>
          <p:cNvSpPr>
            <a:spLocks noGrp="1"/>
          </p:cNvSpPr>
          <p:nvPr/>
        </p:nvSpPr>
        <p:spPr>
          <a:xfrm>
            <a:off x="1524000" y="12001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数据集规范扩充</a:t>
            </a:r>
            <a:r>
              <a:rPr lang="zh-CN" altLang="en-US" sz="1725" b="1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与前端页面</a:t>
            </a:r>
            <a:endParaRPr sz="172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DC42F5-4031-437D-9DE4-3AD9B4EB3BC2}"/>
              </a:ext>
            </a:extLst>
          </p:cNvPr>
          <p:cNvSpPr>
            <a:spLocks noGrp="1"/>
          </p:cNvSpPr>
          <p:nvPr/>
        </p:nvSpPr>
        <p:spPr>
          <a:xfrm>
            <a:off x="4429125" y="1200150"/>
            <a:ext cx="685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数据契约、扩充数据</a:t>
            </a:r>
            <a:r>
              <a:rPr lang="zh-CN" altLang="en-US"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、前端</a:t>
            </a:r>
            <a:r>
              <a:rPr lang="en-US" altLang="zh-CN"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Vue</a:t>
            </a:r>
            <a:r>
              <a:rPr lang="zh-CN" altLang="en-US"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Echarts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94A6A-C3DF-4F1E-9648-27F4C84CA761}"/>
              </a:ext>
            </a:extLst>
          </p:cNvPr>
          <p:cNvSpPr>
            <a:spLocks noGrp="1"/>
          </p:cNvSpPr>
          <p:nvPr/>
        </p:nvSpPr>
        <p:spPr>
          <a:xfrm>
            <a:off x="416027" y="2048336"/>
            <a:ext cx="1221044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曾梓木</a:t>
            </a:r>
            <a:endParaRPr sz="2250" b="1" dirty="0">
              <a:solidFill>
                <a:srgbClr val="3977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8F0948-1BEC-44EC-B11E-2E9EE15890BE}"/>
              </a:ext>
            </a:extLst>
          </p:cNvPr>
          <p:cNvSpPr>
            <a:spLocks noGrp="1"/>
          </p:cNvSpPr>
          <p:nvPr/>
        </p:nvSpPr>
        <p:spPr>
          <a:xfrm>
            <a:off x="1524000" y="206692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数据清洗与</a:t>
            </a:r>
            <a:r>
              <a:rPr lang="zh-CN" altLang="en-US" sz="1725" b="1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分析</a:t>
            </a:r>
            <a:endParaRPr sz="172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15A321-BCC7-40FC-B907-3116C9C15B4A}"/>
              </a:ext>
            </a:extLst>
          </p:cNvPr>
          <p:cNvSpPr>
            <a:spLocks noGrp="1"/>
          </p:cNvSpPr>
          <p:nvPr/>
        </p:nvSpPr>
        <p:spPr>
          <a:xfrm>
            <a:off x="4429125" y="2066925"/>
            <a:ext cx="685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PySpark</a:t>
            </a: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分层</a:t>
            </a:r>
            <a:r>
              <a:rPr lang="zh-CN" altLang="en-US" sz="1425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清洗</a:t>
            </a: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425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维度分析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8573D4-B459-47D2-848D-57062570AF76}"/>
              </a:ext>
            </a:extLst>
          </p:cNvPr>
          <p:cNvSpPr>
            <a:spLocks noGrp="1"/>
          </p:cNvSpPr>
          <p:nvPr/>
        </p:nvSpPr>
        <p:spPr>
          <a:xfrm>
            <a:off x="477479" y="2933700"/>
            <a:ext cx="109814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姚雨森</a:t>
            </a:r>
            <a:endParaRPr sz="2250" b="1" dirty="0">
              <a:solidFill>
                <a:srgbClr val="3977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C9D384-B531-4763-A83F-1397874156B2}"/>
              </a:ext>
            </a:extLst>
          </p:cNvPr>
          <p:cNvSpPr>
            <a:spLocks noGrp="1"/>
          </p:cNvSpPr>
          <p:nvPr/>
        </p:nvSpPr>
        <p:spPr>
          <a:xfrm>
            <a:off x="1524000" y="29337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数据接口与指标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4002A-ACB8-423D-A584-DE99D786DC49}"/>
              </a:ext>
            </a:extLst>
          </p:cNvPr>
          <p:cNvSpPr>
            <a:spLocks noGrp="1"/>
          </p:cNvSpPr>
          <p:nvPr/>
        </p:nvSpPr>
        <p:spPr>
          <a:xfrm>
            <a:off x="4429125" y="2933700"/>
            <a:ext cx="685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PostgreSQL </a:t>
            </a: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适配、Flask</a:t>
            </a: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API、统计</a:t>
            </a: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 SQL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17E8A9-0756-44AD-B41D-74C130388237}"/>
              </a:ext>
            </a:extLst>
          </p:cNvPr>
          <p:cNvSpPr>
            <a:spLocks noGrp="1"/>
          </p:cNvSpPr>
          <p:nvPr/>
        </p:nvSpPr>
        <p:spPr>
          <a:xfrm>
            <a:off x="288208" y="3819064"/>
            <a:ext cx="1476682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李奕萱</a:t>
            </a:r>
            <a:endParaRPr sz="2250" b="1" dirty="0">
              <a:solidFill>
                <a:srgbClr val="3977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6A75F4-52EF-48D2-9113-7F540E07186E}"/>
              </a:ext>
            </a:extLst>
          </p:cNvPr>
          <p:cNvSpPr>
            <a:spLocks noGrp="1"/>
          </p:cNvSpPr>
          <p:nvPr/>
        </p:nvSpPr>
        <p:spPr>
          <a:xfrm>
            <a:off x="1524000" y="380047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可视化页面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96CC16-19E9-4EEA-92BB-E3160EB6A02C}"/>
              </a:ext>
            </a:extLst>
          </p:cNvPr>
          <p:cNvSpPr>
            <a:spLocks noGrp="1"/>
          </p:cNvSpPr>
          <p:nvPr/>
        </p:nvSpPr>
        <p:spPr>
          <a:xfrm>
            <a:off x="4429125" y="3800475"/>
            <a:ext cx="685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Vue3、ECharts</a:t>
            </a:r>
            <a:r>
              <a:rPr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、页面交互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6639AC-FB4A-42C5-845E-854E79670F58}"/>
              </a:ext>
            </a:extLst>
          </p:cNvPr>
          <p:cNvSpPr>
            <a:spLocks noGrp="1"/>
          </p:cNvSpPr>
          <p:nvPr/>
        </p:nvSpPr>
        <p:spPr>
          <a:xfrm>
            <a:off x="597924" y="4653270"/>
            <a:ext cx="85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3977E6"/>
                </a:solidFill>
                <a:latin typeface="Microsoft YaHei"/>
                <a:ea typeface="Microsoft YaHei"/>
                <a:cs typeface="Microsoft YaHei"/>
              </a:rPr>
              <a:t>吴洵</a:t>
            </a:r>
            <a:endParaRPr sz="2250" b="1" dirty="0">
              <a:solidFill>
                <a:srgbClr val="3977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0A9787-1CE7-4565-846E-138325487C82}"/>
              </a:ext>
            </a:extLst>
          </p:cNvPr>
          <p:cNvSpPr>
            <a:spLocks noGrp="1"/>
          </p:cNvSpPr>
          <p:nvPr/>
        </p:nvSpPr>
        <p:spPr>
          <a:xfrm>
            <a:off x="1524000" y="46672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机器学习预测</a:t>
            </a:r>
            <a:endParaRPr sz="1725" b="1" dirty="0">
              <a:solidFill>
                <a:srgbClr val="17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1F054F-1FAB-4843-82E6-0F7562713E52}"/>
              </a:ext>
            </a:extLst>
          </p:cNvPr>
          <p:cNvSpPr>
            <a:spLocks noGrp="1"/>
          </p:cNvSpPr>
          <p:nvPr/>
        </p:nvSpPr>
        <p:spPr>
          <a:xfrm>
            <a:off x="4429125" y="4667250"/>
            <a:ext cx="685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机器学习预测、智能预测页面</a:t>
            </a:r>
            <a:endParaRPr sz="1425" b="0" dirty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062008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1061</Words>
  <Application>Microsoft Office PowerPoint</Application>
  <DocSecurity>0</DocSecurity>
  <PresentationFormat>宽屏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钲 徐</cp:lastModifiedBy>
  <cp:revision>21</cp:revision>
  <dcterms:created xsi:type="dcterms:W3CDTF">2026-09-17T01:18:03Z</dcterms:created>
  <dcterms:modified xsi:type="dcterms:W3CDTF">2026-09-17T05:04:57Z</dcterms:modified>
</cp:coreProperties>
</file>