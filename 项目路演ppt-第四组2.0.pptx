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3"/>
  </p:notesMasterIdLst>
  <p:sldIdLst>
    <p:sldId id="256" r:id="rId2"/>
    <p:sldId id="257" r:id="rId3"/>
    <p:sldId id="259" r:id="rId4"/>
    <p:sldId id="260" r:id="rId5"/>
    <p:sldId id="261" r:id="rId6"/>
    <p:sldId id="262" r:id="rId7"/>
    <p:sldId id="263" r:id="rId8"/>
    <p:sldId id="268" r:id="rId9"/>
    <p:sldId id="264" r:id="rId10"/>
    <p:sldId id="266" r:id="rId11"/>
    <p:sldId id="267" r:id="rId12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8E7C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0" d="100"/>
          <a:sy n="70" d="100"/>
        </p:scale>
        <p:origin x="324" y="5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8F3DA-E556-B9B2-8381-B26D6BBB2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0A2A066-1A3F-1F5C-889A-5066B92E311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B1DC58E7-3FE6-EFC6-FD37-9D0C682F13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E62644E-C1C4-D14B-DA2D-88E357DE7708}"/>
              </a:ext>
            </a:extLst>
          </p:cNvPr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76996608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答辩提示：根据本页标题先讲结论，再结合流程或截图说明实现。图片占位框内的文字是建议截取的内容，补图时保留版式比例。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矩形 21">
            <a:extLst>
              <a:ext uri="{FF2B5EF4-FFF2-40B4-BE49-F238E27FC236}">
                <a16:creationId xmlns:a16="http://schemas.microsoft.com/office/drawing/2014/main" id="{30106B75-8F23-4600-84C8-4355DEE51C8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71450" cy="68580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33157BE-6CFF-4B6D-8E7E-6DF80799C99A}"/>
              </a:ext>
            </a:extLst>
          </p:cNvPr>
          <p:cNvSpPr>
            <a:spLocks noGrp="1"/>
          </p:cNvSpPr>
          <p:nvPr/>
        </p:nvSpPr>
        <p:spPr>
          <a:xfrm>
            <a:off x="609600" y="1459611"/>
            <a:ext cx="4495800" cy="46481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2400" b="1" dirty="0">
                <a:solidFill>
                  <a:srgbClr val="00C2A8"/>
                </a:solidFill>
                <a:latin typeface="Arial"/>
                <a:ea typeface="Arial"/>
                <a:cs typeface="Arial"/>
              </a:rPr>
              <a:t>GALE / VERDICT</a:t>
            </a:r>
            <a:r>
              <a:rPr lang="en-US" sz="2400" b="1" dirty="0">
                <a:solidFill>
                  <a:srgbClr val="00C2A8"/>
                </a:solidFill>
                <a:latin typeface="Arial"/>
                <a:ea typeface="Arial"/>
                <a:cs typeface="Arial"/>
              </a:rPr>
              <a:t>  </a:t>
            </a:r>
            <a:r>
              <a:rPr lang="zh-CN" altLang="en-US" sz="2400" b="1" dirty="0">
                <a:solidFill>
                  <a:srgbClr val="00C2A8"/>
                </a:solidFill>
                <a:latin typeface="Arial"/>
                <a:ea typeface="Arial"/>
                <a:cs typeface="Arial"/>
              </a:rPr>
              <a:t>烈风裁决</a:t>
            </a:r>
            <a:endParaRPr sz="2400" b="1" dirty="0">
              <a:solidFill>
                <a:srgbClr val="00C2A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74C23EB-1539-48AC-A79D-D44CBFDF4D9F}"/>
              </a:ext>
            </a:extLst>
          </p:cNvPr>
          <p:cNvSpPr>
            <a:spLocks noGrp="1"/>
          </p:cNvSpPr>
          <p:nvPr/>
        </p:nvSpPr>
        <p:spPr>
          <a:xfrm>
            <a:off x="609600" y="1975486"/>
            <a:ext cx="6495288" cy="81953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43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电动汽车充运营管理平台</a:t>
            </a:r>
            <a:endParaRPr sz="43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56631C03-AFB6-408A-A656-36E1838EBD24}"/>
              </a:ext>
            </a:extLst>
          </p:cNvPr>
          <p:cNvSpPr>
            <a:spLocks noGrp="1"/>
          </p:cNvSpPr>
          <p:nvPr/>
        </p:nvSpPr>
        <p:spPr>
          <a:xfrm>
            <a:off x="705231" y="2890266"/>
            <a:ext cx="21907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F11D305-B2BD-4088-998A-30ADC86A5F20}"/>
              </a:ext>
            </a:extLst>
          </p:cNvPr>
          <p:cNvSpPr>
            <a:spLocks noGrp="1"/>
          </p:cNvSpPr>
          <p:nvPr/>
        </p:nvSpPr>
        <p:spPr>
          <a:xfrm>
            <a:off x="685800" y="4124325"/>
            <a:ext cx="5519928" cy="285749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2000" b="0" dirty="0" err="1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  <a:r>
              <a:rPr lang="en-US" sz="2000" b="0" dirty="0">
                <a:solidFill>
                  <a:srgbClr val="AEB9B8"/>
                </a:solidFill>
                <a:latin typeface="Arial"/>
                <a:ea typeface="Arial"/>
                <a:cs typeface="Arial"/>
              </a:rPr>
              <a:t>  </a:t>
            </a:r>
            <a:r>
              <a:rPr lang="zh-CN" altLang="en-US" sz="2000" b="0" dirty="0">
                <a:solidFill>
                  <a:srgbClr val="AEB9B8"/>
                </a:solidFill>
                <a:latin typeface="Arial"/>
                <a:ea typeface="Arial"/>
                <a:cs typeface="Arial"/>
              </a:rPr>
              <a:t>李奕萱 吴洵 徐钲 姚雨森 曾梓木</a:t>
            </a:r>
            <a:endParaRPr sz="2000" b="0" dirty="0">
              <a:solidFill>
                <a:srgbClr val="AEB9B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6DD7420B-EB6C-4FC8-953B-DAEC2029B7D7}"/>
              </a:ext>
            </a:extLst>
          </p:cNvPr>
          <p:cNvSpPr>
            <a:spLocks noGrp="1"/>
          </p:cNvSpPr>
          <p:nvPr/>
        </p:nvSpPr>
        <p:spPr>
          <a:xfrm>
            <a:off x="705231" y="4611624"/>
            <a:ext cx="3048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1400" b="0" dirty="0">
                <a:solidFill>
                  <a:srgbClr val="AEB9B8"/>
                </a:solidFill>
                <a:latin typeface="Arial"/>
                <a:ea typeface="Arial"/>
                <a:cs typeface="Arial"/>
              </a:rPr>
              <a:t>2026.09.10</a:t>
            </a:r>
          </a:p>
        </p:txBody>
      </p:sp>
      <p:sp>
        <p:nvSpPr>
          <p:cNvPr id="19" name="直接连接符 18">
            <a:extLst>
              <a:ext uri="{FF2B5EF4-FFF2-40B4-BE49-F238E27FC236}">
                <a16:creationId xmlns:a16="http://schemas.microsoft.com/office/drawing/2014/main" id="{F103FEB4-6EDB-464A-9E8B-8E8A7B6AF0F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B2ADF11E-18C8-4029-A03B-49BFFF5BAC62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AE5F4E0-7AE9-43EA-B940-F8C66B392E7D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200114591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矩形 35">
            <a:extLst>
              <a:ext uri="{FF2B5EF4-FFF2-40B4-BE49-F238E27FC236}">
                <a16:creationId xmlns:a16="http://schemas.microsoft.com/office/drawing/2014/main" id="{7DFCECA2-346C-4641-9880-F1D403C6F0A7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2026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862DDFDD-3CA2-41C9-9E58-BB5275C9A488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项目目标与需求分析</a:t>
            </a:r>
            <a:endParaRPr sz="25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439E70A5-AF33-46B1-989A-1F81893736C2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4F9A5AE-E5D9-4A6B-88A1-3ED2938B5D04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326EC7F1-EA40-4B09-956F-C76679BF68A6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3314700" cy="2952750"/>
          </a:xfrm>
          <a:prstGeom prst="roundRect">
            <a:avLst>
              <a:gd name="adj" fmla="val 4516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097528B-C537-432F-AA2E-15D384D308F6}"/>
              </a:ext>
            </a:extLst>
          </p:cNvPr>
          <p:cNvSpPr>
            <a:spLocks noGrp="1"/>
          </p:cNvSpPr>
          <p:nvPr/>
        </p:nvSpPr>
        <p:spPr>
          <a:xfrm>
            <a:off x="609600" y="2381250"/>
            <a:ext cx="3314700" cy="762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A35B193-F214-407F-BEA9-6A8BDEDB60FB}"/>
              </a:ext>
            </a:extLst>
          </p:cNvPr>
          <p:cNvSpPr>
            <a:spLocks noGrp="1"/>
          </p:cNvSpPr>
          <p:nvPr/>
        </p:nvSpPr>
        <p:spPr>
          <a:xfrm>
            <a:off x="876300" y="27622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</a:t>
            </a:r>
          </a:p>
        </p:txBody>
      </p:sp>
      <p:sp>
        <p:nvSpPr>
          <p:cNvPr id="9" name="椭圆 8">
            <a:extLst>
              <a:ext uri="{FF2B5EF4-FFF2-40B4-BE49-F238E27FC236}">
                <a16:creationId xmlns:a16="http://schemas.microsoft.com/office/drawing/2014/main" id="{0DAAEE57-B65D-4FDE-A227-6A1C5D396227}"/>
              </a:ext>
            </a:extLst>
          </p:cNvPr>
          <p:cNvSpPr>
            <a:spLocks noGrp="1"/>
          </p:cNvSpPr>
          <p:nvPr/>
        </p:nvSpPr>
        <p:spPr>
          <a:xfrm>
            <a:off x="895350" y="3600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CFF9783-B1CC-4A66-8D8B-ED5D88DF1EC0}"/>
              </a:ext>
            </a:extLst>
          </p:cNvPr>
          <p:cNvSpPr>
            <a:spLocks noGrp="1"/>
          </p:cNvSpPr>
          <p:nvPr/>
        </p:nvSpPr>
        <p:spPr>
          <a:xfrm>
            <a:off x="1123950" y="35242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找到附近充电站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椭圆 10">
            <a:extLst>
              <a:ext uri="{FF2B5EF4-FFF2-40B4-BE49-F238E27FC236}">
                <a16:creationId xmlns:a16="http://schemas.microsoft.com/office/drawing/2014/main" id="{E10A3FC8-1A13-466F-8F0F-0E5B483CA570}"/>
              </a:ext>
            </a:extLst>
          </p:cNvPr>
          <p:cNvSpPr>
            <a:spLocks noGrp="1"/>
          </p:cNvSpPr>
          <p:nvPr/>
        </p:nvSpPr>
        <p:spPr>
          <a:xfrm>
            <a:off x="895350" y="407670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4439BC1A-4AC4-4B7A-900E-1E220B1B11DC}"/>
              </a:ext>
            </a:extLst>
          </p:cNvPr>
          <p:cNvSpPr>
            <a:spLocks noGrp="1"/>
          </p:cNvSpPr>
          <p:nvPr/>
        </p:nvSpPr>
        <p:spPr>
          <a:xfrm>
            <a:off x="1123950" y="40005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查看空闲电桩</a:t>
            </a:r>
          </a:p>
        </p:txBody>
      </p:sp>
      <p:sp>
        <p:nvSpPr>
          <p:cNvPr id="13" name="椭圆 12">
            <a:extLst>
              <a:ext uri="{FF2B5EF4-FFF2-40B4-BE49-F238E27FC236}">
                <a16:creationId xmlns:a16="http://schemas.microsoft.com/office/drawing/2014/main" id="{984760CD-9063-4742-B40D-667BF2A91694}"/>
              </a:ext>
            </a:extLst>
          </p:cNvPr>
          <p:cNvSpPr>
            <a:spLocks noGrp="1"/>
          </p:cNvSpPr>
          <p:nvPr/>
        </p:nvSpPr>
        <p:spPr>
          <a:xfrm>
            <a:off x="895350" y="45529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348D9014-35F8-4A1E-9CAE-D436FFB68703}"/>
              </a:ext>
            </a:extLst>
          </p:cNvPr>
          <p:cNvSpPr>
            <a:spLocks noGrp="1"/>
          </p:cNvSpPr>
          <p:nvPr/>
        </p:nvSpPr>
        <p:spPr>
          <a:xfrm>
            <a:off x="1123950" y="44767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导航、充电、结算、查单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C60122C0-DE78-4819-A2FD-B2818B681DA4}"/>
              </a:ext>
            </a:extLst>
          </p:cNvPr>
          <p:cNvSpPr>
            <a:spLocks noGrp="1"/>
          </p:cNvSpPr>
          <p:nvPr/>
        </p:nvSpPr>
        <p:spPr>
          <a:xfrm>
            <a:off x="4248150" y="2381250"/>
            <a:ext cx="3314700" cy="2952750"/>
          </a:xfrm>
          <a:prstGeom prst="roundRect">
            <a:avLst>
              <a:gd name="adj" fmla="val 4516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EFA63938-3152-427A-8B25-31D2D2E7891E}"/>
              </a:ext>
            </a:extLst>
          </p:cNvPr>
          <p:cNvSpPr>
            <a:spLocks noGrp="1"/>
          </p:cNvSpPr>
          <p:nvPr/>
        </p:nvSpPr>
        <p:spPr>
          <a:xfrm>
            <a:off x="4248150" y="2381250"/>
            <a:ext cx="3314700" cy="76200"/>
          </a:xfrm>
          <a:prstGeom prst="rect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EBB4D7A9-E043-418E-857E-F32529408122}"/>
              </a:ext>
            </a:extLst>
          </p:cNvPr>
          <p:cNvSpPr>
            <a:spLocks noGrp="1"/>
          </p:cNvSpPr>
          <p:nvPr/>
        </p:nvSpPr>
        <p:spPr>
          <a:xfrm>
            <a:off x="4514850" y="27622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运营人员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85E6F2B4-2205-4BE4-A086-73FF3DD3244C}"/>
              </a:ext>
            </a:extLst>
          </p:cNvPr>
          <p:cNvSpPr>
            <a:spLocks noGrp="1"/>
          </p:cNvSpPr>
          <p:nvPr/>
        </p:nvSpPr>
        <p:spPr>
          <a:xfrm>
            <a:off x="4533900" y="3600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84C4BAD-36F3-4858-8B14-7F8012E91420}"/>
              </a:ext>
            </a:extLst>
          </p:cNvPr>
          <p:cNvSpPr>
            <a:spLocks noGrp="1"/>
          </p:cNvSpPr>
          <p:nvPr/>
        </p:nvSpPr>
        <p:spPr>
          <a:xfrm>
            <a:off x="4762500" y="35242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查看营收与设备状态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CAABAA72-766F-49E6-BD8E-87920BB0BC6B}"/>
              </a:ext>
            </a:extLst>
          </p:cNvPr>
          <p:cNvSpPr>
            <a:spLocks noGrp="1"/>
          </p:cNvSpPr>
          <p:nvPr/>
        </p:nvSpPr>
        <p:spPr>
          <a:xfrm>
            <a:off x="4533900" y="407670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36EA862-00FC-4241-B332-62E2A356C47C}"/>
              </a:ext>
            </a:extLst>
          </p:cNvPr>
          <p:cNvSpPr>
            <a:spLocks noGrp="1"/>
          </p:cNvSpPr>
          <p:nvPr/>
        </p:nvSpPr>
        <p:spPr>
          <a:xfrm>
            <a:off x="4762500" y="40005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42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</a:t>
            </a: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电站、电桩与用户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8A790A95-3BE4-492D-990C-67A6FA782D92}"/>
              </a:ext>
            </a:extLst>
          </p:cNvPr>
          <p:cNvSpPr>
            <a:spLocks noGrp="1"/>
          </p:cNvSpPr>
          <p:nvPr/>
        </p:nvSpPr>
        <p:spPr>
          <a:xfrm>
            <a:off x="4533900" y="45529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7C16450-59AA-4BF5-A612-7D3D6743645E}"/>
              </a:ext>
            </a:extLst>
          </p:cNvPr>
          <p:cNvSpPr>
            <a:spLocks noGrp="1"/>
          </p:cNvSpPr>
          <p:nvPr/>
        </p:nvSpPr>
        <p:spPr>
          <a:xfrm>
            <a:off x="4762500" y="44767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处理故障与远程重启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74C80347-C6AA-4F26-9DDA-004AD845CDEC}"/>
              </a:ext>
            </a:extLst>
          </p:cNvPr>
          <p:cNvSpPr>
            <a:spLocks noGrp="1"/>
          </p:cNvSpPr>
          <p:nvPr/>
        </p:nvSpPr>
        <p:spPr>
          <a:xfrm>
            <a:off x="7886700" y="2381250"/>
            <a:ext cx="3314700" cy="2952750"/>
          </a:xfrm>
          <a:prstGeom prst="roundRect">
            <a:avLst>
              <a:gd name="adj" fmla="val 4516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4D614C7-F48A-4019-9F15-A6BDA52CFFB8}"/>
              </a:ext>
            </a:extLst>
          </p:cNvPr>
          <p:cNvSpPr>
            <a:spLocks noGrp="1"/>
          </p:cNvSpPr>
          <p:nvPr/>
        </p:nvSpPr>
        <p:spPr>
          <a:xfrm>
            <a:off x="7886700" y="2381250"/>
            <a:ext cx="3314700" cy="76200"/>
          </a:xfrm>
          <a:prstGeom prst="rect">
            <a:avLst/>
          </a:prstGeom>
          <a:solidFill>
            <a:srgbClr val="FFD166"/>
          </a:solidFill>
          <a:ln w="0">
            <a:noFill/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F44829EB-7726-4E35-8743-0FD152AC227F}"/>
              </a:ext>
            </a:extLst>
          </p:cNvPr>
          <p:cNvSpPr>
            <a:spLocks noGrp="1"/>
          </p:cNvSpPr>
          <p:nvPr/>
        </p:nvSpPr>
        <p:spPr>
          <a:xfrm>
            <a:off x="8153400" y="2762250"/>
            <a:ext cx="2667000" cy="361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1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平台服务</a:t>
            </a:r>
            <a:endParaRPr sz="21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7" name="椭圆 26">
            <a:extLst>
              <a:ext uri="{FF2B5EF4-FFF2-40B4-BE49-F238E27FC236}">
                <a16:creationId xmlns:a16="http://schemas.microsoft.com/office/drawing/2014/main" id="{B1971AD3-1FA7-4279-B838-73398F32E244}"/>
              </a:ext>
            </a:extLst>
          </p:cNvPr>
          <p:cNvSpPr>
            <a:spLocks noGrp="1"/>
          </p:cNvSpPr>
          <p:nvPr/>
        </p:nvSpPr>
        <p:spPr>
          <a:xfrm>
            <a:off x="8172450" y="3600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0A45F30E-BA6D-414A-A0CD-2B480C8DEAE8}"/>
              </a:ext>
            </a:extLst>
          </p:cNvPr>
          <p:cNvSpPr>
            <a:spLocks noGrp="1"/>
          </p:cNvSpPr>
          <p:nvPr/>
        </p:nvSpPr>
        <p:spPr>
          <a:xfrm>
            <a:off x="8401050" y="35242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统一认证和权限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9" name="椭圆 28">
            <a:extLst>
              <a:ext uri="{FF2B5EF4-FFF2-40B4-BE49-F238E27FC236}">
                <a16:creationId xmlns:a16="http://schemas.microsoft.com/office/drawing/2014/main" id="{DB2E0892-3ABC-46CE-882C-9E11B44FBF32}"/>
              </a:ext>
            </a:extLst>
          </p:cNvPr>
          <p:cNvSpPr>
            <a:spLocks noGrp="1"/>
          </p:cNvSpPr>
          <p:nvPr/>
        </p:nvSpPr>
        <p:spPr>
          <a:xfrm>
            <a:off x="8172450" y="407670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02FEEE2-BF50-4E89-AB39-0350DA6EB441}"/>
              </a:ext>
            </a:extLst>
          </p:cNvPr>
          <p:cNvSpPr>
            <a:spLocks noGrp="1"/>
          </p:cNvSpPr>
          <p:nvPr/>
        </p:nvSpPr>
        <p:spPr>
          <a:xfrm>
            <a:off x="8401050" y="400050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实时充电会话与分时计价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1" name="椭圆 30">
            <a:extLst>
              <a:ext uri="{FF2B5EF4-FFF2-40B4-BE49-F238E27FC236}">
                <a16:creationId xmlns:a16="http://schemas.microsoft.com/office/drawing/2014/main" id="{E4B35094-0922-4CDE-B581-275C8AB8BD06}"/>
              </a:ext>
            </a:extLst>
          </p:cNvPr>
          <p:cNvSpPr>
            <a:spLocks noGrp="1"/>
          </p:cNvSpPr>
          <p:nvPr/>
        </p:nvSpPr>
        <p:spPr>
          <a:xfrm>
            <a:off x="8172450" y="45529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7168BDA-EE9D-450B-A35D-183358C85512}"/>
              </a:ext>
            </a:extLst>
          </p:cNvPr>
          <p:cNvSpPr>
            <a:spLocks noGrp="1"/>
          </p:cNvSpPr>
          <p:nvPr/>
        </p:nvSpPr>
        <p:spPr>
          <a:xfrm>
            <a:off x="8401050" y="4476750"/>
            <a:ext cx="24384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保证订单、余额、设备一致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3" name="直接连接符 32">
            <a:extLst>
              <a:ext uri="{FF2B5EF4-FFF2-40B4-BE49-F238E27FC236}">
                <a16:creationId xmlns:a16="http://schemas.microsoft.com/office/drawing/2014/main" id="{2E618DA6-09E4-490E-9F43-FC052E0A683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AA43E987-8D1F-467E-8FFE-7ECBD8E5BC45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0C4CB9D-BAE2-4CA4-BC4F-CA4EF804C4BD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14896661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矩形 23">
            <a:extLst>
              <a:ext uri="{FF2B5EF4-FFF2-40B4-BE49-F238E27FC236}">
                <a16:creationId xmlns:a16="http://schemas.microsoft.com/office/drawing/2014/main" id="{8E00E5EF-A34A-4209-B2FB-346BA52C3F0D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ARCHITECTURE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C5AFF522-0356-42E4-8265-1A0CE4D418C5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系统架构</a:t>
            </a:r>
            <a:endParaRPr sz="255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BB1B7B94-6369-47AF-88F1-7F3FB7225F36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1973D0EC-1D23-4E60-96EF-52E745E67DFB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直接连接符 20">
            <a:extLst>
              <a:ext uri="{FF2B5EF4-FFF2-40B4-BE49-F238E27FC236}">
                <a16:creationId xmlns:a16="http://schemas.microsoft.com/office/drawing/2014/main" id="{E318E646-7FC3-431B-9ECC-2B42F4806ABA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CA87DE5B-5756-4BBD-A39E-9EB8E9A04ADA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260A6BEA-8C84-4329-87D8-43B0E7E2F9CA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pic>
        <p:nvPicPr>
          <p:cNvPr id="26" name="图片 25">
            <a:extLst>
              <a:ext uri="{FF2B5EF4-FFF2-40B4-BE49-F238E27FC236}">
                <a16:creationId xmlns:a16="http://schemas.microsoft.com/office/drawing/2014/main" id="{7E2A28C2-BB95-AE01-3BB2-95C54A361A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49590" y="1409700"/>
            <a:ext cx="6032810" cy="4889751"/>
          </a:xfrm>
          <a:prstGeom prst="rect">
            <a:avLst/>
          </a:prstGeom>
        </p:spPr>
      </p:pic>
      <p:sp>
        <p:nvSpPr>
          <p:cNvPr id="27" name="文本框 26">
            <a:extLst>
              <a:ext uri="{FF2B5EF4-FFF2-40B4-BE49-F238E27FC236}">
                <a16:creationId xmlns:a16="http://schemas.microsoft.com/office/drawing/2014/main" id="{8D062D10-3D5E-F430-9FCA-76B12341ABFB}"/>
              </a:ext>
            </a:extLst>
          </p:cNvPr>
          <p:cNvSpPr txBox="1"/>
          <p:nvPr/>
        </p:nvSpPr>
        <p:spPr>
          <a:xfrm>
            <a:off x="609600" y="1987297"/>
            <a:ext cx="4483608" cy="34778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用户端：Qt 6、C++</a:t>
            </a:r>
            <a:r>
              <a:rPr lang="en-US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</a:t>
            </a:r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、Qt WebEngine、Qt WebSockets；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管理端：Qt Widgets、Qt Charts、Qt Network；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后端：C++</a:t>
            </a:r>
            <a:r>
              <a:rPr lang="en-US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、Drogon；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数据库：PostgreSQL；</a:t>
            </a:r>
            <a:endParaRPr lang="en-US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endParaRPr lang="zh-CN" altLang="zh-CN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/>
            <a:r>
              <a:rPr lang="zh-CN" altLang="zh-CN" sz="2000" dirty="0">
                <a:solidFill>
                  <a:srgbClr val="FFFFFF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地图服务：腾讯地图 WebService API</a:t>
            </a:r>
            <a:endParaRPr lang="zh-CN" altLang="en-US" sz="2000" dirty="0">
              <a:solidFill>
                <a:srgbClr val="FFFFFF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5278423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矩形 31">
            <a:extLst>
              <a:ext uri="{FF2B5EF4-FFF2-40B4-BE49-F238E27FC236}">
                <a16:creationId xmlns:a16="http://schemas.microsoft.com/office/drawing/2014/main" id="{4B339C13-511C-4F33-9B1A-7023DB8B2972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CHARGING LIFECYCLE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7C1B57A9-B2C5-4906-8104-365D392CAF25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充电业务流程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70DEC293-465F-47FA-BD16-AB696776051B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778DF125-ECB5-44F5-93F1-7B79A1959C2A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7531483B-866F-4864-BECF-F98293A8CF59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477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D9C9"/>
                </a:solidFill>
                <a:latin typeface="Arial"/>
                <a:ea typeface="Arial"/>
                <a:cs typeface="Arial"/>
              </a:rPr>
              <a:t>订单状态、电桩状态和钱包余额共同决定一次充电是否可以开始、继续和完成。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F4482BA3-521A-4167-BA63-873ED06A6F1F}"/>
              </a:ext>
            </a:extLst>
          </p:cNvPr>
          <p:cNvSpPr>
            <a:spLocks noGrp="1"/>
          </p:cNvSpPr>
          <p:nvPr/>
        </p:nvSpPr>
        <p:spPr>
          <a:xfrm>
            <a:off x="628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0">
            <a:solidFill>
              <a:srgbClr val="00C2A8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20F3A95-CD91-44C3-956B-4EFE100DF71E}"/>
              </a:ext>
            </a:extLst>
          </p:cNvPr>
          <p:cNvSpPr>
            <a:spLocks noGrp="1"/>
          </p:cNvSpPr>
          <p:nvPr/>
        </p:nvSpPr>
        <p:spPr>
          <a:xfrm>
            <a:off x="628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空闲</a:t>
            </a: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224FEB4-F514-444B-BB84-0CEF98C31AA6}"/>
              </a:ext>
            </a:extLst>
          </p:cNvPr>
          <p:cNvSpPr>
            <a:spLocks noGrp="1"/>
          </p:cNvSpPr>
          <p:nvPr/>
        </p:nvSpPr>
        <p:spPr>
          <a:xfrm>
            <a:off x="628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选择充电桩</a:t>
            </a:r>
          </a:p>
        </p:txBody>
      </p:sp>
      <p:sp>
        <p:nvSpPr>
          <p:cNvPr id="9" name="箭头: 右 8">
            <a:extLst>
              <a:ext uri="{FF2B5EF4-FFF2-40B4-BE49-F238E27FC236}">
                <a16:creationId xmlns:a16="http://schemas.microsoft.com/office/drawing/2014/main" id="{787CE865-080A-4E22-ACD2-C3DC50A5CA04}"/>
              </a:ext>
            </a:extLst>
          </p:cNvPr>
          <p:cNvSpPr>
            <a:spLocks noGrp="1"/>
          </p:cNvSpPr>
          <p:nvPr/>
        </p:nvSpPr>
        <p:spPr>
          <a:xfrm>
            <a:off x="2457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67403D48-D0E8-48F7-B1DC-C8FDA2AAF52F}"/>
              </a:ext>
            </a:extLst>
          </p:cNvPr>
          <p:cNvSpPr>
            <a:spLocks noGrp="1"/>
          </p:cNvSpPr>
          <p:nvPr/>
        </p:nvSpPr>
        <p:spPr>
          <a:xfrm>
            <a:off x="2914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FFD166"/>
          </a:solidFill>
          <a:ln w="0">
            <a:solidFill>
              <a:srgbClr val="FFD166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930DFCB-CD88-4CB3-938D-CD3B26406192}"/>
              </a:ext>
            </a:extLst>
          </p:cNvPr>
          <p:cNvSpPr>
            <a:spLocks noGrp="1"/>
          </p:cNvSpPr>
          <p:nvPr/>
        </p:nvSpPr>
        <p:spPr>
          <a:xfrm>
            <a:off x="2914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被占用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C5F896B-5976-4F28-B3BB-DA857D69D179}"/>
              </a:ext>
            </a:extLst>
          </p:cNvPr>
          <p:cNvSpPr>
            <a:spLocks noGrp="1"/>
          </p:cNvSpPr>
          <p:nvPr/>
        </p:nvSpPr>
        <p:spPr>
          <a:xfrm>
            <a:off x="2914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创建订单</a:t>
            </a:r>
          </a:p>
        </p:txBody>
      </p:sp>
      <p:sp>
        <p:nvSpPr>
          <p:cNvPr id="13" name="箭头: 右 12">
            <a:extLst>
              <a:ext uri="{FF2B5EF4-FFF2-40B4-BE49-F238E27FC236}">
                <a16:creationId xmlns:a16="http://schemas.microsoft.com/office/drawing/2014/main" id="{B68DEF09-3498-4F68-9D7D-EAAF07E6D46B}"/>
              </a:ext>
            </a:extLst>
          </p:cNvPr>
          <p:cNvSpPr>
            <a:spLocks noGrp="1"/>
          </p:cNvSpPr>
          <p:nvPr/>
        </p:nvSpPr>
        <p:spPr>
          <a:xfrm>
            <a:off x="4743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5143EDFC-9553-4A6C-8806-5BD169F52F3D}"/>
              </a:ext>
            </a:extLst>
          </p:cNvPr>
          <p:cNvSpPr>
            <a:spLocks noGrp="1"/>
          </p:cNvSpPr>
          <p:nvPr/>
        </p:nvSpPr>
        <p:spPr>
          <a:xfrm>
            <a:off x="5200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82E7ECB-5049-40BC-A25D-06ACF2A92D67}"/>
              </a:ext>
            </a:extLst>
          </p:cNvPr>
          <p:cNvSpPr>
            <a:spLocks noGrp="1"/>
          </p:cNvSpPr>
          <p:nvPr/>
        </p:nvSpPr>
        <p:spPr>
          <a:xfrm>
            <a:off x="5200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充电中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086507C-4DA8-49A2-B309-62F0EAB839BA}"/>
              </a:ext>
            </a:extLst>
          </p:cNvPr>
          <p:cNvSpPr>
            <a:spLocks noGrp="1"/>
          </p:cNvSpPr>
          <p:nvPr/>
        </p:nvSpPr>
        <p:spPr>
          <a:xfrm>
            <a:off x="5200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实时计价</a:t>
            </a:r>
          </a:p>
        </p:txBody>
      </p:sp>
      <p:sp>
        <p:nvSpPr>
          <p:cNvPr id="17" name="箭头: 右 16">
            <a:extLst>
              <a:ext uri="{FF2B5EF4-FFF2-40B4-BE49-F238E27FC236}">
                <a16:creationId xmlns:a16="http://schemas.microsoft.com/office/drawing/2014/main" id="{4F4C9D97-23D2-47A4-B187-B2B786DA734E}"/>
              </a:ext>
            </a:extLst>
          </p:cNvPr>
          <p:cNvSpPr>
            <a:spLocks noGrp="1"/>
          </p:cNvSpPr>
          <p:nvPr/>
        </p:nvSpPr>
        <p:spPr>
          <a:xfrm>
            <a:off x="7029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8" name="矩形: 圆角 17">
            <a:extLst>
              <a:ext uri="{FF2B5EF4-FFF2-40B4-BE49-F238E27FC236}">
                <a16:creationId xmlns:a16="http://schemas.microsoft.com/office/drawing/2014/main" id="{B4F47A1B-71DF-4553-9BDC-DC61C64DC307}"/>
              </a:ext>
            </a:extLst>
          </p:cNvPr>
          <p:cNvSpPr>
            <a:spLocks noGrp="1"/>
          </p:cNvSpPr>
          <p:nvPr/>
        </p:nvSpPr>
        <p:spPr>
          <a:xfrm>
            <a:off x="7486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8E7CFF"/>
          </a:solidFill>
          <a:ln w="0">
            <a:solidFill>
              <a:srgbClr val="8E7CFF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EE00966C-6298-4EE0-8BF7-B4578FED3D8D}"/>
              </a:ext>
            </a:extLst>
          </p:cNvPr>
          <p:cNvSpPr>
            <a:spLocks noGrp="1"/>
          </p:cNvSpPr>
          <p:nvPr/>
        </p:nvSpPr>
        <p:spPr>
          <a:xfrm>
            <a:off x="7486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结算中</a:t>
            </a: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820382E-05A6-4B0D-8DAD-C98E537FA428}"/>
              </a:ext>
            </a:extLst>
          </p:cNvPr>
          <p:cNvSpPr>
            <a:spLocks noGrp="1"/>
          </p:cNvSpPr>
          <p:nvPr/>
        </p:nvSpPr>
        <p:spPr>
          <a:xfrm>
            <a:off x="7486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扣款 / 待结算</a:t>
            </a:r>
          </a:p>
        </p:txBody>
      </p:sp>
      <p:sp>
        <p:nvSpPr>
          <p:cNvPr id="21" name="箭头: 右 20">
            <a:extLst>
              <a:ext uri="{FF2B5EF4-FFF2-40B4-BE49-F238E27FC236}">
                <a16:creationId xmlns:a16="http://schemas.microsoft.com/office/drawing/2014/main" id="{33B00F38-4E9B-47BB-96A0-81B24D0E2258}"/>
              </a:ext>
            </a:extLst>
          </p:cNvPr>
          <p:cNvSpPr>
            <a:spLocks noGrp="1"/>
          </p:cNvSpPr>
          <p:nvPr/>
        </p:nvSpPr>
        <p:spPr>
          <a:xfrm>
            <a:off x="9315450" y="3257550"/>
            <a:ext cx="400050" cy="209550"/>
          </a:xfrm>
          <a:prstGeom prst="rightArrow">
            <a:avLst/>
          </a:prstGeom>
          <a:solidFill>
            <a:srgbClr val="344249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22" name="矩形: 圆角 21">
            <a:extLst>
              <a:ext uri="{FF2B5EF4-FFF2-40B4-BE49-F238E27FC236}">
                <a16:creationId xmlns:a16="http://schemas.microsoft.com/office/drawing/2014/main" id="{A98DE87A-D934-49C3-965A-6D8C4FABE1E3}"/>
              </a:ext>
            </a:extLst>
          </p:cNvPr>
          <p:cNvSpPr>
            <a:spLocks noGrp="1"/>
          </p:cNvSpPr>
          <p:nvPr/>
        </p:nvSpPr>
        <p:spPr>
          <a:xfrm>
            <a:off x="9772650" y="2905125"/>
            <a:ext cx="1752600" cy="933450"/>
          </a:xfrm>
          <a:prstGeom prst="roundRect">
            <a:avLst>
              <a:gd name="adj" fmla="val 14286"/>
            </a:avLst>
          </a:prstGeom>
          <a:solidFill>
            <a:srgbClr val="00C2A8"/>
          </a:solidFill>
          <a:ln w="0">
            <a:solidFill>
              <a:srgbClr val="00C2A8"/>
            </a:solidFill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D4998AF-6A4B-44F8-BEED-CB1C122C9490}"/>
              </a:ext>
            </a:extLst>
          </p:cNvPr>
          <p:cNvSpPr>
            <a:spLocks noGrp="1"/>
          </p:cNvSpPr>
          <p:nvPr/>
        </p:nvSpPr>
        <p:spPr>
          <a:xfrm>
            <a:off x="9772650" y="3086100"/>
            <a:ext cx="17526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空闲</a:t>
            </a: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113319B3-E564-4A53-B3EA-408A48929144}"/>
              </a:ext>
            </a:extLst>
          </p:cNvPr>
          <p:cNvSpPr>
            <a:spLocks noGrp="1"/>
          </p:cNvSpPr>
          <p:nvPr/>
        </p:nvSpPr>
        <p:spPr>
          <a:xfrm>
            <a:off x="9772650" y="3476625"/>
            <a:ext cx="17526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200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释放电桩</a:t>
            </a:r>
          </a:p>
        </p:txBody>
      </p:sp>
      <p:sp>
        <p:nvSpPr>
          <p:cNvPr id="25" name="矩形: 圆角 24">
            <a:extLst>
              <a:ext uri="{FF2B5EF4-FFF2-40B4-BE49-F238E27FC236}">
                <a16:creationId xmlns:a16="http://schemas.microsoft.com/office/drawing/2014/main" id="{AF08CFA8-06E3-40EE-8EE0-091248B966BA}"/>
              </a:ext>
            </a:extLst>
          </p:cNvPr>
          <p:cNvSpPr>
            <a:spLocks noGrp="1"/>
          </p:cNvSpPr>
          <p:nvPr/>
        </p:nvSpPr>
        <p:spPr>
          <a:xfrm>
            <a:off x="609600" y="4762500"/>
            <a:ext cx="10972800" cy="1000125"/>
          </a:xfrm>
          <a:prstGeom prst="roundRect">
            <a:avLst>
              <a:gd name="adj" fmla="val 11429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37F094C-0CF6-43BD-A2CB-6B1E7E38EFE3}"/>
              </a:ext>
            </a:extLst>
          </p:cNvPr>
          <p:cNvSpPr>
            <a:spLocks noGrp="1"/>
          </p:cNvSpPr>
          <p:nvPr/>
        </p:nvSpPr>
        <p:spPr>
          <a:xfrm>
            <a:off x="876300" y="4981575"/>
            <a:ext cx="12382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异常出口</a:t>
            </a: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4B195F56-5401-4180-94DF-675F1BC9180A}"/>
              </a:ext>
            </a:extLst>
          </p:cNvPr>
          <p:cNvSpPr>
            <a:spLocks noGrp="1"/>
          </p:cNvSpPr>
          <p:nvPr/>
        </p:nvSpPr>
        <p:spPr>
          <a:xfrm>
            <a:off x="2381250" y="4972050"/>
            <a:ext cx="80962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余额不足  /  网络中断  /  电桩故障  /  用户主动停止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0C0A93D-5FA1-4A14-8728-CDCD78082834}"/>
              </a:ext>
            </a:extLst>
          </p:cNvPr>
          <p:cNvSpPr>
            <a:spLocks noGrp="1"/>
          </p:cNvSpPr>
          <p:nvPr/>
        </p:nvSpPr>
        <p:spPr>
          <a:xfrm>
            <a:off x="2381250" y="5353050"/>
            <a:ext cx="809625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1275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服务端统一结算，失败时保持订单与电桩状态一致。</a:t>
            </a:r>
          </a:p>
        </p:txBody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C630C21B-0E44-4B05-A314-FC50990549B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2C1E7D9-6FCE-468C-B372-170AF86F5B24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D09B5C9-82DA-4F7B-B051-4054FBDFDC2C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7381141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E548EFC5-763F-44BD-8147-D2458CAEB90E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BILLING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F7EF19B-FAEA-4C0B-922F-CA07F21005C6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计费逻辑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7817110-F8DD-40B5-A636-9CC04BD78BE1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FD478067-93A0-4D06-BC8C-6BE2D8777FDF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5CDDCF9B-8C73-4316-8E14-F469DCA1B93B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10668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650" b="0" dirty="0" err="1">
                <a:solidFill>
                  <a:srgbClr val="FFD9C9"/>
                </a:solidFill>
                <a:latin typeface="Arial"/>
                <a:ea typeface="Arial"/>
                <a:cs typeface="Arial"/>
              </a:rPr>
              <a:t>计费由服务端完成，客户端只展示结果。跨越电价时段时，按时间区间分别计算</a:t>
            </a:r>
            <a:r>
              <a:rPr sz="1650" b="0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。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D3B7B98D-AD51-45E5-ABD6-BCD03719DD99}"/>
              </a:ext>
            </a:extLst>
          </p:cNvPr>
          <p:cNvSpPr>
            <a:spLocks noGrp="1"/>
          </p:cNvSpPr>
          <p:nvPr/>
        </p:nvSpPr>
        <p:spPr>
          <a:xfrm>
            <a:off x="609600" y="2305050"/>
            <a:ext cx="4762500" cy="3143250"/>
          </a:xfrm>
          <a:prstGeom prst="roundRect">
            <a:avLst>
              <a:gd name="adj" fmla="val 4242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116CAD9-18FF-4D6D-9C4F-B2DD94B7F072}"/>
              </a:ext>
            </a:extLst>
          </p:cNvPr>
          <p:cNvSpPr>
            <a:spLocks noGrp="1"/>
          </p:cNvSpPr>
          <p:nvPr/>
        </p:nvSpPr>
        <p:spPr>
          <a:xfrm>
            <a:off x="914400" y="26193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实时会话</a:t>
            </a:r>
          </a:p>
        </p:txBody>
      </p:sp>
      <p:sp>
        <p:nvSpPr>
          <p:cNvPr id="8" name="椭圆 7">
            <a:extLst>
              <a:ext uri="{FF2B5EF4-FFF2-40B4-BE49-F238E27FC236}">
                <a16:creationId xmlns:a16="http://schemas.microsoft.com/office/drawing/2014/main" id="{35A0974A-66A5-421F-965C-712F096B09CB}"/>
              </a:ext>
            </a:extLst>
          </p:cNvPr>
          <p:cNvSpPr>
            <a:spLocks noGrp="1"/>
          </p:cNvSpPr>
          <p:nvPr/>
        </p:nvSpPr>
        <p:spPr>
          <a:xfrm>
            <a:off x="914400" y="3362325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14729E3-FCB4-47CB-9B0B-9B94A06BA229}"/>
              </a:ext>
            </a:extLst>
          </p:cNvPr>
          <p:cNvSpPr>
            <a:spLocks noGrp="1"/>
          </p:cNvSpPr>
          <p:nvPr/>
        </p:nvSpPr>
        <p:spPr>
          <a:xfrm>
            <a:off x="1143000" y="3286125"/>
            <a:ext cx="377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WebSocket </a:t>
            </a:r>
            <a:r>
              <a:rPr sz="1425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保持持续充电会话</a:t>
            </a:r>
            <a:endParaRPr sz="1425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0" name="椭圆 9">
            <a:extLst>
              <a:ext uri="{FF2B5EF4-FFF2-40B4-BE49-F238E27FC236}">
                <a16:creationId xmlns:a16="http://schemas.microsoft.com/office/drawing/2014/main" id="{2C133962-D670-4521-BF98-B7E9EBFF4B25}"/>
              </a:ext>
            </a:extLst>
          </p:cNvPr>
          <p:cNvSpPr>
            <a:spLocks noGrp="1"/>
          </p:cNvSpPr>
          <p:nvPr/>
        </p:nvSpPr>
        <p:spPr>
          <a:xfrm>
            <a:off x="914400" y="3895725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03E498B9-1FE4-41D3-A5F6-72C55060CC36}"/>
              </a:ext>
            </a:extLst>
          </p:cNvPr>
          <p:cNvSpPr>
            <a:spLocks noGrp="1"/>
          </p:cNvSpPr>
          <p:nvPr/>
        </p:nvSpPr>
        <p:spPr>
          <a:xfrm>
            <a:off x="1143000" y="3819525"/>
            <a:ext cx="377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约每秒推送时长、电量、费用</a:t>
            </a:r>
          </a:p>
        </p:txBody>
      </p:sp>
      <p:sp>
        <p:nvSpPr>
          <p:cNvPr id="12" name="椭圆 11">
            <a:extLst>
              <a:ext uri="{FF2B5EF4-FFF2-40B4-BE49-F238E27FC236}">
                <a16:creationId xmlns:a16="http://schemas.microsoft.com/office/drawing/2014/main" id="{076272A4-1CDE-451B-BB06-F6115497D591}"/>
              </a:ext>
            </a:extLst>
          </p:cNvPr>
          <p:cNvSpPr>
            <a:spLocks noGrp="1"/>
          </p:cNvSpPr>
          <p:nvPr/>
        </p:nvSpPr>
        <p:spPr>
          <a:xfrm>
            <a:off x="914400" y="4429125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5068012-AE5E-4C2F-9203-DA247EEE21D5}"/>
              </a:ext>
            </a:extLst>
          </p:cNvPr>
          <p:cNvSpPr>
            <a:spLocks noGrp="1"/>
          </p:cNvSpPr>
          <p:nvPr/>
        </p:nvSpPr>
        <p:spPr>
          <a:xfrm>
            <a:off x="1143000" y="4352925"/>
            <a:ext cx="377190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425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服务端检查下一计费周期是否可支付</a:t>
            </a:r>
          </a:p>
        </p:txBody>
      </p:sp>
      <p:sp>
        <p:nvSpPr>
          <p:cNvPr id="14" name="矩形: 圆角 13">
            <a:extLst>
              <a:ext uri="{FF2B5EF4-FFF2-40B4-BE49-F238E27FC236}">
                <a16:creationId xmlns:a16="http://schemas.microsoft.com/office/drawing/2014/main" id="{789A6B59-499A-4780-BE6A-F0D7A20E4653}"/>
              </a:ext>
            </a:extLst>
          </p:cNvPr>
          <p:cNvSpPr>
            <a:spLocks noGrp="1"/>
          </p:cNvSpPr>
          <p:nvPr/>
        </p:nvSpPr>
        <p:spPr>
          <a:xfrm>
            <a:off x="5810250" y="2305050"/>
            <a:ext cx="5772150" cy="3143250"/>
          </a:xfrm>
          <a:prstGeom prst="roundRect">
            <a:avLst>
              <a:gd name="adj" fmla="val 4242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8943ECF7-A884-4833-B772-87FFA415B53D}"/>
              </a:ext>
            </a:extLst>
          </p:cNvPr>
          <p:cNvSpPr>
            <a:spLocks noGrp="1"/>
          </p:cNvSpPr>
          <p:nvPr/>
        </p:nvSpPr>
        <p:spPr>
          <a:xfrm>
            <a:off x="6115050" y="2619375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结算规则</a:t>
            </a: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50FACBC6-01F4-4D74-BB53-4788F1AE06E1}"/>
              </a:ext>
            </a:extLst>
          </p:cNvPr>
          <p:cNvSpPr>
            <a:spLocks noGrp="1"/>
          </p:cNvSpPr>
          <p:nvPr/>
        </p:nvSpPr>
        <p:spPr>
          <a:xfrm>
            <a:off x="6115050" y="3238500"/>
            <a:ext cx="4381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功率</a:t>
            </a: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× </a:t>
            </a: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时间</a:t>
            </a:r>
            <a:r>
              <a:rPr sz="1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= </a:t>
            </a:r>
            <a:r>
              <a:rPr sz="18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充电量</a:t>
            </a:r>
            <a:endParaRPr sz="18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7E1A9ED-33D2-46BA-AFBE-2B14C2D6754D}"/>
              </a:ext>
            </a:extLst>
          </p:cNvPr>
          <p:cNvSpPr>
            <a:spLocks noGrp="1"/>
          </p:cNvSpPr>
          <p:nvPr/>
        </p:nvSpPr>
        <p:spPr>
          <a:xfrm>
            <a:off x="6115050" y="3752850"/>
            <a:ext cx="4762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充电量</a:t>
            </a:r>
            <a:r>
              <a:rPr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× </a:t>
            </a:r>
            <a:r>
              <a:rPr sz="15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对应时段单价</a:t>
            </a:r>
            <a:r>
              <a:rPr sz="157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= </a:t>
            </a:r>
            <a:r>
              <a:rPr sz="1575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分段费用</a:t>
            </a:r>
            <a:endParaRPr sz="157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直接连接符 17">
            <a:extLst>
              <a:ext uri="{FF2B5EF4-FFF2-40B4-BE49-F238E27FC236}">
                <a16:creationId xmlns:a16="http://schemas.microsoft.com/office/drawing/2014/main" id="{AB62043E-558D-4A05-89AD-3CBCBC6BF6B8}"/>
              </a:ext>
            </a:extLst>
          </p:cNvPr>
          <p:cNvSpPr>
            <a:spLocks noGrp="1"/>
          </p:cNvSpPr>
          <p:nvPr/>
        </p:nvSpPr>
        <p:spPr>
          <a:xfrm>
            <a:off x="6115050" y="4305300"/>
            <a:ext cx="47625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A868887-7DD5-4692-A84D-D55A2A05ACA6}"/>
              </a:ext>
            </a:extLst>
          </p:cNvPr>
          <p:cNvSpPr>
            <a:spLocks noGrp="1"/>
          </p:cNvSpPr>
          <p:nvPr/>
        </p:nvSpPr>
        <p:spPr>
          <a:xfrm>
            <a:off x="6115050" y="4591050"/>
            <a:ext cx="4762500" cy="5334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F0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0B8"/>
                </a:solidFill>
                <a:latin typeface="Arial"/>
                <a:ea typeface="Arial"/>
                <a:cs typeface="Arial"/>
              </a:rPr>
              <a:t>停止、余额不足或连接中断时统一结算</a:t>
            </a:r>
          </a:p>
          <a:p>
            <a:pPr algn="l">
              <a:defRPr sz="1350" b="1">
                <a:solidFill>
                  <a:srgbClr val="FFF0B8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0B8"/>
                </a:solidFill>
                <a:latin typeface="Arial"/>
                <a:ea typeface="Arial"/>
                <a:cs typeface="Arial"/>
              </a:rPr>
              <a:t>成功扣款后订单完成，余额不足则进入待结算</a:t>
            </a: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5FF82D0E-F94C-426A-A29F-F96FB057E8DE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63067E2-67A2-407B-8939-67769AE0989B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A2DBA8B3-1AF0-4E29-A3D5-E9103D06E329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1278060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C64C29E0-6212-4AB0-ADC3-F56A8BC46974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USER CLIENT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17421DF-8777-4791-A7FC-8AEDC6E2065B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用户端功能展示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8105818-5CC5-41CB-94F7-80E4BDCC9B1C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141FABFF-3173-438F-859B-13F9C184F2B6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15" name="矩形: 圆角 14">
            <a:extLst>
              <a:ext uri="{FF2B5EF4-FFF2-40B4-BE49-F238E27FC236}">
                <a16:creationId xmlns:a16="http://schemas.microsoft.com/office/drawing/2014/main" id="{6C1DAC6E-8D44-4363-9D1E-EBC0571579EE}"/>
              </a:ext>
            </a:extLst>
          </p:cNvPr>
          <p:cNvSpPr>
            <a:spLocks noGrp="1"/>
          </p:cNvSpPr>
          <p:nvPr/>
        </p:nvSpPr>
        <p:spPr>
          <a:xfrm>
            <a:off x="6509103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6" name="直接连接符 15">
            <a:extLst>
              <a:ext uri="{FF2B5EF4-FFF2-40B4-BE49-F238E27FC236}">
                <a16:creationId xmlns:a16="http://schemas.microsoft.com/office/drawing/2014/main" id="{61BFA427-B8B2-49A9-9A77-318A95DD032A}"/>
              </a:ext>
            </a:extLst>
          </p:cNvPr>
          <p:cNvSpPr>
            <a:spLocks noGrp="1"/>
          </p:cNvSpPr>
          <p:nvPr/>
        </p:nvSpPr>
        <p:spPr>
          <a:xfrm>
            <a:off x="6613877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F373FCA9-ADEE-4397-A428-5F02264AE4B4}"/>
              </a:ext>
            </a:extLst>
          </p:cNvPr>
          <p:cNvSpPr>
            <a:spLocks noGrp="1"/>
          </p:cNvSpPr>
          <p:nvPr/>
        </p:nvSpPr>
        <p:spPr>
          <a:xfrm>
            <a:off x="6613878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DACAAC5-E6BE-4535-8318-19BAE5F0E9BD}"/>
              </a:ext>
            </a:extLst>
          </p:cNvPr>
          <p:cNvSpPr>
            <a:spLocks noGrp="1"/>
          </p:cNvSpPr>
          <p:nvPr/>
        </p:nvSpPr>
        <p:spPr>
          <a:xfrm>
            <a:off x="6509103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充电桩选择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2DE170F6-51B7-42FB-8D6F-1F87C653DB06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F66F499-41F6-4EF5-A0C3-9D16C14CFA1F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53C913E-AA04-41E8-87E5-4A509B7799BA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39" name="矩形: 圆角 38">
            <a:extLst>
              <a:ext uri="{FF2B5EF4-FFF2-40B4-BE49-F238E27FC236}">
                <a16:creationId xmlns:a16="http://schemas.microsoft.com/office/drawing/2014/main" id="{EFD6BC3D-65B2-E19B-9A44-2B1E7D40A4B9}"/>
              </a:ext>
            </a:extLst>
          </p:cNvPr>
          <p:cNvSpPr>
            <a:spLocks noGrp="1"/>
          </p:cNvSpPr>
          <p:nvPr/>
        </p:nvSpPr>
        <p:spPr>
          <a:xfrm>
            <a:off x="609600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41" name="直接连接符 40">
            <a:extLst>
              <a:ext uri="{FF2B5EF4-FFF2-40B4-BE49-F238E27FC236}">
                <a16:creationId xmlns:a16="http://schemas.microsoft.com/office/drawing/2014/main" id="{44BD3B80-B53F-898C-32C0-654B8AFAAA33}"/>
              </a:ext>
            </a:extLst>
          </p:cNvPr>
          <p:cNvSpPr>
            <a:spLocks noGrp="1"/>
          </p:cNvSpPr>
          <p:nvPr/>
        </p:nvSpPr>
        <p:spPr>
          <a:xfrm>
            <a:off x="714374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22CF0A5-EA4A-D8EB-CEDA-B5B2F64CB2AB}"/>
              </a:ext>
            </a:extLst>
          </p:cNvPr>
          <p:cNvSpPr>
            <a:spLocks noGrp="1"/>
          </p:cNvSpPr>
          <p:nvPr/>
        </p:nvSpPr>
        <p:spPr>
          <a:xfrm>
            <a:off x="714375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F25EB49C-EECB-4DD5-2A6B-CD4971E2DB0B}"/>
              </a:ext>
            </a:extLst>
          </p:cNvPr>
          <p:cNvSpPr>
            <a:spLocks noGrp="1"/>
          </p:cNvSpPr>
          <p:nvPr/>
        </p:nvSpPr>
        <p:spPr>
          <a:xfrm>
            <a:off x="609600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登录界面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矩形: 圆角 48">
            <a:extLst>
              <a:ext uri="{FF2B5EF4-FFF2-40B4-BE49-F238E27FC236}">
                <a16:creationId xmlns:a16="http://schemas.microsoft.com/office/drawing/2014/main" id="{82DCAC4F-478B-9A15-D78E-BFE3246014FA}"/>
              </a:ext>
            </a:extLst>
          </p:cNvPr>
          <p:cNvSpPr>
            <a:spLocks noGrp="1"/>
          </p:cNvSpPr>
          <p:nvPr/>
        </p:nvSpPr>
        <p:spPr>
          <a:xfrm>
            <a:off x="3524249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51" name="直接连接符 50">
            <a:extLst>
              <a:ext uri="{FF2B5EF4-FFF2-40B4-BE49-F238E27FC236}">
                <a16:creationId xmlns:a16="http://schemas.microsoft.com/office/drawing/2014/main" id="{515B8D2F-76D4-6189-F428-23F61EEE5FFC}"/>
              </a:ext>
            </a:extLst>
          </p:cNvPr>
          <p:cNvSpPr>
            <a:spLocks noGrp="1"/>
          </p:cNvSpPr>
          <p:nvPr/>
        </p:nvSpPr>
        <p:spPr>
          <a:xfrm>
            <a:off x="3629023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53" name="矩形 52">
            <a:extLst>
              <a:ext uri="{FF2B5EF4-FFF2-40B4-BE49-F238E27FC236}">
                <a16:creationId xmlns:a16="http://schemas.microsoft.com/office/drawing/2014/main" id="{D84F113B-6AC0-B750-620A-EF8E42EF3A4A}"/>
              </a:ext>
            </a:extLst>
          </p:cNvPr>
          <p:cNvSpPr>
            <a:spLocks noGrp="1"/>
          </p:cNvSpPr>
          <p:nvPr/>
        </p:nvSpPr>
        <p:spPr>
          <a:xfrm>
            <a:off x="3629024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55" name="矩形 54">
            <a:extLst>
              <a:ext uri="{FF2B5EF4-FFF2-40B4-BE49-F238E27FC236}">
                <a16:creationId xmlns:a16="http://schemas.microsoft.com/office/drawing/2014/main" id="{CA79643E-5590-34AA-9291-F9C873E0B5FC}"/>
              </a:ext>
            </a:extLst>
          </p:cNvPr>
          <p:cNvSpPr>
            <a:spLocks noGrp="1"/>
          </p:cNvSpPr>
          <p:nvPr/>
        </p:nvSpPr>
        <p:spPr>
          <a:xfrm>
            <a:off x="3524249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一键导航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59" name="图片 58">
            <a:extLst>
              <a:ext uri="{FF2B5EF4-FFF2-40B4-BE49-F238E27FC236}">
                <a16:creationId xmlns:a16="http://schemas.microsoft.com/office/drawing/2014/main" id="{ED187F84-EEF7-7819-9472-031A21FBC5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5187" y="1939671"/>
            <a:ext cx="2160437" cy="4057649"/>
          </a:xfrm>
          <a:prstGeom prst="rect">
            <a:avLst/>
          </a:prstGeom>
        </p:spPr>
      </p:pic>
      <p:pic>
        <p:nvPicPr>
          <p:cNvPr id="61" name="图片 60">
            <a:extLst>
              <a:ext uri="{FF2B5EF4-FFF2-40B4-BE49-F238E27FC236}">
                <a16:creationId xmlns:a16="http://schemas.microsoft.com/office/drawing/2014/main" id="{FCE5BBA0-8B72-214D-19BB-056C8AED99B2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3053" y="2006945"/>
            <a:ext cx="2085514" cy="3923100"/>
          </a:xfrm>
          <a:prstGeom prst="rect">
            <a:avLst/>
          </a:prstGeom>
        </p:spPr>
      </p:pic>
      <p:sp>
        <p:nvSpPr>
          <p:cNvPr id="63" name="矩形: 圆角 62">
            <a:extLst>
              <a:ext uri="{FF2B5EF4-FFF2-40B4-BE49-F238E27FC236}">
                <a16:creationId xmlns:a16="http://schemas.microsoft.com/office/drawing/2014/main" id="{F5533590-41B6-E9A8-A81C-E754FE229D46}"/>
              </a:ext>
            </a:extLst>
          </p:cNvPr>
          <p:cNvSpPr>
            <a:spLocks noGrp="1"/>
          </p:cNvSpPr>
          <p:nvPr/>
        </p:nvSpPr>
        <p:spPr>
          <a:xfrm>
            <a:off x="9404703" y="1390650"/>
            <a:ext cx="2686050" cy="4705349"/>
          </a:xfrm>
          <a:prstGeom prst="roundRect">
            <a:avLst>
              <a:gd name="adj" fmla="val 3030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65" name="直接连接符 64">
            <a:extLst>
              <a:ext uri="{FF2B5EF4-FFF2-40B4-BE49-F238E27FC236}">
                <a16:creationId xmlns:a16="http://schemas.microsoft.com/office/drawing/2014/main" id="{6D56BD3A-C6C4-49FE-1789-5F32597E5A49}"/>
              </a:ext>
            </a:extLst>
          </p:cNvPr>
          <p:cNvSpPr>
            <a:spLocks noGrp="1"/>
          </p:cNvSpPr>
          <p:nvPr/>
        </p:nvSpPr>
        <p:spPr>
          <a:xfrm>
            <a:off x="9509477" y="15346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67" name="矩形 66">
            <a:extLst>
              <a:ext uri="{FF2B5EF4-FFF2-40B4-BE49-F238E27FC236}">
                <a16:creationId xmlns:a16="http://schemas.microsoft.com/office/drawing/2014/main" id="{9D6905F5-095A-31ED-35A8-6B6CE99EB94D}"/>
              </a:ext>
            </a:extLst>
          </p:cNvPr>
          <p:cNvSpPr>
            <a:spLocks noGrp="1"/>
          </p:cNvSpPr>
          <p:nvPr/>
        </p:nvSpPr>
        <p:spPr>
          <a:xfrm>
            <a:off x="9509478" y="2247900"/>
            <a:ext cx="2686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9" name="矩形 68">
            <a:extLst>
              <a:ext uri="{FF2B5EF4-FFF2-40B4-BE49-F238E27FC236}">
                <a16:creationId xmlns:a16="http://schemas.microsoft.com/office/drawing/2014/main" id="{3CEC223A-35FD-DC3E-55F6-A4EF557F46A9}"/>
              </a:ext>
            </a:extLst>
          </p:cNvPr>
          <p:cNvSpPr>
            <a:spLocks noGrp="1"/>
          </p:cNvSpPr>
          <p:nvPr/>
        </p:nvSpPr>
        <p:spPr>
          <a:xfrm>
            <a:off x="9404703" y="1676400"/>
            <a:ext cx="26860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350" b="1" dirty="0">
                <a:solidFill>
                  <a:srgbClr val="FFD9C9"/>
                </a:solidFill>
                <a:latin typeface="Arial"/>
                <a:ea typeface="Arial"/>
                <a:cs typeface="Arial"/>
              </a:rPr>
              <a:t>个人资料修改</a:t>
            </a:r>
            <a:endParaRPr sz="1350" b="1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71" name="图片 70">
            <a:extLst>
              <a:ext uri="{FF2B5EF4-FFF2-40B4-BE49-F238E27FC236}">
                <a16:creationId xmlns:a16="http://schemas.microsoft.com/office/drawing/2014/main" id="{895D62F4-68D1-FBE7-5ADA-C03603B3CA21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72326" y="1939671"/>
            <a:ext cx="2150803" cy="4057649"/>
          </a:xfrm>
          <a:prstGeom prst="rect">
            <a:avLst/>
          </a:prstGeom>
        </p:spPr>
      </p:pic>
      <p:pic>
        <p:nvPicPr>
          <p:cNvPr id="73" name="图片 72">
            <a:extLst>
              <a:ext uri="{FF2B5EF4-FFF2-40B4-BE49-F238E27FC236}">
                <a16:creationId xmlns:a16="http://schemas.microsoft.com/office/drawing/2014/main" id="{CC0D2EA5-3E5D-6215-2D7A-4764A74BB12D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0731" y="2006945"/>
            <a:ext cx="2091677" cy="39231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0771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7CD66792-F670-45CE-974F-E60DC8CF2D41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ADMIN CLIENT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DD6EDD08-0E32-46E0-93D3-0FC1B77223B2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管理端功能展示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882E3DB-F5E8-4186-89B6-3CFE58C5B004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CE751ABA-52CE-4DE0-89D1-7E0B4D7E0330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931E9E0C-363C-4C1B-8B67-805B00DDD1AE}"/>
              </a:ext>
            </a:extLst>
          </p:cNvPr>
          <p:cNvSpPr>
            <a:spLocks noGrp="1"/>
          </p:cNvSpPr>
          <p:nvPr/>
        </p:nvSpPr>
        <p:spPr>
          <a:xfrm>
            <a:off x="657224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C3A4CFB4-8130-4BFF-9A46-F0977CA1C326}"/>
              </a:ext>
            </a:extLst>
          </p:cNvPr>
          <p:cNvSpPr>
            <a:spLocks noGrp="1"/>
          </p:cNvSpPr>
          <p:nvPr/>
        </p:nvSpPr>
        <p:spPr>
          <a:xfrm>
            <a:off x="838200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C473EB-BBAB-448A-B823-2C7A2E0105A0}"/>
              </a:ext>
            </a:extLst>
          </p:cNvPr>
          <p:cNvSpPr>
            <a:spLocks noGrp="1"/>
          </p:cNvSpPr>
          <p:nvPr/>
        </p:nvSpPr>
        <p:spPr>
          <a:xfrm>
            <a:off x="723900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业务总览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F6AC2E75-6CF0-4C22-87BC-2F37F1F87BE0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6558F79E-C5FD-48F2-A77D-7D1A3A5710C9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F9A22BB2-1AA8-498D-AC56-8EB3E9CF7F4F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pic>
        <p:nvPicPr>
          <p:cNvPr id="25" name="图片 24">
            <a:extLst>
              <a:ext uri="{FF2B5EF4-FFF2-40B4-BE49-F238E27FC236}">
                <a16:creationId xmlns:a16="http://schemas.microsoft.com/office/drawing/2014/main" id="{60C7D3FC-A86E-8AAA-6E3C-06778AB3BB3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90575" y="2228851"/>
            <a:ext cx="5048250" cy="3404077"/>
          </a:xfrm>
          <a:prstGeom prst="rect">
            <a:avLst/>
          </a:prstGeom>
        </p:spPr>
      </p:pic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DE7BBBBE-7255-53B4-6C8F-5F0A6520E592}"/>
              </a:ext>
            </a:extLst>
          </p:cNvPr>
          <p:cNvSpPr>
            <a:spLocks noGrp="1"/>
          </p:cNvSpPr>
          <p:nvPr/>
        </p:nvSpPr>
        <p:spPr>
          <a:xfrm>
            <a:off x="6219825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93B0B26B-3E6D-E579-F00B-776E4C1B0B1E}"/>
              </a:ext>
            </a:extLst>
          </p:cNvPr>
          <p:cNvSpPr>
            <a:spLocks noGrp="1"/>
          </p:cNvSpPr>
          <p:nvPr/>
        </p:nvSpPr>
        <p:spPr>
          <a:xfrm>
            <a:off x="6400801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1967D28-33B3-B433-E5FD-21EF266CAF55}"/>
              </a:ext>
            </a:extLst>
          </p:cNvPr>
          <p:cNvSpPr>
            <a:spLocks noGrp="1"/>
          </p:cNvSpPr>
          <p:nvPr/>
        </p:nvSpPr>
        <p:spPr>
          <a:xfrm>
            <a:off x="6286501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充电桩管理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35" name="图片 34">
            <a:extLst>
              <a:ext uri="{FF2B5EF4-FFF2-40B4-BE49-F238E27FC236}">
                <a16:creationId xmlns:a16="http://schemas.microsoft.com/office/drawing/2014/main" id="{410BB85D-8B86-B640-3A0A-339C65A6245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400801" y="2307257"/>
            <a:ext cx="4912480" cy="33256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003409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BC3BF02-53B0-AC66-12EA-0C5E0403D2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>
            <a:extLst>
              <a:ext uri="{FF2B5EF4-FFF2-40B4-BE49-F238E27FC236}">
                <a16:creationId xmlns:a16="http://schemas.microsoft.com/office/drawing/2014/main" id="{F5428B01-9558-06A2-B818-7C2C677D94B6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ADMIN CLIENT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649D1CF7-4777-CEEC-0CC8-F4C5FBFAC78B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管理端功能展示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A3299E7A-32B4-D4D9-AB0E-5A630AF94F79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464B0851-12BA-1BE7-9566-75323D1F3A58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86987201-923E-65DC-581B-42FCCD05C201}"/>
              </a:ext>
            </a:extLst>
          </p:cNvPr>
          <p:cNvSpPr>
            <a:spLocks noGrp="1"/>
          </p:cNvSpPr>
          <p:nvPr/>
        </p:nvSpPr>
        <p:spPr>
          <a:xfrm>
            <a:off x="657224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6" name="直接连接符 5">
            <a:extLst>
              <a:ext uri="{FF2B5EF4-FFF2-40B4-BE49-F238E27FC236}">
                <a16:creationId xmlns:a16="http://schemas.microsoft.com/office/drawing/2014/main" id="{CE6BB386-1DF3-A699-24A0-C047A59DF1A4}"/>
              </a:ext>
            </a:extLst>
          </p:cNvPr>
          <p:cNvSpPr>
            <a:spLocks noGrp="1"/>
          </p:cNvSpPr>
          <p:nvPr/>
        </p:nvSpPr>
        <p:spPr>
          <a:xfrm>
            <a:off x="838200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B0455E1D-8829-CCE3-138A-5BC4AB055BE0}"/>
              </a:ext>
            </a:extLst>
          </p:cNvPr>
          <p:cNvSpPr>
            <a:spLocks noGrp="1"/>
          </p:cNvSpPr>
          <p:nvPr/>
        </p:nvSpPr>
        <p:spPr>
          <a:xfrm>
            <a:off x="723900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充电桩编辑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直接连接符 19">
            <a:extLst>
              <a:ext uri="{FF2B5EF4-FFF2-40B4-BE49-F238E27FC236}">
                <a16:creationId xmlns:a16="http://schemas.microsoft.com/office/drawing/2014/main" id="{42846FC6-88E1-65E8-85D7-560DD40D3A71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1520C5E-E3D8-1425-5655-3AD0B457F8AE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EB215FBC-8BFF-44E4-FFE5-BF93B24E72B8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27" name="矩形: 圆角 26">
            <a:extLst>
              <a:ext uri="{FF2B5EF4-FFF2-40B4-BE49-F238E27FC236}">
                <a16:creationId xmlns:a16="http://schemas.microsoft.com/office/drawing/2014/main" id="{2ED00D78-D2A4-AB6F-7AE2-CD9D0C2F2699}"/>
              </a:ext>
            </a:extLst>
          </p:cNvPr>
          <p:cNvSpPr>
            <a:spLocks noGrp="1"/>
          </p:cNvSpPr>
          <p:nvPr/>
        </p:nvSpPr>
        <p:spPr>
          <a:xfrm>
            <a:off x="6219825" y="1613380"/>
            <a:ext cx="5248275" cy="4325406"/>
          </a:xfrm>
          <a:prstGeom prst="roundRect">
            <a:avLst>
              <a:gd name="adj" fmla="val 2564"/>
            </a:avLst>
          </a:prstGeom>
          <a:solidFill>
            <a:srgbClr val="202C32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29" name="直接连接符 28">
            <a:extLst>
              <a:ext uri="{FF2B5EF4-FFF2-40B4-BE49-F238E27FC236}">
                <a16:creationId xmlns:a16="http://schemas.microsoft.com/office/drawing/2014/main" id="{3DD0ABC1-F1B5-142A-C6F2-3F45DFB7379A}"/>
              </a:ext>
            </a:extLst>
          </p:cNvPr>
          <p:cNvSpPr>
            <a:spLocks noGrp="1"/>
          </p:cNvSpPr>
          <p:nvPr/>
        </p:nvSpPr>
        <p:spPr>
          <a:xfrm>
            <a:off x="6400801" y="1816768"/>
            <a:ext cx="5143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AE735D9A-8DA7-3613-6D7B-4A965F1D8662}"/>
              </a:ext>
            </a:extLst>
          </p:cNvPr>
          <p:cNvSpPr>
            <a:spLocks noGrp="1"/>
          </p:cNvSpPr>
          <p:nvPr/>
        </p:nvSpPr>
        <p:spPr>
          <a:xfrm>
            <a:off x="6286501" y="1909613"/>
            <a:ext cx="45910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7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1725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用户管理与冻结</a:t>
            </a:r>
            <a:endParaRPr sz="1725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pic>
        <p:nvPicPr>
          <p:cNvPr id="9" name="图片 8">
            <a:extLst>
              <a:ext uri="{FF2B5EF4-FFF2-40B4-BE49-F238E27FC236}">
                <a16:creationId xmlns:a16="http://schemas.microsoft.com/office/drawing/2014/main" id="{67D0020B-712B-D3AB-EBCE-A6A3360E1EB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720" y="2351229"/>
            <a:ext cx="4829062" cy="3285912"/>
          </a:xfrm>
          <a:prstGeom prst="rect">
            <a:avLst/>
          </a:prstGeom>
        </p:spPr>
      </p:pic>
      <p:pic>
        <p:nvPicPr>
          <p:cNvPr id="11" name="图片 10">
            <a:extLst>
              <a:ext uri="{FF2B5EF4-FFF2-40B4-BE49-F238E27FC236}">
                <a16:creationId xmlns:a16="http://schemas.microsoft.com/office/drawing/2014/main" id="{DEEC9526-C92F-A323-72E0-007C0266384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95274" y="2316883"/>
            <a:ext cx="4853751" cy="32859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7009782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矩形 28">
            <a:extLst>
              <a:ext uri="{FF2B5EF4-FFF2-40B4-BE49-F238E27FC236}">
                <a16:creationId xmlns:a16="http://schemas.microsoft.com/office/drawing/2014/main" id="{0C6CA429-DF20-491D-B4C6-2A120F53AD03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SERVER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5A65EA2B-EDFC-4538-9BF5-6490985117F7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服务端设计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710B40F-8CD3-4220-AE18-042501D43F6A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7ABF2735-1089-45F5-9AA9-47A769F3AB7D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3EB31B26-B657-4CE6-80D1-89D6DD341222}"/>
              </a:ext>
            </a:extLst>
          </p:cNvPr>
          <p:cNvSpPr>
            <a:spLocks noGrp="1"/>
          </p:cNvSpPr>
          <p:nvPr/>
        </p:nvSpPr>
        <p:spPr>
          <a:xfrm>
            <a:off x="762000" y="1809750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FF6B35"/>
          </a:solidFill>
          <a:ln w="0">
            <a:solidFill>
              <a:srgbClr val="FF6B3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43D0B74D-2C54-41D4-A7A3-79C471CF0981}"/>
              </a:ext>
            </a:extLst>
          </p:cNvPr>
          <p:cNvSpPr>
            <a:spLocks noGrp="1"/>
          </p:cNvSpPr>
          <p:nvPr/>
        </p:nvSpPr>
        <p:spPr>
          <a:xfrm>
            <a:off x="762000" y="1990725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Controller</a:t>
            </a:r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58CB4CC0-6DF0-469A-ABBE-80B47DCDBDA7}"/>
              </a:ext>
            </a:extLst>
          </p:cNvPr>
          <p:cNvSpPr>
            <a:spLocks noGrp="1"/>
          </p:cNvSpPr>
          <p:nvPr/>
        </p:nvSpPr>
        <p:spPr>
          <a:xfrm>
            <a:off x="3333750" y="198120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接收请求 / Token 认证 / 参数校验</a:t>
            </a:r>
          </a:p>
        </p:txBody>
      </p:sp>
      <p:sp>
        <p:nvSpPr>
          <p:cNvPr id="8" name="箭头: 右 7">
            <a:extLst>
              <a:ext uri="{FF2B5EF4-FFF2-40B4-BE49-F238E27FC236}">
                <a16:creationId xmlns:a16="http://schemas.microsoft.com/office/drawing/2014/main" id="{311B1C71-DBA9-4E7A-A70D-95E74A9B5A0B}"/>
              </a:ext>
            </a:extLst>
          </p:cNvPr>
          <p:cNvSpPr>
            <a:spLocks noGrp="1"/>
          </p:cNvSpPr>
          <p:nvPr/>
        </p:nvSpPr>
        <p:spPr>
          <a:xfrm rot="5400000">
            <a:off x="1695450" y="2600325"/>
            <a:ext cx="400050" cy="209550"/>
          </a:xfrm>
          <a:prstGeom prst="rightArrow">
            <a:avLst/>
          </a:prstGeom>
          <a:solidFill>
            <a:schemeClr val="bg1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BB609DBC-5F60-487B-9663-C7AE6DF3457D}"/>
              </a:ext>
            </a:extLst>
          </p:cNvPr>
          <p:cNvSpPr>
            <a:spLocks noGrp="1"/>
          </p:cNvSpPr>
          <p:nvPr/>
        </p:nvSpPr>
        <p:spPr>
          <a:xfrm>
            <a:off x="762000" y="2905125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00C2A8"/>
          </a:solidFill>
          <a:ln w="0">
            <a:solidFill>
              <a:srgbClr val="00C2A8"/>
            </a:solidFill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AEDB185-672D-48EA-9B4F-EC66B7DC2D9A}"/>
              </a:ext>
            </a:extLst>
          </p:cNvPr>
          <p:cNvSpPr>
            <a:spLocks noGrp="1"/>
          </p:cNvSpPr>
          <p:nvPr/>
        </p:nvSpPr>
        <p:spPr>
          <a:xfrm>
            <a:off x="762000" y="30861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0161B"/>
                </a:solidFill>
                <a:latin typeface="Arial"/>
                <a:ea typeface="Arial"/>
                <a:cs typeface="Arial"/>
              </a:rPr>
              <a:t>Service</a:t>
            </a: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9864CE1-BC41-4961-869F-D0EFCCF5416E}"/>
              </a:ext>
            </a:extLst>
          </p:cNvPr>
          <p:cNvSpPr>
            <a:spLocks noGrp="1"/>
          </p:cNvSpPr>
          <p:nvPr/>
        </p:nvSpPr>
        <p:spPr>
          <a:xfrm>
            <a:off x="3333750" y="3076575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用户、站点、电桩、充电和分时计价规则</a:t>
            </a:r>
          </a:p>
        </p:txBody>
      </p:sp>
      <p:sp>
        <p:nvSpPr>
          <p:cNvPr id="12" name="箭头: 右 11">
            <a:extLst>
              <a:ext uri="{FF2B5EF4-FFF2-40B4-BE49-F238E27FC236}">
                <a16:creationId xmlns:a16="http://schemas.microsoft.com/office/drawing/2014/main" id="{7D73B912-6B83-4867-B9A0-D8AA66FDBE98}"/>
              </a:ext>
            </a:extLst>
          </p:cNvPr>
          <p:cNvSpPr>
            <a:spLocks noGrp="1"/>
          </p:cNvSpPr>
          <p:nvPr/>
        </p:nvSpPr>
        <p:spPr>
          <a:xfrm rot="5400000">
            <a:off x="1695450" y="3690937"/>
            <a:ext cx="400050" cy="209550"/>
          </a:xfrm>
          <a:prstGeom prst="rightArrow">
            <a:avLst/>
          </a:prstGeom>
          <a:solidFill>
            <a:schemeClr val="bg1"/>
          </a:solidFill>
          <a:ln w="0">
            <a:solidFill>
              <a:srgbClr val="344249"/>
            </a:solidFill>
            <a:prstDash val="solid"/>
          </a:ln>
        </p:spPr>
      </p:sp>
      <p:sp>
        <p:nvSpPr>
          <p:cNvPr id="13" name="矩形: 圆角 12">
            <a:extLst>
              <a:ext uri="{FF2B5EF4-FFF2-40B4-BE49-F238E27FC236}">
                <a16:creationId xmlns:a16="http://schemas.microsoft.com/office/drawing/2014/main" id="{3C6D26AF-A10A-43B3-92C3-16DA57BD29AD}"/>
              </a:ext>
            </a:extLst>
          </p:cNvPr>
          <p:cNvSpPr>
            <a:spLocks noGrp="1"/>
          </p:cNvSpPr>
          <p:nvPr/>
        </p:nvSpPr>
        <p:spPr>
          <a:xfrm>
            <a:off x="762000" y="4000500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FFD166"/>
          </a:solidFill>
          <a:ln w="0">
            <a:solidFill>
              <a:srgbClr val="FFD166"/>
            </a:solidFill>
            <a:prstDash val="solid"/>
          </a:ln>
        </p:spPr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8B2CCF8-9867-49BC-B17C-4327B39F0C49}"/>
              </a:ext>
            </a:extLst>
          </p:cNvPr>
          <p:cNvSpPr>
            <a:spLocks noGrp="1"/>
          </p:cNvSpPr>
          <p:nvPr/>
        </p:nvSpPr>
        <p:spPr>
          <a:xfrm>
            <a:off x="762000" y="4181475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sz="1875" b="1" dirty="0">
                <a:solidFill>
                  <a:srgbClr val="10161B"/>
                </a:solidFill>
                <a:latin typeface="Arial"/>
                <a:ea typeface="Arial"/>
                <a:cs typeface="Arial"/>
              </a:rPr>
              <a:t>Repository</a:t>
            </a: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451E24BE-D5EB-4BFB-8534-211BDBB96DD2}"/>
              </a:ext>
            </a:extLst>
          </p:cNvPr>
          <p:cNvSpPr>
            <a:spLocks noGrp="1"/>
          </p:cNvSpPr>
          <p:nvPr/>
        </p:nvSpPr>
        <p:spPr>
          <a:xfrm>
            <a:off x="3333750" y="4171950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SQL </a:t>
            </a:r>
            <a:r>
              <a:rPr sz="15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查询</a:t>
            </a: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/ </a:t>
            </a:r>
            <a:r>
              <a:rPr sz="15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事务</a:t>
            </a:r>
            <a:r>
              <a:rPr sz="15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 / </a:t>
            </a:r>
            <a:r>
              <a:rPr sz="15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数据持久化</a:t>
            </a:r>
            <a:endParaRPr sz="15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6" name="矩形: 圆角 15">
            <a:extLst>
              <a:ext uri="{FF2B5EF4-FFF2-40B4-BE49-F238E27FC236}">
                <a16:creationId xmlns:a16="http://schemas.microsoft.com/office/drawing/2014/main" id="{956388BC-9E30-4ED3-8C9D-FBB197DC5F70}"/>
              </a:ext>
            </a:extLst>
          </p:cNvPr>
          <p:cNvSpPr>
            <a:spLocks noGrp="1"/>
          </p:cNvSpPr>
          <p:nvPr/>
        </p:nvSpPr>
        <p:spPr>
          <a:xfrm>
            <a:off x="8096250" y="1809750"/>
            <a:ext cx="3219450" cy="2857500"/>
          </a:xfrm>
          <a:prstGeom prst="roundRect">
            <a:avLst>
              <a:gd name="adj" fmla="val 4667"/>
            </a:avLst>
          </a:prstGeom>
          <a:solidFill>
            <a:srgbClr val="172129"/>
          </a:solidFill>
          <a:ln w="9525">
            <a:solidFill>
              <a:srgbClr val="344249"/>
            </a:solidFill>
            <a:prstDash val="solid"/>
          </a:ln>
        </p:spPr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CF2F3CC-D308-4530-9544-9DAD4089C9CB}"/>
              </a:ext>
            </a:extLst>
          </p:cNvPr>
          <p:cNvSpPr>
            <a:spLocks noGrp="1"/>
          </p:cNvSpPr>
          <p:nvPr/>
        </p:nvSpPr>
        <p:spPr>
          <a:xfrm>
            <a:off x="8401050" y="2095500"/>
            <a:ext cx="2286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75" b="1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FFD9C9"/>
                </a:solidFill>
                <a:latin typeface="Arial"/>
                <a:ea typeface="Arial"/>
                <a:cs typeface="Arial"/>
              </a:rPr>
              <a:t>核心约束</a:t>
            </a:r>
          </a:p>
        </p:txBody>
      </p:sp>
      <p:sp>
        <p:nvSpPr>
          <p:cNvPr id="18" name="椭圆 17">
            <a:extLst>
              <a:ext uri="{FF2B5EF4-FFF2-40B4-BE49-F238E27FC236}">
                <a16:creationId xmlns:a16="http://schemas.microsoft.com/office/drawing/2014/main" id="{B8F8CE0E-F531-4B89-974D-6BBAB14E9DF8}"/>
              </a:ext>
            </a:extLst>
          </p:cNvPr>
          <p:cNvSpPr>
            <a:spLocks noGrp="1"/>
          </p:cNvSpPr>
          <p:nvPr/>
        </p:nvSpPr>
        <p:spPr>
          <a:xfrm>
            <a:off x="8401050" y="28384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5530535F-116A-4359-9E0E-C0CBC1943DCC}"/>
              </a:ext>
            </a:extLst>
          </p:cNvPr>
          <p:cNvSpPr>
            <a:spLocks noGrp="1"/>
          </p:cNvSpPr>
          <p:nvPr/>
        </p:nvSpPr>
        <p:spPr>
          <a:xfrm>
            <a:off x="8629650" y="2762249"/>
            <a:ext cx="2343150" cy="4953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订单、余额、电桩状态保持一致</a:t>
            </a:r>
            <a:endParaRPr sz="135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椭圆 19">
            <a:extLst>
              <a:ext uri="{FF2B5EF4-FFF2-40B4-BE49-F238E27FC236}">
                <a16:creationId xmlns:a16="http://schemas.microsoft.com/office/drawing/2014/main" id="{3ED4BF30-1803-4804-BDF3-56C8EE0F6AA4}"/>
              </a:ext>
            </a:extLst>
          </p:cNvPr>
          <p:cNvSpPr>
            <a:spLocks noGrp="1"/>
          </p:cNvSpPr>
          <p:nvPr/>
        </p:nvSpPr>
        <p:spPr>
          <a:xfrm>
            <a:off x="8401050" y="3371850"/>
            <a:ext cx="85725" cy="85725"/>
          </a:xfrm>
          <a:prstGeom prst="ellipse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2C0DFBB-AF20-4BC1-9319-881E6BDD7454}"/>
              </a:ext>
            </a:extLst>
          </p:cNvPr>
          <p:cNvSpPr>
            <a:spLocks noGrp="1"/>
          </p:cNvSpPr>
          <p:nvPr/>
        </p:nvSpPr>
        <p:spPr>
          <a:xfrm>
            <a:off x="8629650" y="3295650"/>
            <a:ext cx="2343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写操作有权限校验与状态校验</a:t>
            </a:r>
            <a:endParaRPr sz="1350" b="0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椭圆 21">
            <a:extLst>
              <a:ext uri="{FF2B5EF4-FFF2-40B4-BE49-F238E27FC236}">
                <a16:creationId xmlns:a16="http://schemas.microsoft.com/office/drawing/2014/main" id="{04FA3BCB-5424-41FB-B4A8-E8D8FAB873AB}"/>
              </a:ext>
            </a:extLst>
          </p:cNvPr>
          <p:cNvSpPr>
            <a:spLocks noGrp="1"/>
          </p:cNvSpPr>
          <p:nvPr/>
        </p:nvSpPr>
        <p:spPr>
          <a:xfrm>
            <a:off x="8401050" y="3905250"/>
            <a:ext cx="85725" cy="85725"/>
          </a:xfrm>
          <a:prstGeom prst="ellipse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1089F47-85FB-4219-B4EB-71E09E6D2320}"/>
              </a:ext>
            </a:extLst>
          </p:cNvPr>
          <p:cNvSpPr>
            <a:spLocks noGrp="1"/>
          </p:cNvSpPr>
          <p:nvPr/>
        </p:nvSpPr>
        <p:spPr>
          <a:xfrm>
            <a:off x="8629650" y="3829050"/>
            <a:ext cx="2343150" cy="304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异常时返回统一错误信息</a:t>
            </a:r>
          </a:p>
        </p:txBody>
      </p:sp>
      <p:sp>
        <p:nvSpPr>
          <p:cNvPr id="24" name="矩形: 圆角 23">
            <a:extLst>
              <a:ext uri="{FF2B5EF4-FFF2-40B4-BE49-F238E27FC236}">
                <a16:creationId xmlns:a16="http://schemas.microsoft.com/office/drawing/2014/main" id="{5635AB3F-C909-4CE0-B2FF-44C7CB0ED2A5}"/>
              </a:ext>
            </a:extLst>
          </p:cNvPr>
          <p:cNvSpPr>
            <a:spLocks noGrp="1"/>
          </p:cNvSpPr>
          <p:nvPr/>
        </p:nvSpPr>
        <p:spPr>
          <a:xfrm>
            <a:off x="8096250" y="5048250"/>
            <a:ext cx="3219450" cy="571500"/>
          </a:xfrm>
          <a:prstGeom prst="roundRect">
            <a:avLst>
              <a:gd name="adj" fmla="val 20000"/>
            </a:avLst>
          </a:prstGeom>
          <a:solidFill>
            <a:srgbClr val="FF6B35"/>
          </a:solidFill>
          <a:ln w="9525">
            <a:solidFill>
              <a:srgbClr val="FF6B35"/>
            </a:solidFill>
            <a:prstDash val="solid"/>
          </a:ln>
        </p:spPr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9D67F2D-2756-4E85-9575-5C23A1956601}"/>
              </a:ext>
            </a:extLst>
          </p:cNvPr>
          <p:cNvSpPr>
            <a:spLocks noGrp="1"/>
          </p:cNvSpPr>
          <p:nvPr/>
        </p:nvSpPr>
        <p:spPr>
          <a:xfrm>
            <a:off x="8096250" y="5124457"/>
            <a:ext cx="3219450" cy="495293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r>
              <a:rPr lang="zh-CN" altLang="zh-CN" sz="1275" b="1" dirty="0">
                <a:solidFill>
                  <a:srgbClr val="10161B"/>
                </a:solidFill>
                <a:latin typeface="Arial"/>
                <a:cs typeface="Arial"/>
              </a:rPr>
              <a:t>C++</a:t>
            </a:r>
            <a:r>
              <a:rPr lang="en-US" altLang="zh-CN" sz="1275" b="1" dirty="0">
                <a:solidFill>
                  <a:srgbClr val="10161B"/>
                </a:solidFill>
                <a:latin typeface="Arial"/>
                <a:cs typeface="Arial"/>
              </a:rPr>
              <a:t>20</a:t>
            </a:r>
            <a:r>
              <a:rPr lang="zh-CN" altLang="zh-CN" sz="1275" b="1" dirty="0">
                <a:solidFill>
                  <a:srgbClr val="10161B"/>
                </a:solidFill>
                <a:latin typeface="Arial"/>
                <a:cs typeface="Arial"/>
              </a:rPr>
              <a:t> · Drogon · PostgreSQL · HTTP/JSON · WebSocket</a:t>
            </a:r>
          </a:p>
        </p:txBody>
      </p:sp>
      <p:sp>
        <p:nvSpPr>
          <p:cNvPr id="26" name="直接连接符 25">
            <a:extLst>
              <a:ext uri="{FF2B5EF4-FFF2-40B4-BE49-F238E27FC236}">
                <a16:creationId xmlns:a16="http://schemas.microsoft.com/office/drawing/2014/main" id="{A9FA4418-ED1A-4B10-A1D4-45F3F14DE51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CC832F8D-554B-41B7-A678-83CD5E478A94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B68E2EF4-1152-4C76-AD10-F5A1F56F83D3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  <p:sp>
        <p:nvSpPr>
          <p:cNvPr id="31" name="矩形: 圆角 30">
            <a:extLst>
              <a:ext uri="{FF2B5EF4-FFF2-40B4-BE49-F238E27FC236}">
                <a16:creationId xmlns:a16="http://schemas.microsoft.com/office/drawing/2014/main" id="{4824648E-677B-FAA2-0022-129907BAE4E0}"/>
              </a:ext>
            </a:extLst>
          </p:cNvPr>
          <p:cNvSpPr>
            <a:spLocks noGrp="1"/>
          </p:cNvSpPr>
          <p:nvPr/>
        </p:nvSpPr>
        <p:spPr>
          <a:xfrm>
            <a:off x="762000" y="5085778"/>
            <a:ext cx="2190750" cy="685800"/>
          </a:xfrm>
          <a:prstGeom prst="roundRect">
            <a:avLst>
              <a:gd name="adj" fmla="val 16667"/>
            </a:avLst>
          </a:prstGeom>
          <a:solidFill>
            <a:srgbClr val="8E7CFF"/>
          </a:solidFill>
          <a:ln w="0">
            <a:noFill/>
            <a:prstDash val="solid"/>
          </a:ln>
        </p:spPr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5D7AEDF-CFA1-EEEE-E9B7-4E9D5136CC4A}"/>
              </a:ext>
            </a:extLst>
          </p:cNvPr>
          <p:cNvSpPr>
            <a:spLocks noGrp="1"/>
          </p:cNvSpPr>
          <p:nvPr/>
        </p:nvSpPr>
        <p:spPr>
          <a:xfrm>
            <a:off x="800100" y="52578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75" b="1">
                <a:solidFill>
                  <a:srgbClr val="10161B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2000" dirty="0"/>
              <a:t>PostgreSQL</a:t>
            </a:r>
            <a:endParaRPr sz="1875" b="1" dirty="0">
              <a:solidFill>
                <a:srgbClr val="10161B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85C546E-7E09-7B0C-58B5-64C216467144}"/>
              </a:ext>
            </a:extLst>
          </p:cNvPr>
          <p:cNvSpPr>
            <a:spLocks noGrp="1"/>
          </p:cNvSpPr>
          <p:nvPr/>
        </p:nvSpPr>
        <p:spPr>
          <a:xfrm>
            <a:off x="3333750" y="5249037"/>
            <a:ext cx="41910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1500" b="1" dirty="0">
                <a:solidFill>
                  <a:srgbClr val="FFFFFF"/>
                </a:solidFill>
                <a:latin typeface="Arial"/>
                <a:cs typeface="Arial"/>
              </a:rPr>
              <a:t>统一保存业务数据</a:t>
            </a:r>
            <a:endParaRPr sz="1500" b="1" dirty="0">
              <a:solidFill>
                <a:srgbClr val="FFFFFF"/>
              </a:solidFill>
              <a:latin typeface="Arial"/>
              <a:cs typeface="Arial"/>
            </a:endParaRPr>
          </a:p>
        </p:txBody>
      </p:sp>
      <p:sp>
        <p:nvSpPr>
          <p:cNvPr id="37" name="箭头: 右 36">
            <a:extLst>
              <a:ext uri="{FF2B5EF4-FFF2-40B4-BE49-F238E27FC236}">
                <a16:creationId xmlns:a16="http://schemas.microsoft.com/office/drawing/2014/main" id="{81B74650-05E5-B9CE-B376-A3CF0821F897}"/>
              </a:ext>
            </a:extLst>
          </p:cNvPr>
          <p:cNvSpPr>
            <a:spLocks noGrp="1"/>
          </p:cNvSpPr>
          <p:nvPr/>
        </p:nvSpPr>
        <p:spPr>
          <a:xfrm rot="5400000">
            <a:off x="1695450" y="4786312"/>
            <a:ext cx="400050" cy="209550"/>
          </a:xfrm>
          <a:prstGeom prst="rightArrow">
            <a:avLst/>
          </a:prstGeom>
          <a:solidFill>
            <a:schemeClr val="bg1"/>
          </a:solidFill>
          <a:ln w="0">
            <a:solidFill>
              <a:srgbClr val="344249"/>
            </a:solidFill>
            <a:prstDash val="solid"/>
          </a:ln>
        </p:spPr>
      </p:sp>
    </p:spTree>
    <p:extLst>
      <p:ext uri="{BB962C8B-B14F-4D97-AF65-F5344CB8AC3E}">
        <p14:creationId xmlns:p14="http://schemas.microsoft.com/office/powerpoint/2010/main" val="14457390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矩形 25">
            <a:extLst>
              <a:ext uri="{FF2B5EF4-FFF2-40B4-BE49-F238E27FC236}">
                <a16:creationId xmlns:a16="http://schemas.microsoft.com/office/drawing/2014/main" id="{6D00C261-B324-45E3-9784-C3291173894F}"/>
              </a:ext>
            </a:extLst>
          </p:cNvPr>
          <p:cNvSpPr>
            <a:spLocks noGrp="1"/>
          </p:cNvSpPr>
          <p:nvPr/>
        </p:nvSpPr>
        <p:spPr>
          <a:xfrm>
            <a:off x="609600" y="361950"/>
            <a:ext cx="34290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75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VERDICT / TEAM</a:t>
            </a:r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F95C841-15C8-4E28-8B58-FCA38187FFCB}"/>
              </a:ext>
            </a:extLst>
          </p:cNvPr>
          <p:cNvSpPr>
            <a:spLocks noGrp="1"/>
          </p:cNvSpPr>
          <p:nvPr/>
        </p:nvSpPr>
        <p:spPr>
          <a:xfrm>
            <a:off x="609600" y="666750"/>
            <a:ext cx="91440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5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团队分工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31AF796-3C79-41F2-A52A-A9D7C2998660}"/>
              </a:ext>
            </a:extLst>
          </p:cNvPr>
          <p:cNvSpPr>
            <a:spLocks noGrp="1"/>
          </p:cNvSpPr>
          <p:nvPr/>
        </p:nvSpPr>
        <p:spPr>
          <a:xfrm>
            <a:off x="10953750" y="400050"/>
            <a:ext cx="59055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650" b="1">
                <a:solidFill>
                  <a:srgbClr val="00C2A8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00C2A8"/>
                </a:solidFill>
                <a:latin typeface="Arial"/>
                <a:ea typeface="Arial"/>
                <a:cs typeface="Arial"/>
              </a:rPr>
              <a:t>11</a:t>
            </a:r>
          </a:p>
        </p:txBody>
      </p:sp>
      <p:sp>
        <p:nvSpPr>
          <p:cNvPr id="4" name="直接连接符 3">
            <a:extLst>
              <a:ext uri="{FF2B5EF4-FFF2-40B4-BE49-F238E27FC236}">
                <a16:creationId xmlns:a16="http://schemas.microsoft.com/office/drawing/2014/main" id="{6E37BD7C-B22B-4D9C-A6B1-166C335DF34F}"/>
              </a:ext>
            </a:extLst>
          </p:cNvPr>
          <p:cNvSpPr>
            <a:spLocks noGrp="1"/>
          </p:cNvSpPr>
          <p:nvPr/>
        </p:nvSpPr>
        <p:spPr>
          <a:xfrm>
            <a:off x="609600" y="131445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9FF60F0-09F1-4F55-BDDD-479B77C85667}"/>
              </a:ext>
            </a:extLst>
          </p:cNvPr>
          <p:cNvSpPr>
            <a:spLocks noGrp="1"/>
          </p:cNvSpPr>
          <p:nvPr/>
        </p:nvSpPr>
        <p:spPr>
          <a:xfrm>
            <a:off x="609600" y="1562100"/>
            <a:ext cx="8572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725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lang="zh-CN" altLang="zh-CN" sz="1725" dirty="0">
                <a:solidFill>
                  <a:srgbClr val="FFD9C9"/>
                </a:solidFill>
                <a:latin typeface="Arial"/>
              </a:rPr>
              <a:t>使用 GitHub 统一管理代码、文档和版本</a:t>
            </a:r>
          </a:p>
          <a:p>
            <a:pPr algn="l">
              <a:defRPr sz="1725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endParaRPr sz="1725" b="0" dirty="0">
              <a:solidFill>
                <a:srgbClr val="FFD9C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DBE5EAC2-24FF-40A7-BA6F-36D2547DF1E8}"/>
              </a:ext>
            </a:extLst>
          </p:cNvPr>
          <p:cNvSpPr>
            <a:spLocks noGrp="1"/>
          </p:cNvSpPr>
          <p:nvPr/>
        </p:nvSpPr>
        <p:spPr>
          <a:xfrm>
            <a:off x="762000" y="2333625"/>
            <a:ext cx="76200" cy="4953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05798C39-83D1-4845-A97F-316650DE77F5}"/>
              </a:ext>
            </a:extLst>
          </p:cNvPr>
          <p:cNvSpPr>
            <a:spLocks noGrp="1"/>
          </p:cNvSpPr>
          <p:nvPr/>
        </p:nvSpPr>
        <p:spPr>
          <a:xfrm>
            <a:off x="1066800" y="24003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李奕萱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6502C17-664B-4E62-8A34-61692F6A80EC}"/>
              </a:ext>
            </a:extLst>
          </p:cNvPr>
          <p:cNvSpPr>
            <a:spLocks noGrp="1"/>
          </p:cNvSpPr>
          <p:nvPr/>
        </p:nvSpPr>
        <p:spPr>
          <a:xfrm>
            <a:off x="2857500" y="2415922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项目文档，管理端和客户端</a:t>
            </a:r>
            <a:r>
              <a:rPr lang="en-US" altLang="zh-CN" dirty="0" err="1">
                <a:solidFill>
                  <a:schemeClr val="bg1"/>
                </a:solidFill>
                <a:latin typeface="Arial"/>
                <a:ea typeface="Arial"/>
                <a:cs typeface="Arial"/>
              </a:rPr>
              <a:t>ui</a:t>
            </a:r>
            <a:r>
              <a:rPr lang="zh-CN" altLang="en-US" dirty="0">
                <a:solidFill>
                  <a:schemeClr val="bg1"/>
                </a:solidFill>
                <a:latin typeface="Arial"/>
                <a:ea typeface="Arial"/>
                <a:cs typeface="Arial"/>
              </a:rPr>
              <a:t>设计</a:t>
            </a:r>
            <a:endParaRPr dirty="0">
              <a:solidFill>
                <a:schemeClr val="bg1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CAC1ADA3-E6DB-416A-BF34-BAC06DEA5DE7}"/>
              </a:ext>
            </a:extLst>
          </p:cNvPr>
          <p:cNvSpPr>
            <a:spLocks noGrp="1"/>
          </p:cNvSpPr>
          <p:nvPr/>
        </p:nvSpPr>
        <p:spPr>
          <a:xfrm>
            <a:off x="762000" y="3019425"/>
            <a:ext cx="76200" cy="495300"/>
          </a:xfrm>
          <a:prstGeom prst="rect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BC75F9F-1E9D-4071-BFC2-3C642380DCE8}"/>
              </a:ext>
            </a:extLst>
          </p:cNvPr>
          <p:cNvSpPr>
            <a:spLocks noGrp="1"/>
          </p:cNvSpPr>
          <p:nvPr/>
        </p:nvSpPr>
        <p:spPr>
          <a:xfrm>
            <a:off x="1066800" y="30861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吴洵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770A45D-7C67-4161-A79B-98BD61472AB0}"/>
              </a:ext>
            </a:extLst>
          </p:cNvPr>
          <p:cNvSpPr>
            <a:spLocks noGrp="1"/>
          </p:cNvSpPr>
          <p:nvPr/>
        </p:nvSpPr>
        <p:spPr>
          <a:xfrm>
            <a:off x="2857500" y="30861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管理端功能和</a:t>
            </a:r>
            <a:r>
              <a:rPr lang="en-US" altLang="zh-CN" dirty="0">
                <a:solidFill>
                  <a:schemeClr val="bg1"/>
                </a:solidFill>
                <a:latin typeface="Arial"/>
                <a:cs typeface="Arial"/>
              </a:rPr>
              <a:t>UI</a:t>
            </a: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设计，客户端地图导航接入，文档绘图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CC04256-5814-4E84-A1E0-59866826AD81}"/>
              </a:ext>
            </a:extLst>
          </p:cNvPr>
          <p:cNvSpPr>
            <a:spLocks noGrp="1"/>
          </p:cNvSpPr>
          <p:nvPr/>
        </p:nvSpPr>
        <p:spPr>
          <a:xfrm>
            <a:off x="762000" y="3705225"/>
            <a:ext cx="76200" cy="495300"/>
          </a:xfrm>
          <a:prstGeom prst="rect">
            <a:avLst/>
          </a:prstGeom>
          <a:solidFill>
            <a:srgbClr val="FFD166"/>
          </a:solidFill>
          <a:ln w="0">
            <a:noFill/>
            <a:prstDash val="solid"/>
          </a:ln>
        </p:spPr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735D5A19-12AC-43BD-968A-E461A1197B6A}"/>
              </a:ext>
            </a:extLst>
          </p:cNvPr>
          <p:cNvSpPr>
            <a:spLocks noGrp="1"/>
          </p:cNvSpPr>
          <p:nvPr/>
        </p:nvSpPr>
        <p:spPr>
          <a:xfrm>
            <a:off x="1066800" y="37719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徐钲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4D35CED6-6328-4710-966D-7E1D2CFE63CF}"/>
              </a:ext>
            </a:extLst>
          </p:cNvPr>
          <p:cNvSpPr>
            <a:spLocks noGrp="1"/>
          </p:cNvSpPr>
          <p:nvPr/>
        </p:nvSpPr>
        <p:spPr>
          <a:xfrm>
            <a:off x="2857500" y="3771900"/>
            <a:ext cx="7048500" cy="523876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项目文档，客户端的用户账户（登录注册，头像昵称修改，钱包充值）；充电站查询；充电业务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2CB83372-7441-4A2B-B4C9-A5338641330E}"/>
              </a:ext>
            </a:extLst>
          </p:cNvPr>
          <p:cNvSpPr>
            <a:spLocks noGrp="1"/>
          </p:cNvSpPr>
          <p:nvPr/>
        </p:nvSpPr>
        <p:spPr>
          <a:xfrm>
            <a:off x="762000" y="4391025"/>
            <a:ext cx="76200" cy="495300"/>
          </a:xfrm>
          <a:prstGeom prst="rect">
            <a:avLst/>
          </a:prstGeom>
          <a:solidFill>
            <a:srgbClr val="8E7CFF"/>
          </a:solidFill>
          <a:ln w="0">
            <a:noFill/>
            <a:prstDash val="solid"/>
          </a:ln>
        </p:spPr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B2656D73-DB37-4F8A-A197-BF56284C3AE6}"/>
              </a:ext>
            </a:extLst>
          </p:cNvPr>
          <p:cNvSpPr>
            <a:spLocks noGrp="1"/>
          </p:cNvSpPr>
          <p:nvPr/>
        </p:nvSpPr>
        <p:spPr>
          <a:xfrm>
            <a:off x="1066800" y="44577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姚雨森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8F1AACBB-E09B-4CB1-B239-D5BBFB389E8D}"/>
              </a:ext>
            </a:extLst>
          </p:cNvPr>
          <p:cNvSpPr>
            <a:spLocks noGrp="1"/>
          </p:cNvSpPr>
          <p:nvPr/>
        </p:nvSpPr>
        <p:spPr>
          <a:xfrm>
            <a:off x="2857500" y="44577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后端技术选型和开发，客户端充电业务完善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BDE91F8B-39FF-4044-89B7-5CBDB80C782E}"/>
              </a:ext>
            </a:extLst>
          </p:cNvPr>
          <p:cNvSpPr>
            <a:spLocks noGrp="1"/>
          </p:cNvSpPr>
          <p:nvPr/>
        </p:nvSpPr>
        <p:spPr>
          <a:xfrm>
            <a:off x="762000" y="5076825"/>
            <a:ext cx="76200" cy="495300"/>
          </a:xfrm>
          <a:prstGeom prst="rect">
            <a:avLst/>
          </a:prstGeom>
          <a:solidFill>
            <a:srgbClr val="FF6B35"/>
          </a:solidFill>
          <a:ln w="0">
            <a:noFill/>
            <a:prstDash val="solid"/>
          </a:ln>
        </p:spPr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F442898-D88C-4EF0-8A48-B51FD8F07C71}"/>
              </a:ext>
            </a:extLst>
          </p:cNvPr>
          <p:cNvSpPr>
            <a:spLocks noGrp="1"/>
          </p:cNvSpPr>
          <p:nvPr/>
        </p:nvSpPr>
        <p:spPr>
          <a:xfrm>
            <a:off x="1066800" y="514350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000" b="1" dirty="0" err="1">
                <a:solidFill>
                  <a:srgbClr val="FFFFFF"/>
                </a:solidFill>
                <a:latin typeface="Arial"/>
                <a:ea typeface="Arial"/>
                <a:cs typeface="Arial"/>
              </a:rPr>
              <a:t>曾梓木</a:t>
            </a:r>
            <a:endParaRPr sz="20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D3FEF7E5-A939-4ABF-AA80-5175F3983883}"/>
              </a:ext>
            </a:extLst>
          </p:cNvPr>
          <p:cNvSpPr>
            <a:spLocks noGrp="1"/>
          </p:cNvSpPr>
          <p:nvPr/>
        </p:nvSpPr>
        <p:spPr>
          <a:xfrm>
            <a:off x="2857500" y="5143500"/>
            <a:ext cx="70485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>
              <a:defRPr sz="1425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lang="zh-CN" altLang="en-US" dirty="0">
                <a:solidFill>
                  <a:schemeClr val="bg1"/>
                </a:solidFill>
                <a:latin typeface="Arial"/>
                <a:cs typeface="Arial"/>
              </a:rPr>
              <a:t>后端，管理端充电桩管理优化和充电站地址</a:t>
            </a:r>
            <a:endParaRPr dirty="0">
              <a:solidFill>
                <a:schemeClr val="bg1"/>
              </a:solidFill>
              <a:latin typeface="Arial"/>
              <a:cs typeface="Arial"/>
            </a:endParaRPr>
          </a:p>
        </p:txBody>
      </p:sp>
      <p:sp>
        <p:nvSpPr>
          <p:cNvPr id="23" name="直接连接符 22">
            <a:extLst>
              <a:ext uri="{FF2B5EF4-FFF2-40B4-BE49-F238E27FC236}">
                <a16:creationId xmlns:a16="http://schemas.microsoft.com/office/drawing/2014/main" id="{FF83D1F7-1A32-47B6-8703-AD0A85DEB187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955E14C8-4C30-4FD0-9149-3CCABE0FC380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 dirty="0" err="1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  <a:endParaRPr sz="900" b="0" dirty="0">
              <a:solidFill>
                <a:srgbClr val="AEB9B8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0568D8C-5BFA-4E3C-979E-F21F8C9B72DF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118509547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10161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12">
            <a:extLst>
              <a:ext uri="{FF2B5EF4-FFF2-40B4-BE49-F238E27FC236}">
                <a16:creationId xmlns:a16="http://schemas.microsoft.com/office/drawing/2014/main" id="{BB900E4E-0C1F-4353-AE24-3ED9C5A81BC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114300"/>
          </a:xfrm>
          <a:prstGeom prst="rect">
            <a:avLst/>
          </a:prstGeom>
          <a:solidFill>
            <a:srgbClr val="00C2A8"/>
          </a:solidFill>
          <a:ln w="0">
            <a:noFill/>
            <a:prstDash val="solid"/>
          </a:ln>
        </p:spPr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2D3D9D0-EFE1-4E2E-B5F0-DE22FBCFD721}"/>
              </a:ext>
            </a:extLst>
          </p:cNvPr>
          <p:cNvSpPr>
            <a:spLocks noGrp="1"/>
          </p:cNvSpPr>
          <p:nvPr/>
        </p:nvSpPr>
        <p:spPr>
          <a:xfrm>
            <a:off x="742950" y="952500"/>
            <a:ext cx="38100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1">
                <a:solidFill>
                  <a:srgbClr val="FF6B35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6B35"/>
                </a:solidFill>
                <a:latin typeface="Arial"/>
                <a:ea typeface="Arial"/>
                <a:cs typeface="Arial"/>
              </a:rPr>
              <a:t>GALE / VERDICT</a:t>
            </a: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0A68BA92-03BF-4F5C-A508-6ED15625BA2F}"/>
              </a:ext>
            </a:extLst>
          </p:cNvPr>
          <p:cNvSpPr>
            <a:spLocks noGrp="1"/>
          </p:cNvSpPr>
          <p:nvPr/>
        </p:nvSpPr>
        <p:spPr>
          <a:xfrm>
            <a:off x="742950" y="2419345"/>
            <a:ext cx="5905500" cy="102869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8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zh-CN" altLang="en-US" sz="480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谢谢大家</a:t>
            </a:r>
            <a:endParaRPr sz="4800" b="1" dirty="0">
              <a:solidFill>
                <a:srgbClr val="FFFF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9C7DD38E-AE46-4F62-91F6-032AFCD6C960}"/>
              </a:ext>
            </a:extLst>
          </p:cNvPr>
          <p:cNvSpPr>
            <a:spLocks noGrp="1"/>
          </p:cNvSpPr>
          <p:nvPr/>
        </p:nvSpPr>
        <p:spPr>
          <a:xfrm>
            <a:off x="781050" y="3733800"/>
            <a:ext cx="5524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800" b="0">
                <a:solidFill>
                  <a:srgbClr val="FFD9C9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FFD9C9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5" name="直接连接符 4">
            <a:extLst>
              <a:ext uri="{FF2B5EF4-FFF2-40B4-BE49-F238E27FC236}">
                <a16:creationId xmlns:a16="http://schemas.microsoft.com/office/drawing/2014/main" id="{402363D5-3BE3-4086-9669-06C94F41B806}"/>
              </a:ext>
            </a:extLst>
          </p:cNvPr>
          <p:cNvSpPr>
            <a:spLocks noGrp="1"/>
          </p:cNvSpPr>
          <p:nvPr/>
        </p:nvSpPr>
        <p:spPr>
          <a:xfrm>
            <a:off x="781050" y="4476750"/>
            <a:ext cx="2381250" cy="0"/>
          </a:xfrm>
          <a:prstGeom prst="line">
            <a:avLst/>
          </a:prstGeom>
          <a:noFill/>
          <a:ln w="38100">
            <a:solidFill>
              <a:srgbClr val="FF6B35"/>
            </a:solidFill>
            <a:prstDash val="solid"/>
          </a:ln>
        </p:spPr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C56B3C74-1619-4B19-B7AB-FEFB4DC8E570}"/>
              </a:ext>
            </a:extLst>
          </p:cNvPr>
          <p:cNvSpPr>
            <a:spLocks noGrp="1"/>
          </p:cNvSpPr>
          <p:nvPr/>
        </p:nvSpPr>
        <p:spPr>
          <a:xfrm>
            <a:off x="781050" y="4905375"/>
            <a:ext cx="4000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35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  ·  2026.09.10</a:t>
            </a:r>
          </a:p>
        </p:txBody>
      </p:sp>
      <p:sp>
        <p:nvSpPr>
          <p:cNvPr id="10" name="直接连接符 9">
            <a:extLst>
              <a:ext uri="{FF2B5EF4-FFF2-40B4-BE49-F238E27FC236}">
                <a16:creationId xmlns:a16="http://schemas.microsoft.com/office/drawing/2014/main" id="{90D58CC1-4BE8-45D5-95D8-1E8A9A9AE2FC}"/>
              </a:ext>
            </a:extLst>
          </p:cNvPr>
          <p:cNvSpPr>
            <a:spLocks noGrp="1"/>
          </p:cNvSpPr>
          <p:nvPr/>
        </p:nvSpPr>
        <p:spPr>
          <a:xfrm>
            <a:off x="609600" y="6438900"/>
            <a:ext cx="10972800" cy="0"/>
          </a:xfrm>
          <a:prstGeom prst="line">
            <a:avLst/>
          </a:prstGeom>
          <a:noFill/>
          <a:ln w="9525">
            <a:solidFill>
              <a:srgbClr val="344249"/>
            </a:solidFill>
            <a:prstDash val="solid"/>
          </a:ln>
        </p:spPr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9D2717A-9B94-4D85-9A24-BEB2EA8C7F2C}"/>
              </a:ext>
            </a:extLst>
          </p:cNvPr>
          <p:cNvSpPr>
            <a:spLocks noGrp="1"/>
          </p:cNvSpPr>
          <p:nvPr/>
        </p:nvSpPr>
        <p:spPr>
          <a:xfrm>
            <a:off x="609600" y="6534150"/>
            <a:ext cx="45720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电动汽车充电运营管理平台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9BFF8C56-B8D1-4561-9F35-F0B10D620821}"/>
              </a:ext>
            </a:extLst>
          </p:cNvPr>
          <p:cNvSpPr>
            <a:spLocks noGrp="1"/>
          </p:cNvSpPr>
          <p:nvPr/>
        </p:nvSpPr>
        <p:spPr>
          <a:xfrm>
            <a:off x="10287000" y="6534150"/>
            <a:ext cx="1295400" cy="171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900" b="0">
                <a:solidFill>
                  <a:srgbClr val="AEB9B8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AEB9B8"/>
                </a:solidFill>
                <a:latin typeface="Arial"/>
                <a:ea typeface="Arial"/>
                <a:cs typeface="Arial"/>
              </a:rPr>
              <a:t>第四组</a:t>
            </a:r>
          </a:p>
        </p:txBody>
      </p:sp>
    </p:spTree>
    <p:extLst>
      <p:ext uri="{BB962C8B-B14F-4D97-AF65-F5344CB8AC3E}">
        <p14:creationId xmlns:p14="http://schemas.microsoft.com/office/powerpoint/2010/main" val="689201357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53</TotalTime>
  <Words>711</Words>
  <Application>Microsoft Office PowerPoint</Application>
  <DocSecurity>0</DocSecurity>
  <PresentationFormat>宽屏</PresentationFormat>
  <Paragraphs>145</Paragraphs>
  <Slides>11</Slides>
  <Notes>11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11</vt:i4>
      </vt:variant>
    </vt:vector>
  </HeadingPairs>
  <TitlesOfParts>
    <vt:vector size="14" baseType="lpstr">
      <vt:lpstr>Arial</vt:lpstr>
      <vt:lpstr>Calibri</vt:lpstr>
      <vt:lpstr>ChatGPT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wx06241820@163.com</cp:lastModifiedBy>
  <cp:revision>7</cp:revision>
  <dcterms:created xsi:type="dcterms:W3CDTF">2026-09-10T02:22:46Z</dcterms:created>
  <dcterms:modified xsi:type="dcterms:W3CDTF">2026-09-10T04:01:06Z</dcterms:modified>
</cp:coreProperties>
</file>