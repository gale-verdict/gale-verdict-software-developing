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6" r:id="rId5"/>
    <p:sldId id="260" r:id="rId6"/>
    <p:sldId id="261" r:id="rId7"/>
    <p:sldId id="262" r:id="rId8"/>
    <p:sldId id="263" r:id="rId9"/>
    <p:sldId id="268" r:id="rId10"/>
    <p:sldId id="269" r:id="rId11"/>
    <p:sldId id="264" r:id="rId12"/>
    <p:sldId id="270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7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8F3DA-E556-B9B2-8381-B26D6BBB2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2A066-1A3F-1F5C-889A-5066B92E3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C58E7-3FE6-EFC6-FD37-9D0C682F1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2644E-C1C4-D14B-DA2D-88E357DE770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9966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B9772-232F-2A7D-FE84-D796BD948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0D694-6319-3E33-4827-CDEB7FB1E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0ECD76-E82B-D5A3-DEDD-336402906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70C78-6ED9-5115-D08A-B5CA12F585D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2417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答辩提示：本项目中较耗时的部分是统一开发环境和多人联调。我们通过固定依赖版本、维护 API 文档、按 Model、Service、Page 分层并采用小步提交，逐步减少重复排查和合并返工。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30106B75-8F23-4600-84C8-4355DEE51C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3157BE-6CFF-4B6D-8E7E-6DF80799C99A}"/>
              </a:ext>
            </a:extLst>
          </p:cNvPr>
          <p:cNvSpPr>
            <a:spLocks noGrp="1"/>
          </p:cNvSpPr>
          <p:nvPr/>
        </p:nvSpPr>
        <p:spPr>
          <a:xfrm>
            <a:off x="609600" y="1459611"/>
            <a:ext cx="4495800" cy="4648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0C2A8"/>
                </a:solidFill>
                <a:latin typeface="Arial"/>
                <a:ea typeface="Arial"/>
                <a:cs typeface="Arial"/>
              </a:rPr>
              <a:t>GALE / VERDICT</a:t>
            </a:r>
            <a:r>
              <a:rPr lang="en-US" sz="2400" b="1" dirty="0">
                <a:solidFill>
                  <a:srgbClr val="00C2A8"/>
                </a:solidFill>
                <a:latin typeface="Arial"/>
                <a:ea typeface="Arial"/>
                <a:cs typeface="Arial"/>
              </a:rPr>
              <a:t>  </a:t>
            </a:r>
            <a:r>
              <a:rPr lang="zh-CN" altLang="en-US" sz="2400" b="1" dirty="0">
                <a:solidFill>
                  <a:srgbClr val="00C2A8"/>
                </a:solidFill>
                <a:latin typeface="Arial"/>
                <a:ea typeface="Arial"/>
                <a:cs typeface="Arial"/>
              </a:rPr>
              <a:t>烈风裁决</a:t>
            </a:r>
            <a:endParaRPr sz="2400" b="1" dirty="0">
              <a:solidFill>
                <a:srgbClr val="00C2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4C23EB-1539-48AC-A79D-D44CBFDF4D9F}"/>
              </a:ext>
            </a:extLst>
          </p:cNvPr>
          <p:cNvSpPr>
            <a:spLocks noGrp="1"/>
          </p:cNvSpPr>
          <p:nvPr/>
        </p:nvSpPr>
        <p:spPr>
          <a:xfrm>
            <a:off x="609600" y="1975486"/>
            <a:ext cx="6495288" cy="8195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电动汽车充运营管理平台</a:t>
            </a:r>
            <a:endParaRPr sz="43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56631C03-AFB6-408A-A656-36E1838EBD24}"/>
              </a:ext>
            </a:extLst>
          </p:cNvPr>
          <p:cNvSpPr>
            <a:spLocks noGrp="1"/>
          </p:cNvSpPr>
          <p:nvPr/>
        </p:nvSpPr>
        <p:spPr>
          <a:xfrm>
            <a:off x="705231" y="2890266"/>
            <a:ext cx="219075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11D305-B2BD-4088-998A-30ADC86A5F20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5519928" cy="285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2000" b="0" dirty="0" err="1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  <a:r>
              <a:rPr lang="en-US" sz="2000" b="0" dirty="0">
                <a:solidFill>
                  <a:srgbClr val="AEB9B8"/>
                </a:solidFill>
                <a:latin typeface="Arial"/>
                <a:ea typeface="Arial"/>
                <a:cs typeface="Arial"/>
              </a:rPr>
              <a:t>  </a:t>
            </a:r>
            <a:r>
              <a:rPr lang="zh-CN" altLang="en-US" sz="2000" b="0" dirty="0">
                <a:solidFill>
                  <a:srgbClr val="AEB9B8"/>
                </a:solidFill>
                <a:latin typeface="Arial"/>
                <a:ea typeface="Arial"/>
                <a:cs typeface="Arial"/>
              </a:rPr>
              <a:t>李奕萱 吴洵 徐钲 姚雨森 曾梓木</a:t>
            </a:r>
            <a:endParaRPr sz="2000" b="0" dirty="0">
              <a:solidFill>
                <a:srgbClr val="AEB9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D7420B-EB6C-4FC8-953B-DAEC2029B7D7}"/>
              </a:ext>
            </a:extLst>
          </p:cNvPr>
          <p:cNvSpPr>
            <a:spLocks noGrp="1"/>
          </p:cNvSpPr>
          <p:nvPr/>
        </p:nvSpPr>
        <p:spPr>
          <a:xfrm>
            <a:off x="705231" y="4611624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AEB9B8"/>
                </a:solidFill>
                <a:latin typeface="Arial"/>
                <a:ea typeface="Arial"/>
                <a:cs typeface="Arial"/>
              </a:rPr>
              <a:t>2026.09.10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F103FEB4-6EDB-464A-9E8B-8E8A7B6AF0F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ADF11E-18C8-4029-A03B-49BFFF5BAC62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AE5F4E0-7AE9-43EA-B940-F8C66B392E7D}"/>
              </a:ext>
            </a:extLst>
          </p:cNvPr>
          <p:cNvSpPr>
            <a:spLocks noGrp="1"/>
          </p:cNvSpPr>
          <p:nvPr/>
        </p:nvSpPr>
        <p:spPr>
          <a:xfrm>
            <a:off x="10287000" y="65341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2001145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7DFCECA2-346C-4641-9880-F1D403C6F0A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2026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2DDFDD-3CA2-41C9-9E58-BB5275C9A488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14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项目目标与需求分析</a:t>
            </a:r>
            <a:endParaRPr sz="25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9E70A5-AF33-46B1-989A-1F81893736C2}"/>
              </a:ext>
            </a:extLst>
          </p:cNvPr>
          <p:cNvSpPr>
            <a:spLocks noGrp="1"/>
          </p:cNvSpPr>
          <p:nvPr/>
        </p:nvSpPr>
        <p:spPr>
          <a:xfrm>
            <a:off x="10953750" y="400050"/>
            <a:ext cx="590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C4F9A5AE-E5D9-4A6B-88A1-3ED2938B5D04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26EC7F1-EA40-4B09-956F-C76679BF68A6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3314700" cy="2952750"/>
          </a:xfrm>
          <a:prstGeom prst="roundRect">
            <a:avLst>
              <a:gd name="adj" fmla="val 4516"/>
            </a:avLst>
          </a:prstGeom>
          <a:solidFill>
            <a:srgbClr val="172129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97528B-C537-432F-AA2E-15D384D308F6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331470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35B193-F214-407F-BEA9-6A8BDEDB60FB}"/>
              </a:ext>
            </a:extLst>
          </p:cNvPr>
          <p:cNvSpPr>
            <a:spLocks noGrp="1"/>
          </p:cNvSpPr>
          <p:nvPr/>
        </p:nvSpPr>
        <p:spPr>
          <a:xfrm>
            <a:off x="876300" y="27622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DAAEE57-B65D-4FDE-A227-6A1C5D396227}"/>
              </a:ext>
            </a:extLst>
          </p:cNvPr>
          <p:cNvSpPr>
            <a:spLocks noGrp="1"/>
          </p:cNvSpPr>
          <p:nvPr/>
        </p:nvSpPr>
        <p:spPr>
          <a:xfrm>
            <a:off x="895350" y="3600450"/>
            <a:ext cx="85725" cy="85725"/>
          </a:xfrm>
          <a:prstGeom prst="ellipse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FF9783-B1CC-4A66-8D8B-ED5D88DF1EC0}"/>
              </a:ext>
            </a:extLst>
          </p:cNvPr>
          <p:cNvSpPr>
            <a:spLocks noGrp="1"/>
          </p:cNvSpPr>
          <p:nvPr/>
        </p:nvSpPr>
        <p:spPr>
          <a:xfrm>
            <a:off x="1123950" y="352425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找到附近充电站</a:t>
            </a:r>
            <a:endParaRPr sz="1425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0A3FC8-1A13-466F-8F0F-0E5B483CA570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85725" cy="85725"/>
          </a:xfrm>
          <a:prstGeom prst="ellipse">
            <a:avLst/>
          </a:prstGeom>
          <a:solidFill>
            <a:srgbClr val="00C2A8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39BC1A-4AC4-4B7A-900E-1E220B1B11DC}"/>
              </a:ext>
            </a:extLst>
          </p:cNvPr>
          <p:cNvSpPr>
            <a:spLocks noGrp="1"/>
          </p:cNvSpPr>
          <p:nvPr/>
        </p:nvSpPr>
        <p:spPr>
          <a:xfrm>
            <a:off x="1123950" y="400050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查看空闲电桩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84760CD-9063-4742-B40D-667BF2A91694}"/>
              </a:ext>
            </a:extLst>
          </p:cNvPr>
          <p:cNvSpPr>
            <a:spLocks noGrp="1"/>
          </p:cNvSpPr>
          <p:nvPr/>
        </p:nvSpPr>
        <p:spPr>
          <a:xfrm>
            <a:off x="895350" y="4552950"/>
            <a:ext cx="85725" cy="85725"/>
          </a:xfrm>
          <a:prstGeom prst="ellipse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8D9014-35F8-4A1E-9CAE-D436FFB68703}"/>
              </a:ext>
            </a:extLst>
          </p:cNvPr>
          <p:cNvSpPr>
            <a:spLocks noGrp="1"/>
          </p:cNvSpPr>
          <p:nvPr/>
        </p:nvSpPr>
        <p:spPr>
          <a:xfrm>
            <a:off x="1123950" y="447675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导航、充电、结算、查单</a:t>
            </a:r>
            <a:endParaRPr sz="1425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60122C0-DE78-4819-A2FD-B2818B681DA4}"/>
              </a:ext>
            </a:extLst>
          </p:cNvPr>
          <p:cNvSpPr>
            <a:spLocks noGrp="1"/>
          </p:cNvSpPr>
          <p:nvPr/>
        </p:nvSpPr>
        <p:spPr>
          <a:xfrm>
            <a:off x="4248150" y="2381250"/>
            <a:ext cx="3314700" cy="2952750"/>
          </a:xfrm>
          <a:prstGeom prst="roundRect">
            <a:avLst>
              <a:gd name="adj" fmla="val 4516"/>
            </a:avLst>
          </a:prstGeom>
          <a:solidFill>
            <a:srgbClr val="172129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A63938-3152-427A-8B25-31D2D2E7891E}"/>
              </a:ext>
            </a:extLst>
          </p:cNvPr>
          <p:cNvSpPr>
            <a:spLocks noGrp="1"/>
          </p:cNvSpPr>
          <p:nvPr/>
        </p:nvSpPr>
        <p:spPr>
          <a:xfrm>
            <a:off x="4248150" y="2381250"/>
            <a:ext cx="3314700" cy="76200"/>
          </a:xfrm>
          <a:prstGeom prst="rect">
            <a:avLst/>
          </a:prstGeom>
          <a:solidFill>
            <a:srgbClr val="00C2A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B4D7A9-E043-418E-857E-F32529408122}"/>
              </a:ext>
            </a:extLst>
          </p:cNvPr>
          <p:cNvSpPr>
            <a:spLocks noGrp="1"/>
          </p:cNvSpPr>
          <p:nvPr/>
        </p:nvSpPr>
        <p:spPr>
          <a:xfrm>
            <a:off x="4514850" y="27622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运营人员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5E6F2B4-2205-4BE4-A086-73FF3DD3244C}"/>
              </a:ext>
            </a:extLst>
          </p:cNvPr>
          <p:cNvSpPr>
            <a:spLocks noGrp="1"/>
          </p:cNvSpPr>
          <p:nvPr/>
        </p:nvSpPr>
        <p:spPr>
          <a:xfrm>
            <a:off x="4533900" y="3600450"/>
            <a:ext cx="85725" cy="85725"/>
          </a:xfrm>
          <a:prstGeom prst="ellipse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4C4BAD-36F3-4858-8B14-7F8012E91420}"/>
              </a:ext>
            </a:extLst>
          </p:cNvPr>
          <p:cNvSpPr>
            <a:spLocks noGrp="1"/>
          </p:cNvSpPr>
          <p:nvPr/>
        </p:nvSpPr>
        <p:spPr>
          <a:xfrm>
            <a:off x="4762500" y="352425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查看营收与设备状态</a:t>
            </a:r>
            <a:endParaRPr sz="1425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AABAA72-766F-49E6-BD8E-87920BB0BC6B}"/>
              </a:ext>
            </a:extLst>
          </p:cNvPr>
          <p:cNvSpPr>
            <a:spLocks noGrp="1"/>
          </p:cNvSpPr>
          <p:nvPr/>
        </p:nvSpPr>
        <p:spPr>
          <a:xfrm>
            <a:off x="4533900" y="4076700"/>
            <a:ext cx="85725" cy="85725"/>
          </a:xfrm>
          <a:prstGeom prst="ellipse">
            <a:avLst/>
          </a:prstGeom>
          <a:solidFill>
            <a:srgbClr val="00C2A8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6EA862-00FC-4241-B332-62E2A356C47C}"/>
              </a:ext>
            </a:extLst>
          </p:cNvPr>
          <p:cNvSpPr>
            <a:spLocks noGrp="1"/>
          </p:cNvSpPr>
          <p:nvPr/>
        </p:nvSpPr>
        <p:spPr>
          <a:xfrm>
            <a:off x="4762500" y="400050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42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</a:t>
            </a:r>
            <a:r>
              <a:rPr sz="142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电站、电桩与用户</a:t>
            </a:r>
            <a:endParaRPr sz="1425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A790A95-3BE4-492D-990C-67A6FA782D92}"/>
              </a:ext>
            </a:extLst>
          </p:cNvPr>
          <p:cNvSpPr>
            <a:spLocks noGrp="1"/>
          </p:cNvSpPr>
          <p:nvPr/>
        </p:nvSpPr>
        <p:spPr>
          <a:xfrm>
            <a:off x="4533900" y="4552950"/>
            <a:ext cx="85725" cy="85725"/>
          </a:xfrm>
          <a:prstGeom prst="ellipse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7C16450-59AA-4BF5-A612-7D3D6743645E}"/>
              </a:ext>
            </a:extLst>
          </p:cNvPr>
          <p:cNvSpPr>
            <a:spLocks noGrp="1"/>
          </p:cNvSpPr>
          <p:nvPr/>
        </p:nvSpPr>
        <p:spPr>
          <a:xfrm>
            <a:off x="4762500" y="447675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处理故障与远程重启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4C80347-C6AA-4F26-9DDA-004AD845CDEC}"/>
              </a:ext>
            </a:extLst>
          </p:cNvPr>
          <p:cNvSpPr>
            <a:spLocks noGrp="1"/>
          </p:cNvSpPr>
          <p:nvPr/>
        </p:nvSpPr>
        <p:spPr>
          <a:xfrm>
            <a:off x="7886700" y="2381250"/>
            <a:ext cx="3314700" cy="2952750"/>
          </a:xfrm>
          <a:prstGeom prst="roundRect">
            <a:avLst>
              <a:gd name="adj" fmla="val 4516"/>
            </a:avLst>
          </a:prstGeom>
          <a:solidFill>
            <a:srgbClr val="172129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4D614C7-F48A-4019-9F15-A6BDA52CFFB8}"/>
              </a:ext>
            </a:extLst>
          </p:cNvPr>
          <p:cNvSpPr>
            <a:spLocks noGrp="1"/>
          </p:cNvSpPr>
          <p:nvPr/>
        </p:nvSpPr>
        <p:spPr>
          <a:xfrm>
            <a:off x="7886700" y="2381250"/>
            <a:ext cx="3314700" cy="76200"/>
          </a:xfrm>
          <a:prstGeom prst="rect">
            <a:avLst/>
          </a:prstGeom>
          <a:solidFill>
            <a:srgbClr val="FFD166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44829EB-7726-4E35-8743-0FD152AC227F}"/>
              </a:ext>
            </a:extLst>
          </p:cNvPr>
          <p:cNvSpPr>
            <a:spLocks noGrp="1"/>
          </p:cNvSpPr>
          <p:nvPr/>
        </p:nvSpPr>
        <p:spPr>
          <a:xfrm>
            <a:off x="8153400" y="27622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平台服务</a:t>
            </a:r>
            <a:endParaRPr sz="21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1971AD3-1FA7-4279-B838-73398F32E244}"/>
              </a:ext>
            </a:extLst>
          </p:cNvPr>
          <p:cNvSpPr>
            <a:spLocks noGrp="1"/>
          </p:cNvSpPr>
          <p:nvPr/>
        </p:nvSpPr>
        <p:spPr>
          <a:xfrm>
            <a:off x="8172450" y="3600450"/>
            <a:ext cx="85725" cy="85725"/>
          </a:xfrm>
          <a:prstGeom prst="ellipse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A45F30E-BA6D-414A-A0CD-2B480C8DEAE8}"/>
              </a:ext>
            </a:extLst>
          </p:cNvPr>
          <p:cNvSpPr>
            <a:spLocks noGrp="1"/>
          </p:cNvSpPr>
          <p:nvPr/>
        </p:nvSpPr>
        <p:spPr>
          <a:xfrm>
            <a:off x="8401050" y="352425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统一认证和权限</a:t>
            </a:r>
            <a:endParaRPr sz="1425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DB2E0892-3ABC-46CE-882C-9E11B44FBF32}"/>
              </a:ext>
            </a:extLst>
          </p:cNvPr>
          <p:cNvSpPr>
            <a:spLocks noGrp="1"/>
          </p:cNvSpPr>
          <p:nvPr/>
        </p:nvSpPr>
        <p:spPr>
          <a:xfrm>
            <a:off x="8172450" y="4076700"/>
            <a:ext cx="85725" cy="85725"/>
          </a:xfrm>
          <a:prstGeom prst="ellipse">
            <a:avLst/>
          </a:prstGeom>
          <a:solidFill>
            <a:srgbClr val="00C2A8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02FEEE2-BF50-4E89-AB39-0350DA6EB441}"/>
              </a:ext>
            </a:extLst>
          </p:cNvPr>
          <p:cNvSpPr>
            <a:spLocks noGrp="1"/>
          </p:cNvSpPr>
          <p:nvPr/>
        </p:nvSpPr>
        <p:spPr>
          <a:xfrm>
            <a:off x="8401050" y="400050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实时充电会话与分时计价</a:t>
            </a:r>
            <a:endParaRPr sz="1425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4B35094-0922-4CDE-B581-275C8AB8BD06}"/>
              </a:ext>
            </a:extLst>
          </p:cNvPr>
          <p:cNvSpPr>
            <a:spLocks noGrp="1"/>
          </p:cNvSpPr>
          <p:nvPr/>
        </p:nvSpPr>
        <p:spPr>
          <a:xfrm>
            <a:off x="8172450" y="4552950"/>
            <a:ext cx="85725" cy="85725"/>
          </a:xfrm>
          <a:prstGeom prst="ellipse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7168BDA-EE9D-450B-A35D-183358C85512}"/>
              </a:ext>
            </a:extLst>
          </p:cNvPr>
          <p:cNvSpPr>
            <a:spLocks noGrp="1"/>
          </p:cNvSpPr>
          <p:nvPr/>
        </p:nvSpPr>
        <p:spPr>
          <a:xfrm>
            <a:off x="8401050" y="447675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保证订单、余额、设备一致</a:t>
            </a:r>
            <a:endParaRPr sz="1425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2E618DA6-09E4-490E-9F43-FC052E0A683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A43E987-8D1F-467E-8FFE-7ECBD8E5BC45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0C4CB9D-BAE2-4CA4-BC4F-CA4EF804C4BD}"/>
              </a:ext>
            </a:extLst>
          </p:cNvPr>
          <p:cNvSpPr>
            <a:spLocks noGrp="1"/>
          </p:cNvSpPr>
          <p:nvPr/>
        </p:nvSpPr>
        <p:spPr>
          <a:xfrm>
            <a:off x="10287000" y="65341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489666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8E00E5EF-A34A-4209-B2FB-346BA52C3F0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ARCHITECTURE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AFF522-0356-42E4-8265-1A0CE4D418C5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14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系统架构</a:t>
            </a:r>
            <a:endParaRPr sz="25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1B7B94-6369-47AF-88F1-7F3FB7225F36}"/>
              </a:ext>
            </a:extLst>
          </p:cNvPr>
          <p:cNvSpPr>
            <a:spLocks noGrp="1"/>
          </p:cNvSpPr>
          <p:nvPr/>
        </p:nvSpPr>
        <p:spPr>
          <a:xfrm>
            <a:off x="10953750" y="400050"/>
            <a:ext cx="590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973D0EC-1D23-4E60-96EF-52E745E67DFB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E318E646-7FC3-431B-9ECC-2B42F4806AB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A87DE5B-5756-4BBD-A39E-9EB8E9A04ADA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60A6BEA-8C84-4329-87D8-43B0E7E2F9CA}"/>
              </a:ext>
            </a:extLst>
          </p:cNvPr>
          <p:cNvSpPr>
            <a:spLocks noGrp="1"/>
          </p:cNvSpPr>
          <p:nvPr/>
        </p:nvSpPr>
        <p:spPr>
          <a:xfrm>
            <a:off x="10287000" y="65341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062D10-3D5E-F430-9FCA-76B12341ABFB}"/>
              </a:ext>
            </a:extLst>
          </p:cNvPr>
          <p:cNvSpPr txBox="1"/>
          <p:nvPr/>
        </p:nvSpPr>
        <p:spPr>
          <a:xfrm>
            <a:off x="609600" y="1987297"/>
            <a:ext cx="448360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用户端：Qt 6、C++</a:t>
            </a:r>
            <a:r>
              <a:rPr lang="en-US" altLang="zh-CN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r>
              <a:rPr lang="zh-CN" altLang="zh-CN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、Qt WebEngine；</a:t>
            </a:r>
            <a:endParaRPr lang="en-US" altLang="zh-CN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zh-CN" altLang="zh-CN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zh-CN" altLang="zh-CN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管理端： Qt 6、C++</a:t>
            </a:r>
            <a:r>
              <a:rPr lang="en-US" altLang="zh-CN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 </a:t>
            </a:r>
            <a:r>
              <a:rPr lang="zh-CN" altLang="en-US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zh-CN" altLang="zh-CN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Qt Widgets、Qt Charts、Qt Network；</a:t>
            </a:r>
            <a:endParaRPr lang="en-US" altLang="zh-CN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zh-CN" altLang="zh-CN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zh-CN" altLang="zh-CN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后端：C++</a:t>
            </a:r>
            <a:r>
              <a:rPr lang="en-US" altLang="zh-CN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zh-CN" altLang="zh-CN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、Drogon；</a:t>
            </a:r>
            <a:endParaRPr lang="en-US" altLang="zh-CN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zh-CN" altLang="zh-CN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zh-CN" altLang="zh-CN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数据库：PostgreSQL；</a:t>
            </a:r>
            <a:endParaRPr lang="en-US" altLang="zh-CN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zh-CN" altLang="zh-CN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zh-CN" altLang="zh-CN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地图服务：腾讯地图 WebService API</a:t>
            </a:r>
            <a:endParaRPr lang="zh-CN" altLang="en-US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5A43CB-460F-4534-5162-0078E75A4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078680"/>
            <a:ext cx="5921639" cy="332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784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6D00C261-B324-45E3-9784-C3291173894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TEAM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95C841-15C8-4E28-8B58-FCA38187FFCB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14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团队分工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1AF796-3C79-41F2-A52A-A9D7C2998660}"/>
              </a:ext>
            </a:extLst>
          </p:cNvPr>
          <p:cNvSpPr>
            <a:spLocks noGrp="1"/>
          </p:cNvSpPr>
          <p:nvPr/>
        </p:nvSpPr>
        <p:spPr>
          <a:xfrm>
            <a:off x="10953750" y="400050"/>
            <a:ext cx="590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E37BD7C-B22B-4D9C-A6B1-166C335DF34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FF60F0-09F1-4F55-BDDD-479B77C85667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725" dirty="0">
                <a:solidFill>
                  <a:srgbClr val="FFD9C9"/>
                </a:solidFill>
                <a:latin typeface="Arial"/>
              </a:rPr>
              <a:t>使用 GitHub 统一管理代码、文档和版本</a:t>
            </a:r>
          </a:p>
          <a:p>
            <a:pPr algn="l">
              <a:defRPr sz="1725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endParaRPr sz="1725" b="0" dirty="0">
              <a:solidFill>
                <a:srgbClr val="FFD9C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E5EAC2-24FF-40A7-BA6F-36D2547DF1E8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76200" cy="4953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798C39-83D1-4845-A97F-316650DE77F5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李奕萱</a:t>
            </a:r>
            <a:endParaRPr sz="20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502C17-664B-4E62-8A34-61692F6A80EC}"/>
              </a:ext>
            </a:extLst>
          </p:cNvPr>
          <p:cNvSpPr>
            <a:spLocks noGrp="1"/>
          </p:cNvSpPr>
          <p:nvPr/>
        </p:nvSpPr>
        <p:spPr>
          <a:xfrm>
            <a:off x="2857500" y="2412590"/>
            <a:ext cx="704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项目文档，管理端和客户端</a:t>
            </a:r>
            <a:r>
              <a:rPr lang="en-US" altLang="zh-CN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UI</a:t>
            </a:r>
            <a:r>
              <a:rPr lang="zh-CN" altLang="en-US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设计，管理端充电桩类型功率完善</a:t>
            </a:r>
            <a:endParaRPr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C1ADA3-E6DB-416A-BF34-BAC06DEA5DE7}"/>
              </a:ext>
            </a:extLst>
          </p:cNvPr>
          <p:cNvSpPr>
            <a:spLocks noGrp="1"/>
          </p:cNvSpPr>
          <p:nvPr/>
        </p:nvSpPr>
        <p:spPr>
          <a:xfrm>
            <a:off x="762000" y="3019425"/>
            <a:ext cx="76200" cy="495300"/>
          </a:xfrm>
          <a:prstGeom prst="rect">
            <a:avLst/>
          </a:prstGeom>
          <a:solidFill>
            <a:srgbClr val="00C2A8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C75F9F-1E9D-4071-BFC2-3C642380DCE8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吴洵</a:t>
            </a:r>
            <a:endParaRPr sz="20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70A45D-7C67-4161-A79B-98BD61472AB0}"/>
              </a:ext>
            </a:extLst>
          </p:cNvPr>
          <p:cNvSpPr>
            <a:spLocks noGrp="1"/>
          </p:cNvSpPr>
          <p:nvPr/>
        </p:nvSpPr>
        <p:spPr>
          <a:xfrm>
            <a:off x="2857500" y="3086100"/>
            <a:ext cx="704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chemeClr val="bg1"/>
                </a:solidFill>
                <a:latin typeface="Arial"/>
                <a:cs typeface="Arial"/>
              </a:rPr>
              <a:t>文档绘图，管理端功能和</a:t>
            </a:r>
            <a:r>
              <a:rPr lang="en-US" altLang="zh-CN" dirty="0">
                <a:solidFill>
                  <a:schemeClr val="bg1"/>
                </a:solidFill>
                <a:latin typeface="Arial"/>
                <a:cs typeface="Arial"/>
              </a:rPr>
              <a:t>UI</a:t>
            </a:r>
            <a:r>
              <a:rPr lang="zh-CN" altLang="en-US" dirty="0">
                <a:solidFill>
                  <a:schemeClr val="bg1"/>
                </a:solidFill>
                <a:latin typeface="Arial"/>
                <a:cs typeface="Arial"/>
              </a:rPr>
              <a:t>设计，客户端地图导航接入</a:t>
            </a:r>
            <a:endParaRPr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C04256-5814-4E84-A1E0-59866826AD81}"/>
              </a:ext>
            </a:extLst>
          </p:cNvPr>
          <p:cNvSpPr>
            <a:spLocks noGrp="1"/>
          </p:cNvSpPr>
          <p:nvPr/>
        </p:nvSpPr>
        <p:spPr>
          <a:xfrm>
            <a:off x="762000" y="3705225"/>
            <a:ext cx="76200" cy="495300"/>
          </a:xfrm>
          <a:prstGeom prst="rect">
            <a:avLst/>
          </a:prstGeom>
          <a:solidFill>
            <a:srgbClr val="FFD166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5D5A19-12AC-43BD-968A-E461A1197B6A}"/>
              </a:ext>
            </a:extLst>
          </p:cNvPr>
          <p:cNvSpPr>
            <a:spLocks noGrp="1"/>
          </p:cNvSpPr>
          <p:nvPr/>
        </p:nvSpPr>
        <p:spPr>
          <a:xfrm>
            <a:off x="1066800" y="37719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徐钲</a:t>
            </a:r>
            <a:endParaRPr sz="20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35CED6-6328-4710-966D-7E1D2CFE63CF}"/>
              </a:ext>
            </a:extLst>
          </p:cNvPr>
          <p:cNvSpPr>
            <a:spLocks noGrp="1"/>
          </p:cNvSpPr>
          <p:nvPr/>
        </p:nvSpPr>
        <p:spPr>
          <a:xfrm>
            <a:off x="2857500" y="3771900"/>
            <a:ext cx="7048500" cy="5238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chemeClr val="bg1"/>
                </a:solidFill>
                <a:latin typeface="Arial"/>
                <a:cs typeface="Arial"/>
              </a:rPr>
              <a:t>项目文档，客户端的用户账户、充电站查询、充电业务</a:t>
            </a:r>
            <a:endParaRPr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B83372-7441-4A2B-B4C9-A5338641330E}"/>
              </a:ext>
            </a:extLst>
          </p:cNvPr>
          <p:cNvSpPr>
            <a:spLocks noGrp="1"/>
          </p:cNvSpPr>
          <p:nvPr/>
        </p:nvSpPr>
        <p:spPr>
          <a:xfrm>
            <a:off x="762000" y="4391025"/>
            <a:ext cx="76200" cy="495300"/>
          </a:xfrm>
          <a:prstGeom prst="rect">
            <a:avLst/>
          </a:prstGeom>
          <a:solidFill>
            <a:srgbClr val="8E7CFF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2656D73-DB37-4F8A-A197-BF56284C3AE6}"/>
              </a:ext>
            </a:extLst>
          </p:cNvPr>
          <p:cNvSpPr>
            <a:spLocks noGrp="1"/>
          </p:cNvSpPr>
          <p:nvPr/>
        </p:nvSpPr>
        <p:spPr>
          <a:xfrm>
            <a:off x="1066800" y="4457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姚雨森</a:t>
            </a:r>
            <a:endParaRPr sz="20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1AACBB-E09B-4CB1-B239-D5BBFB389E8D}"/>
              </a:ext>
            </a:extLst>
          </p:cNvPr>
          <p:cNvSpPr>
            <a:spLocks noGrp="1"/>
          </p:cNvSpPr>
          <p:nvPr/>
        </p:nvSpPr>
        <p:spPr>
          <a:xfrm>
            <a:off x="2857500" y="4457700"/>
            <a:ext cx="704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chemeClr val="bg1"/>
                </a:solidFill>
                <a:latin typeface="Arial"/>
                <a:cs typeface="Arial"/>
              </a:rPr>
              <a:t>后端技术选型和开发，客户端充电业务、历史订单完善</a:t>
            </a:r>
            <a:endParaRPr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E91F8B-39FF-4044-89B7-5CBDB80C782E}"/>
              </a:ext>
            </a:extLst>
          </p:cNvPr>
          <p:cNvSpPr>
            <a:spLocks noGrp="1"/>
          </p:cNvSpPr>
          <p:nvPr/>
        </p:nvSpPr>
        <p:spPr>
          <a:xfrm>
            <a:off x="762000" y="5076825"/>
            <a:ext cx="76200" cy="4953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442898-D88C-4EF0-8A48-B51FD8F07C71}"/>
              </a:ext>
            </a:extLst>
          </p:cNvPr>
          <p:cNvSpPr>
            <a:spLocks noGrp="1"/>
          </p:cNvSpPr>
          <p:nvPr/>
        </p:nvSpPr>
        <p:spPr>
          <a:xfrm>
            <a:off x="1066800" y="5143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曾梓木</a:t>
            </a:r>
            <a:endParaRPr sz="20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3FEF7E5-A939-4ABF-AA80-5175F3983883}"/>
              </a:ext>
            </a:extLst>
          </p:cNvPr>
          <p:cNvSpPr>
            <a:spLocks noGrp="1"/>
          </p:cNvSpPr>
          <p:nvPr/>
        </p:nvSpPr>
        <p:spPr>
          <a:xfrm>
            <a:off x="2857500" y="5143500"/>
            <a:ext cx="704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chemeClr val="bg1"/>
                </a:solidFill>
                <a:latin typeface="Arial"/>
                <a:cs typeface="Arial"/>
              </a:rPr>
              <a:t>后端，管理端充电桩管理优化和充电站地址，实时充电</a:t>
            </a:r>
            <a:r>
              <a:rPr lang="en-US" altLang="zh-CN" dirty="0">
                <a:solidFill>
                  <a:schemeClr val="bg1"/>
                </a:solidFill>
                <a:latin typeface="Arial"/>
                <a:cs typeface="Arial"/>
              </a:rPr>
              <a:t>Socket</a:t>
            </a:r>
            <a:r>
              <a:rPr lang="zh-CN" altLang="en-US" dirty="0">
                <a:solidFill>
                  <a:schemeClr val="bg1"/>
                </a:solidFill>
                <a:latin typeface="Arial"/>
                <a:cs typeface="Arial"/>
              </a:rPr>
              <a:t>通信</a:t>
            </a:r>
            <a:endParaRPr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FF83D1F7-1A32-47B6-8703-AD0A85DEB18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55E14C8-4C30-4FD0-9149-3CCABE0FC38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 dirty="0" err="1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  <a:endParaRPr sz="900" b="0" dirty="0">
              <a:solidFill>
                <a:srgbClr val="AEB9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0568D8C-5BFA-4E3C-979E-F21F8C9B72DF}"/>
              </a:ext>
            </a:extLst>
          </p:cNvPr>
          <p:cNvSpPr>
            <a:spLocks noGrp="1"/>
          </p:cNvSpPr>
          <p:nvPr/>
        </p:nvSpPr>
        <p:spPr>
          <a:xfrm>
            <a:off x="10287000" y="65341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185095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4B339C13-511C-4F33-9B1A-7023DB8B297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CHARGING LIFECYCLE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1B57A9-B2C5-4906-8104-365D392CAF25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14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充电业务流程</a:t>
            </a:r>
            <a:endParaRPr sz="25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DEC293-465F-47FA-BD16-AB696776051B}"/>
              </a:ext>
            </a:extLst>
          </p:cNvPr>
          <p:cNvSpPr>
            <a:spLocks noGrp="1"/>
          </p:cNvSpPr>
          <p:nvPr/>
        </p:nvSpPr>
        <p:spPr>
          <a:xfrm>
            <a:off x="10953750" y="400050"/>
            <a:ext cx="590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778DF125-ECB5-44F5-93F1-7B79A1959C2A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31483B-866F-4864-BECF-F98293A8CF59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FFD9C9"/>
                </a:solidFill>
                <a:latin typeface="Arial"/>
                <a:ea typeface="Arial"/>
                <a:cs typeface="Arial"/>
              </a:rPr>
              <a:t>订单状态、电桩状态和钱包余额共同决定一次充电是否可以开始、继续和完成</a:t>
            </a:r>
            <a:r>
              <a:rPr sz="1650" b="0" dirty="0">
                <a:solidFill>
                  <a:srgbClr val="FFD9C9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4482BA3-521A-4167-BA63-873ED06A6F1F}"/>
              </a:ext>
            </a:extLst>
          </p:cNvPr>
          <p:cNvSpPr>
            <a:spLocks noGrp="1"/>
          </p:cNvSpPr>
          <p:nvPr/>
        </p:nvSpPr>
        <p:spPr>
          <a:xfrm>
            <a:off x="628650" y="2905125"/>
            <a:ext cx="1752600" cy="933450"/>
          </a:xfrm>
          <a:prstGeom prst="roundRect">
            <a:avLst>
              <a:gd name="adj" fmla="val 14286"/>
            </a:avLst>
          </a:prstGeom>
          <a:solidFill>
            <a:srgbClr val="00C2A8"/>
          </a:solidFill>
          <a:ln w="0">
            <a:solidFill>
              <a:srgbClr val="00C2A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0F3A95-CD91-44C3-956B-4EFE100DF71E}"/>
              </a:ext>
            </a:extLst>
          </p:cNvPr>
          <p:cNvSpPr>
            <a:spLocks noGrp="1"/>
          </p:cNvSpPr>
          <p:nvPr/>
        </p:nvSpPr>
        <p:spPr>
          <a:xfrm>
            <a:off x="628650" y="308610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空闲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24FEB4-F514-444B-BB84-0CEF98C31AA6}"/>
              </a:ext>
            </a:extLst>
          </p:cNvPr>
          <p:cNvSpPr>
            <a:spLocks noGrp="1"/>
          </p:cNvSpPr>
          <p:nvPr/>
        </p:nvSpPr>
        <p:spPr>
          <a:xfrm>
            <a:off x="628650" y="3476625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选择充电桩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787CE865-080A-4E22-ACD2-C3DC50A5CA04}"/>
              </a:ext>
            </a:extLst>
          </p:cNvPr>
          <p:cNvSpPr>
            <a:spLocks noGrp="1"/>
          </p:cNvSpPr>
          <p:nvPr/>
        </p:nvSpPr>
        <p:spPr>
          <a:xfrm>
            <a:off x="2457450" y="3257550"/>
            <a:ext cx="400050" cy="209550"/>
          </a:xfrm>
          <a:prstGeom prst="rightArrow">
            <a:avLst/>
          </a:prstGeom>
          <a:solidFill>
            <a:srgbClr val="344249"/>
          </a:solidFill>
          <a:ln w="0">
            <a:solidFill>
              <a:srgbClr val="344249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7403D48-D0E8-48F7-B1DC-C8FDA2AAF52F}"/>
              </a:ext>
            </a:extLst>
          </p:cNvPr>
          <p:cNvSpPr>
            <a:spLocks noGrp="1"/>
          </p:cNvSpPr>
          <p:nvPr/>
        </p:nvSpPr>
        <p:spPr>
          <a:xfrm>
            <a:off x="2914650" y="2905125"/>
            <a:ext cx="1752600" cy="933450"/>
          </a:xfrm>
          <a:prstGeom prst="roundRect">
            <a:avLst>
              <a:gd name="adj" fmla="val 14286"/>
            </a:avLst>
          </a:prstGeom>
          <a:solidFill>
            <a:srgbClr val="FFD166"/>
          </a:solidFill>
          <a:ln w="0">
            <a:solidFill>
              <a:srgbClr val="FFD166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30DFCB-CD88-4CB3-938D-CD3B26406192}"/>
              </a:ext>
            </a:extLst>
          </p:cNvPr>
          <p:cNvSpPr>
            <a:spLocks noGrp="1"/>
          </p:cNvSpPr>
          <p:nvPr/>
        </p:nvSpPr>
        <p:spPr>
          <a:xfrm>
            <a:off x="2914650" y="308610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被占用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C5F896B-5976-4F28-B3BB-DA857D69D179}"/>
              </a:ext>
            </a:extLst>
          </p:cNvPr>
          <p:cNvSpPr>
            <a:spLocks noGrp="1"/>
          </p:cNvSpPr>
          <p:nvPr/>
        </p:nvSpPr>
        <p:spPr>
          <a:xfrm>
            <a:off x="2914650" y="3476625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创建订单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B68DEF09-3498-4F68-9D7D-EAAF07E6D46B}"/>
              </a:ext>
            </a:extLst>
          </p:cNvPr>
          <p:cNvSpPr>
            <a:spLocks noGrp="1"/>
          </p:cNvSpPr>
          <p:nvPr/>
        </p:nvSpPr>
        <p:spPr>
          <a:xfrm>
            <a:off x="4743450" y="3257550"/>
            <a:ext cx="400050" cy="209550"/>
          </a:xfrm>
          <a:prstGeom prst="rightArrow">
            <a:avLst/>
          </a:prstGeom>
          <a:solidFill>
            <a:srgbClr val="344249"/>
          </a:solidFill>
          <a:ln w="0">
            <a:solidFill>
              <a:srgbClr val="344249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143EDFC-9553-4A6C-8806-5BD169F52F3D}"/>
              </a:ext>
            </a:extLst>
          </p:cNvPr>
          <p:cNvSpPr>
            <a:spLocks noGrp="1"/>
          </p:cNvSpPr>
          <p:nvPr/>
        </p:nvSpPr>
        <p:spPr>
          <a:xfrm>
            <a:off x="5200650" y="2905125"/>
            <a:ext cx="1752600" cy="933450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2E7ECB-5049-40BC-A25D-06ACF2A92D67}"/>
              </a:ext>
            </a:extLst>
          </p:cNvPr>
          <p:cNvSpPr>
            <a:spLocks noGrp="1"/>
          </p:cNvSpPr>
          <p:nvPr/>
        </p:nvSpPr>
        <p:spPr>
          <a:xfrm>
            <a:off x="5200650" y="308610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充电中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086507C-4DA8-49A2-B309-62F0EAB839BA}"/>
              </a:ext>
            </a:extLst>
          </p:cNvPr>
          <p:cNvSpPr>
            <a:spLocks noGrp="1"/>
          </p:cNvSpPr>
          <p:nvPr/>
        </p:nvSpPr>
        <p:spPr>
          <a:xfrm>
            <a:off x="5200650" y="3476625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实时计价</a:t>
            </a: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4F4C9D97-23D2-47A4-B187-B2B786DA734E}"/>
              </a:ext>
            </a:extLst>
          </p:cNvPr>
          <p:cNvSpPr>
            <a:spLocks noGrp="1"/>
          </p:cNvSpPr>
          <p:nvPr/>
        </p:nvSpPr>
        <p:spPr>
          <a:xfrm>
            <a:off x="7029450" y="3257550"/>
            <a:ext cx="400050" cy="209550"/>
          </a:xfrm>
          <a:prstGeom prst="rightArrow">
            <a:avLst/>
          </a:prstGeom>
          <a:solidFill>
            <a:srgbClr val="344249"/>
          </a:solidFill>
          <a:ln w="0">
            <a:solidFill>
              <a:srgbClr val="344249"/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4F47A1B-71DF-4553-9BDC-DC61C64DC307}"/>
              </a:ext>
            </a:extLst>
          </p:cNvPr>
          <p:cNvSpPr>
            <a:spLocks noGrp="1"/>
          </p:cNvSpPr>
          <p:nvPr/>
        </p:nvSpPr>
        <p:spPr>
          <a:xfrm>
            <a:off x="7486650" y="2905125"/>
            <a:ext cx="1752600" cy="933450"/>
          </a:xfrm>
          <a:prstGeom prst="roundRect">
            <a:avLst>
              <a:gd name="adj" fmla="val 14286"/>
            </a:avLst>
          </a:prstGeom>
          <a:solidFill>
            <a:srgbClr val="8E7CFF"/>
          </a:solidFill>
          <a:ln w="0">
            <a:solidFill>
              <a:srgbClr val="8E7C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E00966C-6298-4EE0-8BF7-B4578FED3D8D}"/>
              </a:ext>
            </a:extLst>
          </p:cNvPr>
          <p:cNvSpPr>
            <a:spLocks noGrp="1"/>
          </p:cNvSpPr>
          <p:nvPr/>
        </p:nvSpPr>
        <p:spPr>
          <a:xfrm>
            <a:off x="7486650" y="308610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结算中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820382E-05A6-4B0D-8DAD-C98E537FA428}"/>
              </a:ext>
            </a:extLst>
          </p:cNvPr>
          <p:cNvSpPr>
            <a:spLocks noGrp="1"/>
          </p:cNvSpPr>
          <p:nvPr/>
        </p:nvSpPr>
        <p:spPr>
          <a:xfrm>
            <a:off x="7486650" y="3476625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扣款 / 待结算</a:t>
            </a: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33B00F38-4E9B-47BB-96A0-81B24D0E2258}"/>
              </a:ext>
            </a:extLst>
          </p:cNvPr>
          <p:cNvSpPr>
            <a:spLocks noGrp="1"/>
          </p:cNvSpPr>
          <p:nvPr/>
        </p:nvSpPr>
        <p:spPr>
          <a:xfrm>
            <a:off x="9315450" y="3257550"/>
            <a:ext cx="400050" cy="209550"/>
          </a:xfrm>
          <a:prstGeom prst="rightArrow">
            <a:avLst/>
          </a:prstGeom>
          <a:solidFill>
            <a:srgbClr val="344249"/>
          </a:solidFill>
          <a:ln w="0">
            <a:solidFill>
              <a:srgbClr val="344249"/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98DE87A-D934-49C3-965A-6D8C4FABE1E3}"/>
              </a:ext>
            </a:extLst>
          </p:cNvPr>
          <p:cNvSpPr>
            <a:spLocks noGrp="1"/>
          </p:cNvSpPr>
          <p:nvPr/>
        </p:nvSpPr>
        <p:spPr>
          <a:xfrm>
            <a:off x="9772650" y="2905125"/>
            <a:ext cx="1752600" cy="933450"/>
          </a:xfrm>
          <a:prstGeom prst="roundRect">
            <a:avLst>
              <a:gd name="adj" fmla="val 14286"/>
            </a:avLst>
          </a:prstGeom>
          <a:solidFill>
            <a:srgbClr val="00C2A8"/>
          </a:solidFill>
          <a:ln w="0">
            <a:solidFill>
              <a:srgbClr val="00C2A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4998AF-6A4B-44F8-BEED-CB1C122C9490}"/>
              </a:ext>
            </a:extLst>
          </p:cNvPr>
          <p:cNvSpPr>
            <a:spLocks noGrp="1"/>
          </p:cNvSpPr>
          <p:nvPr/>
        </p:nvSpPr>
        <p:spPr>
          <a:xfrm>
            <a:off x="9772650" y="308610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空闲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3319B3-E564-4A53-B3EA-408A48929144}"/>
              </a:ext>
            </a:extLst>
          </p:cNvPr>
          <p:cNvSpPr>
            <a:spLocks noGrp="1"/>
          </p:cNvSpPr>
          <p:nvPr/>
        </p:nvSpPr>
        <p:spPr>
          <a:xfrm>
            <a:off x="9772650" y="3476625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释放电桩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F08CFA8-06E3-40EE-8EE0-091248B966BA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000125"/>
          </a:xfrm>
          <a:prstGeom prst="roundRect">
            <a:avLst>
              <a:gd name="adj" fmla="val 11429"/>
            </a:avLst>
          </a:prstGeom>
          <a:solidFill>
            <a:srgbClr val="172129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7F094C-0CF6-43BD-A2CB-6B1E7E38EFE3}"/>
              </a:ext>
            </a:extLst>
          </p:cNvPr>
          <p:cNvSpPr>
            <a:spLocks noGrp="1"/>
          </p:cNvSpPr>
          <p:nvPr/>
        </p:nvSpPr>
        <p:spPr>
          <a:xfrm>
            <a:off x="876300" y="498157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1350" b="1" dirty="0" err="1">
                <a:solidFill>
                  <a:srgbClr val="FF6B35"/>
                </a:solidFill>
                <a:latin typeface="Arial"/>
                <a:ea typeface="Arial"/>
                <a:cs typeface="Arial"/>
              </a:rPr>
              <a:t>异常出口</a:t>
            </a:r>
            <a:endParaRPr sz="1350" b="1" dirty="0">
              <a:solidFill>
                <a:srgbClr val="FF6B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B195F56-5401-4180-94DF-675F1BC9180A}"/>
              </a:ext>
            </a:extLst>
          </p:cNvPr>
          <p:cNvSpPr>
            <a:spLocks noGrp="1"/>
          </p:cNvSpPr>
          <p:nvPr/>
        </p:nvSpPr>
        <p:spPr>
          <a:xfrm>
            <a:off x="2381250" y="4972050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余额不足</a:t>
            </a:r>
            <a:r>
              <a:rPr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/  </a:t>
            </a:r>
            <a:r>
              <a:rPr sz="16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网络中断</a:t>
            </a:r>
            <a:r>
              <a:rPr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/  </a:t>
            </a:r>
            <a:r>
              <a:rPr sz="16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电桩故障</a:t>
            </a:r>
            <a:endParaRPr sz="16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0C0A93D-5FA1-4A14-8728-CDCD78082834}"/>
              </a:ext>
            </a:extLst>
          </p:cNvPr>
          <p:cNvSpPr>
            <a:spLocks noGrp="1"/>
          </p:cNvSpPr>
          <p:nvPr/>
        </p:nvSpPr>
        <p:spPr>
          <a:xfrm>
            <a:off x="2381250" y="535305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服务端统一结算，失败时保持订单与电桩状态一致。</a:t>
            </a:r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C630C21B-0E44-4B05-A314-FC50990549B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2C1E7D9-6FCE-468C-B372-170AF86F5B2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D09B5C9-82DA-4F7B-B051-4054FBDFDC2C}"/>
              </a:ext>
            </a:extLst>
          </p:cNvPr>
          <p:cNvSpPr>
            <a:spLocks noGrp="1"/>
          </p:cNvSpPr>
          <p:nvPr/>
        </p:nvSpPr>
        <p:spPr>
          <a:xfrm>
            <a:off x="10287000" y="65341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73811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E548EFC5-763F-44BD-8147-D2458CAEB90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BILLING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7EF19B-FAEA-4C0B-922F-CA07F21005C6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14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计费逻辑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817110-F8DD-40B5-A636-9CC04BD78BE1}"/>
              </a:ext>
            </a:extLst>
          </p:cNvPr>
          <p:cNvSpPr>
            <a:spLocks noGrp="1"/>
          </p:cNvSpPr>
          <p:nvPr/>
        </p:nvSpPr>
        <p:spPr>
          <a:xfrm>
            <a:off x="10953750" y="400050"/>
            <a:ext cx="590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D478067-93A0-4D06-BC8C-6BE2D8777FD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DDCF9B-8C73-4316-8E14-F469DCA1B93B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FFD9C9"/>
                </a:solidFill>
                <a:latin typeface="Arial"/>
                <a:ea typeface="Arial"/>
                <a:cs typeface="Arial"/>
              </a:rPr>
              <a:t>计费由服务端完成，客户端只展示结果。跨越电价时段时，按时间区间分别计算</a:t>
            </a:r>
            <a:r>
              <a:rPr sz="1650" b="0" dirty="0">
                <a:solidFill>
                  <a:srgbClr val="FFD9C9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3B7B98D-AD51-45E5-ABD6-BCD03719DD99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4762500" cy="3143250"/>
          </a:xfrm>
          <a:prstGeom prst="roundRect">
            <a:avLst>
              <a:gd name="adj" fmla="val 4242"/>
            </a:avLst>
          </a:prstGeom>
          <a:solidFill>
            <a:srgbClr val="172129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16CAD9-18FF-4D6D-9C4F-B2DD94B7F072}"/>
              </a:ext>
            </a:extLst>
          </p:cNvPr>
          <p:cNvSpPr>
            <a:spLocks noGrp="1"/>
          </p:cNvSpPr>
          <p:nvPr/>
        </p:nvSpPr>
        <p:spPr>
          <a:xfrm>
            <a:off x="914400" y="261937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实时会话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5A0974A-66A5-421F-965C-712F096B09CB}"/>
              </a:ext>
            </a:extLst>
          </p:cNvPr>
          <p:cNvSpPr>
            <a:spLocks noGrp="1"/>
          </p:cNvSpPr>
          <p:nvPr/>
        </p:nvSpPr>
        <p:spPr>
          <a:xfrm>
            <a:off x="914400" y="3362325"/>
            <a:ext cx="85725" cy="85725"/>
          </a:xfrm>
          <a:prstGeom prst="ellipse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14729E3-FCB4-47CB-9B0B-9B94A06BA229}"/>
              </a:ext>
            </a:extLst>
          </p:cNvPr>
          <p:cNvSpPr>
            <a:spLocks noGrp="1"/>
          </p:cNvSpPr>
          <p:nvPr/>
        </p:nvSpPr>
        <p:spPr>
          <a:xfrm>
            <a:off x="1143000" y="3286125"/>
            <a:ext cx="3771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42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自定义</a:t>
            </a:r>
            <a:r>
              <a:rPr sz="142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Socket </a:t>
            </a:r>
            <a:r>
              <a:rPr sz="142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保持持续充电会话</a:t>
            </a:r>
            <a:endParaRPr sz="1425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C133962-D670-4521-BF98-B7E9EBFF4B25}"/>
              </a:ext>
            </a:extLst>
          </p:cNvPr>
          <p:cNvSpPr>
            <a:spLocks noGrp="1"/>
          </p:cNvSpPr>
          <p:nvPr/>
        </p:nvSpPr>
        <p:spPr>
          <a:xfrm>
            <a:off x="914400" y="3895725"/>
            <a:ext cx="85725" cy="85725"/>
          </a:xfrm>
          <a:prstGeom prst="ellipse">
            <a:avLst/>
          </a:prstGeom>
          <a:solidFill>
            <a:srgbClr val="00C2A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E498B9-1FE4-41D3-A5F6-72C55060CC36}"/>
              </a:ext>
            </a:extLst>
          </p:cNvPr>
          <p:cNvSpPr>
            <a:spLocks noGrp="1"/>
          </p:cNvSpPr>
          <p:nvPr/>
        </p:nvSpPr>
        <p:spPr>
          <a:xfrm>
            <a:off x="1143000" y="3819525"/>
            <a:ext cx="3771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约每秒推送时长、电量、费用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76272A4-1CDE-451B-BB06-F6115497D591}"/>
              </a:ext>
            </a:extLst>
          </p:cNvPr>
          <p:cNvSpPr>
            <a:spLocks noGrp="1"/>
          </p:cNvSpPr>
          <p:nvPr/>
        </p:nvSpPr>
        <p:spPr>
          <a:xfrm>
            <a:off x="914400" y="4429125"/>
            <a:ext cx="85725" cy="85725"/>
          </a:xfrm>
          <a:prstGeom prst="ellipse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068012-AE5E-4C2F-9203-DA247EEE21D5}"/>
              </a:ext>
            </a:extLst>
          </p:cNvPr>
          <p:cNvSpPr>
            <a:spLocks noGrp="1"/>
          </p:cNvSpPr>
          <p:nvPr/>
        </p:nvSpPr>
        <p:spPr>
          <a:xfrm>
            <a:off x="1143000" y="4352925"/>
            <a:ext cx="3771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服务端检查下一计费周期是否可支付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89A6B59-499A-4780-BE6A-F0D7A20E4653}"/>
              </a:ext>
            </a:extLst>
          </p:cNvPr>
          <p:cNvSpPr>
            <a:spLocks noGrp="1"/>
          </p:cNvSpPr>
          <p:nvPr/>
        </p:nvSpPr>
        <p:spPr>
          <a:xfrm>
            <a:off x="5810250" y="2305050"/>
            <a:ext cx="5772150" cy="3143250"/>
          </a:xfrm>
          <a:prstGeom prst="roundRect">
            <a:avLst>
              <a:gd name="adj" fmla="val 4242"/>
            </a:avLst>
          </a:prstGeom>
          <a:solidFill>
            <a:srgbClr val="172129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43ECF7-A884-4833-B772-87FFA415B53D}"/>
              </a:ext>
            </a:extLst>
          </p:cNvPr>
          <p:cNvSpPr>
            <a:spLocks noGrp="1"/>
          </p:cNvSpPr>
          <p:nvPr/>
        </p:nvSpPr>
        <p:spPr>
          <a:xfrm>
            <a:off x="6115050" y="261937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结算规则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FACBC6-01F4-4D74-BB53-4788F1AE06E1}"/>
              </a:ext>
            </a:extLst>
          </p:cNvPr>
          <p:cNvSpPr>
            <a:spLocks noGrp="1"/>
          </p:cNvSpPr>
          <p:nvPr/>
        </p:nvSpPr>
        <p:spPr>
          <a:xfrm>
            <a:off x="6115050" y="323850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功率</a:t>
            </a:r>
            <a:r>
              <a:rPr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× </a:t>
            </a: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时间</a:t>
            </a:r>
            <a:r>
              <a:rPr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= </a:t>
            </a: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充电量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E1A9ED-33D2-46BA-AFBE-2B14C2D6754D}"/>
              </a:ext>
            </a:extLst>
          </p:cNvPr>
          <p:cNvSpPr>
            <a:spLocks noGrp="1"/>
          </p:cNvSpPr>
          <p:nvPr/>
        </p:nvSpPr>
        <p:spPr>
          <a:xfrm>
            <a:off x="6115050" y="37528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充电量</a:t>
            </a:r>
            <a:r>
              <a:rPr sz="15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× </a:t>
            </a:r>
            <a:r>
              <a:rPr sz="157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对应时段单价</a:t>
            </a:r>
            <a:r>
              <a:rPr sz="15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= </a:t>
            </a:r>
            <a:r>
              <a:rPr sz="157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分段费用</a:t>
            </a:r>
            <a:endParaRPr sz="157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AB62043E-558D-4A05-89AD-3CBCBC6BF6B8}"/>
              </a:ext>
            </a:extLst>
          </p:cNvPr>
          <p:cNvSpPr>
            <a:spLocks noGrp="1"/>
          </p:cNvSpPr>
          <p:nvPr/>
        </p:nvSpPr>
        <p:spPr>
          <a:xfrm>
            <a:off x="6115050" y="4305300"/>
            <a:ext cx="47625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A868887-7DD5-4692-A84D-D55A2A05ACA6}"/>
              </a:ext>
            </a:extLst>
          </p:cNvPr>
          <p:cNvSpPr>
            <a:spLocks noGrp="1"/>
          </p:cNvSpPr>
          <p:nvPr/>
        </p:nvSpPr>
        <p:spPr>
          <a:xfrm>
            <a:off x="6115050" y="4591050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0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0B8"/>
                </a:solidFill>
                <a:latin typeface="Arial"/>
                <a:ea typeface="Arial"/>
                <a:cs typeface="Arial"/>
              </a:rPr>
              <a:t>停止、余额不足或连接中断时统一结算</a:t>
            </a:r>
          </a:p>
          <a:p>
            <a:pPr algn="l">
              <a:defRPr sz="1350" b="1">
                <a:solidFill>
                  <a:srgbClr val="FFF0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0B8"/>
                </a:solidFill>
                <a:latin typeface="Arial"/>
                <a:ea typeface="Arial"/>
                <a:cs typeface="Arial"/>
              </a:rPr>
              <a:t>成功扣款后订单完成，余额不足则进入待结算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5FF82D0E-F94C-426A-A29F-F96FB057E8D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3067E2-67A2-407B-8939-67769AE0989B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2DBA8B3-1AF0-4E29-A3D5-E9103D06E329}"/>
              </a:ext>
            </a:extLst>
          </p:cNvPr>
          <p:cNvSpPr>
            <a:spLocks noGrp="1"/>
          </p:cNvSpPr>
          <p:nvPr/>
        </p:nvSpPr>
        <p:spPr>
          <a:xfrm>
            <a:off x="10287000" y="65341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27806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C64C29E0-6212-4AB0-ADC3-F56A8BC4697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USER CLIENT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7421DF-8777-4791-A7FC-8AEDC6E2065B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14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用户端功能展示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105818-5CC5-41CB-94F7-80E4BDCC9B1C}"/>
              </a:ext>
            </a:extLst>
          </p:cNvPr>
          <p:cNvSpPr>
            <a:spLocks noGrp="1"/>
          </p:cNvSpPr>
          <p:nvPr/>
        </p:nvSpPr>
        <p:spPr>
          <a:xfrm>
            <a:off x="10953750" y="400050"/>
            <a:ext cx="590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41FABFF-3173-438F-859B-13F9C184F2B6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C1DAC6E-8D44-4363-9D1E-EBC0571579EE}"/>
              </a:ext>
            </a:extLst>
          </p:cNvPr>
          <p:cNvSpPr>
            <a:spLocks noGrp="1"/>
          </p:cNvSpPr>
          <p:nvPr/>
        </p:nvSpPr>
        <p:spPr>
          <a:xfrm>
            <a:off x="6509103" y="1390650"/>
            <a:ext cx="2686050" cy="4705349"/>
          </a:xfrm>
          <a:prstGeom prst="roundRect">
            <a:avLst>
              <a:gd name="adj" fmla="val 3030"/>
            </a:avLst>
          </a:prstGeom>
          <a:solidFill>
            <a:srgbClr val="202C32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61BFA427-B8B2-49A9-9A77-318A95DD032A}"/>
              </a:ext>
            </a:extLst>
          </p:cNvPr>
          <p:cNvSpPr>
            <a:spLocks noGrp="1"/>
          </p:cNvSpPr>
          <p:nvPr/>
        </p:nvSpPr>
        <p:spPr>
          <a:xfrm>
            <a:off x="6613877" y="1534668"/>
            <a:ext cx="51435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73FCA9-ADEE-4397-A428-5F02264AE4B4}"/>
              </a:ext>
            </a:extLst>
          </p:cNvPr>
          <p:cNvSpPr>
            <a:spLocks noGrp="1"/>
          </p:cNvSpPr>
          <p:nvPr/>
        </p:nvSpPr>
        <p:spPr>
          <a:xfrm>
            <a:off x="6613878" y="224790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ACAAC5-E6BE-4535-8318-19BAE5F0E9BD}"/>
              </a:ext>
            </a:extLst>
          </p:cNvPr>
          <p:cNvSpPr>
            <a:spLocks noGrp="1"/>
          </p:cNvSpPr>
          <p:nvPr/>
        </p:nvSpPr>
        <p:spPr>
          <a:xfrm>
            <a:off x="6509103" y="167640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350" b="1" dirty="0">
                <a:solidFill>
                  <a:srgbClr val="FFD9C9"/>
                </a:solidFill>
                <a:latin typeface="Arial"/>
                <a:ea typeface="Arial"/>
                <a:cs typeface="Arial"/>
              </a:rPr>
              <a:t>充电桩选择</a:t>
            </a:r>
            <a:endParaRPr sz="1350" b="1" dirty="0">
              <a:solidFill>
                <a:srgbClr val="FFD9C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2DE170F6-51B7-42FB-8D6F-1F87C653DB0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66F499-41F6-4EF5-A0C3-9D16C14CFA1F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53C913E-AA04-41E8-87E5-4A509B7799BA}"/>
              </a:ext>
            </a:extLst>
          </p:cNvPr>
          <p:cNvSpPr>
            <a:spLocks noGrp="1"/>
          </p:cNvSpPr>
          <p:nvPr/>
        </p:nvSpPr>
        <p:spPr>
          <a:xfrm>
            <a:off x="10287000" y="65341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EFD6BC3D-65B2-E19B-9A44-2B1E7D40A4B9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2686050" cy="4705349"/>
          </a:xfrm>
          <a:prstGeom prst="roundRect">
            <a:avLst>
              <a:gd name="adj" fmla="val 3030"/>
            </a:avLst>
          </a:prstGeom>
          <a:solidFill>
            <a:srgbClr val="202C32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44BD3B80-B53F-898C-32C0-654B8AFAAA33}"/>
              </a:ext>
            </a:extLst>
          </p:cNvPr>
          <p:cNvSpPr>
            <a:spLocks noGrp="1"/>
          </p:cNvSpPr>
          <p:nvPr/>
        </p:nvSpPr>
        <p:spPr>
          <a:xfrm>
            <a:off x="714374" y="1534668"/>
            <a:ext cx="51435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22CF0A5-EA4A-D8EB-CEDA-B5B2F64CB2AB}"/>
              </a:ext>
            </a:extLst>
          </p:cNvPr>
          <p:cNvSpPr>
            <a:spLocks noGrp="1"/>
          </p:cNvSpPr>
          <p:nvPr/>
        </p:nvSpPr>
        <p:spPr>
          <a:xfrm>
            <a:off x="714375" y="224790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25EB49C-EECB-4DD5-2A6B-CD4971E2DB0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350" b="1" dirty="0">
                <a:solidFill>
                  <a:srgbClr val="FFD9C9"/>
                </a:solidFill>
                <a:latin typeface="Arial"/>
                <a:ea typeface="Arial"/>
                <a:cs typeface="Arial"/>
              </a:rPr>
              <a:t>登录界面</a:t>
            </a:r>
            <a:endParaRPr sz="1350" b="1" dirty="0">
              <a:solidFill>
                <a:srgbClr val="FFD9C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82DCAC4F-478B-9A15-D78E-BFE3246014FA}"/>
              </a:ext>
            </a:extLst>
          </p:cNvPr>
          <p:cNvSpPr>
            <a:spLocks noGrp="1"/>
          </p:cNvSpPr>
          <p:nvPr/>
        </p:nvSpPr>
        <p:spPr>
          <a:xfrm>
            <a:off x="3524249" y="1390650"/>
            <a:ext cx="2686050" cy="4705349"/>
          </a:xfrm>
          <a:prstGeom prst="roundRect">
            <a:avLst>
              <a:gd name="adj" fmla="val 3030"/>
            </a:avLst>
          </a:prstGeom>
          <a:solidFill>
            <a:srgbClr val="202C32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515B8D2F-76D4-6189-F428-23F61EEE5FFC}"/>
              </a:ext>
            </a:extLst>
          </p:cNvPr>
          <p:cNvSpPr>
            <a:spLocks noGrp="1"/>
          </p:cNvSpPr>
          <p:nvPr/>
        </p:nvSpPr>
        <p:spPr>
          <a:xfrm>
            <a:off x="3629023" y="1534668"/>
            <a:ext cx="51435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84F113B-6AC0-B750-620A-EF8E42EF3A4A}"/>
              </a:ext>
            </a:extLst>
          </p:cNvPr>
          <p:cNvSpPr>
            <a:spLocks noGrp="1"/>
          </p:cNvSpPr>
          <p:nvPr/>
        </p:nvSpPr>
        <p:spPr>
          <a:xfrm>
            <a:off x="3629024" y="224790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A79643E-5590-34AA-9291-F9C873E0B5FC}"/>
              </a:ext>
            </a:extLst>
          </p:cNvPr>
          <p:cNvSpPr>
            <a:spLocks noGrp="1"/>
          </p:cNvSpPr>
          <p:nvPr/>
        </p:nvSpPr>
        <p:spPr>
          <a:xfrm>
            <a:off x="3524249" y="167640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350" b="1" dirty="0">
                <a:solidFill>
                  <a:srgbClr val="FFD9C9"/>
                </a:solidFill>
                <a:latin typeface="Arial"/>
                <a:ea typeface="Arial"/>
                <a:cs typeface="Arial"/>
              </a:rPr>
              <a:t>一键导航</a:t>
            </a:r>
            <a:endParaRPr sz="1350" b="1" dirty="0">
              <a:solidFill>
                <a:srgbClr val="FFD9C9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ED187F84-EEF7-7819-9472-031A21FBC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87" y="1939671"/>
            <a:ext cx="2160437" cy="4057649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FCE5BBA0-8B72-214D-19BB-056C8AED99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053" y="2006945"/>
            <a:ext cx="2085514" cy="3923100"/>
          </a:xfrm>
          <a:prstGeom prst="rect">
            <a:avLst/>
          </a:prstGeom>
        </p:spPr>
      </p:pic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F5533590-41B6-E9A8-A81C-E754FE229D46}"/>
              </a:ext>
            </a:extLst>
          </p:cNvPr>
          <p:cNvSpPr>
            <a:spLocks noGrp="1"/>
          </p:cNvSpPr>
          <p:nvPr/>
        </p:nvSpPr>
        <p:spPr>
          <a:xfrm>
            <a:off x="9320821" y="1390650"/>
            <a:ext cx="2686050" cy="4705349"/>
          </a:xfrm>
          <a:prstGeom prst="roundRect">
            <a:avLst>
              <a:gd name="adj" fmla="val 3030"/>
            </a:avLst>
          </a:prstGeom>
          <a:solidFill>
            <a:srgbClr val="202C32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6D56BD3A-C6C4-49FE-1789-5F32597E5A49}"/>
              </a:ext>
            </a:extLst>
          </p:cNvPr>
          <p:cNvSpPr>
            <a:spLocks noGrp="1"/>
          </p:cNvSpPr>
          <p:nvPr/>
        </p:nvSpPr>
        <p:spPr>
          <a:xfrm>
            <a:off x="9509477" y="1534668"/>
            <a:ext cx="51435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D6905F5-095A-31ED-35A8-6B6CE99EB94D}"/>
              </a:ext>
            </a:extLst>
          </p:cNvPr>
          <p:cNvSpPr>
            <a:spLocks noGrp="1"/>
          </p:cNvSpPr>
          <p:nvPr/>
        </p:nvSpPr>
        <p:spPr>
          <a:xfrm>
            <a:off x="9509478" y="2247900"/>
            <a:ext cx="2686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CEC223A-35FD-DC3E-55F6-A4EF557F46A9}"/>
              </a:ext>
            </a:extLst>
          </p:cNvPr>
          <p:cNvSpPr>
            <a:spLocks noGrp="1"/>
          </p:cNvSpPr>
          <p:nvPr/>
        </p:nvSpPr>
        <p:spPr>
          <a:xfrm>
            <a:off x="9404703" y="167640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350" b="1" dirty="0">
                <a:solidFill>
                  <a:srgbClr val="FFD9C9"/>
                </a:solidFill>
                <a:latin typeface="Arial"/>
                <a:ea typeface="Arial"/>
                <a:cs typeface="Arial"/>
              </a:rPr>
              <a:t>个人资料修改</a:t>
            </a:r>
            <a:endParaRPr sz="1350" b="1" dirty="0">
              <a:solidFill>
                <a:srgbClr val="FFD9C9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895D62F4-68D1-FBE7-5ADA-C03603B3CA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2326" y="1939671"/>
            <a:ext cx="2150803" cy="4057649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CC0D2EA5-3E5D-6215-2D7A-4764A74BB1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731" y="2006945"/>
            <a:ext cx="2091677" cy="392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7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7CD66792-F670-45CE-974F-E60DC8CF2D4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ADMIN CLIENT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6EDD08-0E32-46E0-93D3-0FC1B77223B2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14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管理端功能展示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82E3DB-F5E8-4186-89B6-3CFE58C5B004}"/>
              </a:ext>
            </a:extLst>
          </p:cNvPr>
          <p:cNvSpPr>
            <a:spLocks noGrp="1"/>
          </p:cNvSpPr>
          <p:nvPr/>
        </p:nvSpPr>
        <p:spPr>
          <a:xfrm>
            <a:off x="10953750" y="400050"/>
            <a:ext cx="590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CE751ABA-52CE-4DE0-89D1-7E0B4D7E0330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31E9E0C-363C-4C1B-8B67-805B00DDD1AE}"/>
              </a:ext>
            </a:extLst>
          </p:cNvPr>
          <p:cNvSpPr>
            <a:spLocks noGrp="1"/>
          </p:cNvSpPr>
          <p:nvPr/>
        </p:nvSpPr>
        <p:spPr>
          <a:xfrm>
            <a:off x="657224" y="1613380"/>
            <a:ext cx="5248275" cy="4325406"/>
          </a:xfrm>
          <a:prstGeom prst="roundRect">
            <a:avLst>
              <a:gd name="adj" fmla="val 2564"/>
            </a:avLst>
          </a:prstGeom>
          <a:solidFill>
            <a:srgbClr val="202C32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C3A4CFB4-8130-4BFF-9A46-F0977CA1C326}"/>
              </a:ext>
            </a:extLst>
          </p:cNvPr>
          <p:cNvSpPr>
            <a:spLocks noGrp="1"/>
          </p:cNvSpPr>
          <p:nvPr/>
        </p:nvSpPr>
        <p:spPr>
          <a:xfrm>
            <a:off x="838200" y="1816768"/>
            <a:ext cx="51435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C473EB-BBAB-448A-B823-2C7A2E0105A0}"/>
              </a:ext>
            </a:extLst>
          </p:cNvPr>
          <p:cNvSpPr>
            <a:spLocks noGrp="1"/>
          </p:cNvSpPr>
          <p:nvPr/>
        </p:nvSpPr>
        <p:spPr>
          <a:xfrm>
            <a:off x="723900" y="1909613"/>
            <a:ext cx="4591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业务总览</a:t>
            </a: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F6AC2E75-6CF0-4C22-87BC-2F37F1F87BE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558F79E-C5FD-48F2-A77D-7D1A3A5710C9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9A22BB2-1AA8-498D-AC56-8EB3E9CF7F4F}"/>
              </a:ext>
            </a:extLst>
          </p:cNvPr>
          <p:cNvSpPr>
            <a:spLocks noGrp="1"/>
          </p:cNvSpPr>
          <p:nvPr/>
        </p:nvSpPr>
        <p:spPr>
          <a:xfrm>
            <a:off x="10287000" y="65341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60C7D3FC-A86E-8AAA-6E3C-06778AB3BB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75" y="2228851"/>
            <a:ext cx="5048250" cy="3404077"/>
          </a:xfrm>
          <a:prstGeom prst="rect">
            <a:avLst/>
          </a:prstGeom>
        </p:spPr>
      </p:pic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E7BBBBE-7255-53B4-6C8F-5F0A6520E592}"/>
              </a:ext>
            </a:extLst>
          </p:cNvPr>
          <p:cNvSpPr>
            <a:spLocks noGrp="1"/>
          </p:cNvSpPr>
          <p:nvPr/>
        </p:nvSpPr>
        <p:spPr>
          <a:xfrm>
            <a:off x="6219825" y="1613380"/>
            <a:ext cx="5248275" cy="4325406"/>
          </a:xfrm>
          <a:prstGeom prst="roundRect">
            <a:avLst>
              <a:gd name="adj" fmla="val 2564"/>
            </a:avLst>
          </a:prstGeom>
          <a:solidFill>
            <a:srgbClr val="202C32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93B0B26B-3E6D-E579-F00B-776E4C1B0B1E}"/>
              </a:ext>
            </a:extLst>
          </p:cNvPr>
          <p:cNvSpPr>
            <a:spLocks noGrp="1"/>
          </p:cNvSpPr>
          <p:nvPr/>
        </p:nvSpPr>
        <p:spPr>
          <a:xfrm>
            <a:off x="6400801" y="1816768"/>
            <a:ext cx="51435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1967D28-33B3-B433-E5FD-21EF266CAF55}"/>
              </a:ext>
            </a:extLst>
          </p:cNvPr>
          <p:cNvSpPr>
            <a:spLocks noGrp="1"/>
          </p:cNvSpPr>
          <p:nvPr/>
        </p:nvSpPr>
        <p:spPr>
          <a:xfrm>
            <a:off x="6286501" y="1909613"/>
            <a:ext cx="4591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充电桩管理</a:t>
            </a: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410BB85D-8B86-B640-3A0A-339C65A624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1" y="2307257"/>
            <a:ext cx="4912480" cy="332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34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3BF02-53B0-AC66-12EA-0C5E0403D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F5428B01-9558-06A2-B818-7C2C677D94B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ADMIN CLIENT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9D1CF7-4777-CEEC-0CC8-F4C5FBFAC78B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14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管理端功能展示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299E7A-32B4-D4D9-AB0E-5A630AF94F79}"/>
              </a:ext>
            </a:extLst>
          </p:cNvPr>
          <p:cNvSpPr>
            <a:spLocks noGrp="1"/>
          </p:cNvSpPr>
          <p:nvPr/>
        </p:nvSpPr>
        <p:spPr>
          <a:xfrm>
            <a:off x="10953750" y="400050"/>
            <a:ext cx="590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464B0851-12BA-1BE7-9566-75323D1F3A58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6987201-923E-65DC-581B-42FCCD05C201}"/>
              </a:ext>
            </a:extLst>
          </p:cNvPr>
          <p:cNvSpPr>
            <a:spLocks noGrp="1"/>
          </p:cNvSpPr>
          <p:nvPr/>
        </p:nvSpPr>
        <p:spPr>
          <a:xfrm>
            <a:off x="657224" y="1613380"/>
            <a:ext cx="5248275" cy="4325406"/>
          </a:xfrm>
          <a:prstGeom prst="roundRect">
            <a:avLst>
              <a:gd name="adj" fmla="val 2564"/>
            </a:avLst>
          </a:prstGeom>
          <a:solidFill>
            <a:srgbClr val="202C32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CE6BB386-1DF3-A699-24A0-C047A59DF1A4}"/>
              </a:ext>
            </a:extLst>
          </p:cNvPr>
          <p:cNvSpPr>
            <a:spLocks noGrp="1"/>
          </p:cNvSpPr>
          <p:nvPr/>
        </p:nvSpPr>
        <p:spPr>
          <a:xfrm>
            <a:off x="838200" y="1816768"/>
            <a:ext cx="51435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455E1D-8829-CCE3-138A-5BC4AB055BE0}"/>
              </a:ext>
            </a:extLst>
          </p:cNvPr>
          <p:cNvSpPr>
            <a:spLocks noGrp="1"/>
          </p:cNvSpPr>
          <p:nvPr/>
        </p:nvSpPr>
        <p:spPr>
          <a:xfrm>
            <a:off x="723900" y="1909613"/>
            <a:ext cx="4591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充电桩编辑</a:t>
            </a: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42846FC6-88E1-65E8-85D7-560DD40D3A7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1520C5E-E3D8-1425-5655-3AD0B457F8AE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B215FBC-8BFF-44E4-FFE5-BF93B24E72B8}"/>
              </a:ext>
            </a:extLst>
          </p:cNvPr>
          <p:cNvSpPr>
            <a:spLocks noGrp="1"/>
          </p:cNvSpPr>
          <p:nvPr/>
        </p:nvSpPr>
        <p:spPr>
          <a:xfrm>
            <a:off x="10287000" y="65341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ED00D78-D2A4-AB6F-7AE2-CD9D0C2F2699}"/>
              </a:ext>
            </a:extLst>
          </p:cNvPr>
          <p:cNvSpPr>
            <a:spLocks noGrp="1"/>
          </p:cNvSpPr>
          <p:nvPr/>
        </p:nvSpPr>
        <p:spPr>
          <a:xfrm>
            <a:off x="6219825" y="1613380"/>
            <a:ext cx="5248275" cy="4325406"/>
          </a:xfrm>
          <a:prstGeom prst="roundRect">
            <a:avLst>
              <a:gd name="adj" fmla="val 2564"/>
            </a:avLst>
          </a:prstGeom>
          <a:solidFill>
            <a:srgbClr val="202C32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3DD0ABC1-F1B5-142A-C6F2-3F45DFB7379A}"/>
              </a:ext>
            </a:extLst>
          </p:cNvPr>
          <p:cNvSpPr>
            <a:spLocks noGrp="1"/>
          </p:cNvSpPr>
          <p:nvPr/>
        </p:nvSpPr>
        <p:spPr>
          <a:xfrm>
            <a:off x="6400801" y="1816768"/>
            <a:ext cx="51435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E735D9A-8DA7-3613-6D7B-4A965F1D8662}"/>
              </a:ext>
            </a:extLst>
          </p:cNvPr>
          <p:cNvSpPr>
            <a:spLocks noGrp="1"/>
          </p:cNvSpPr>
          <p:nvPr/>
        </p:nvSpPr>
        <p:spPr>
          <a:xfrm>
            <a:off x="6286501" y="1909613"/>
            <a:ext cx="4591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用户管理与冻结</a:t>
            </a: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7D0020B-712B-D3AB-EBCE-A6A3360E1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20" y="2351229"/>
            <a:ext cx="4829062" cy="32859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EEC9526-C92F-A323-72E0-007C026638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274" y="2316883"/>
            <a:ext cx="4853751" cy="328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097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C1FD0-8EF2-58C4-31B1-D0A9AFB84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10378863-2926-2B12-0A79-7BC3B1BB9C0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ADMIN CLIENT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A0F857-1665-EADD-FB89-13A42AAD6755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14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充电站定位及导航</a:t>
            </a:r>
            <a:endParaRPr sz="25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A56656-DC54-B79C-1AF2-CF99F9F68F10}"/>
              </a:ext>
            </a:extLst>
          </p:cNvPr>
          <p:cNvSpPr>
            <a:spLocks noGrp="1"/>
          </p:cNvSpPr>
          <p:nvPr/>
        </p:nvSpPr>
        <p:spPr>
          <a:xfrm>
            <a:off x="10953750" y="400050"/>
            <a:ext cx="590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599CC29D-378A-25BA-A2CE-8ED119549A74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F409443-AAF2-4210-5770-BCC8CBC63FA7}"/>
              </a:ext>
            </a:extLst>
          </p:cNvPr>
          <p:cNvSpPr>
            <a:spLocks noGrp="1"/>
          </p:cNvSpPr>
          <p:nvPr/>
        </p:nvSpPr>
        <p:spPr>
          <a:xfrm>
            <a:off x="657224" y="1613380"/>
            <a:ext cx="5248275" cy="4325406"/>
          </a:xfrm>
          <a:prstGeom prst="roundRect">
            <a:avLst>
              <a:gd name="adj" fmla="val 2564"/>
            </a:avLst>
          </a:prstGeom>
          <a:solidFill>
            <a:srgbClr val="202C32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BBB8B765-E4F9-D50A-AB25-24E2DB889C4A}"/>
              </a:ext>
            </a:extLst>
          </p:cNvPr>
          <p:cNvSpPr>
            <a:spLocks noGrp="1"/>
          </p:cNvSpPr>
          <p:nvPr/>
        </p:nvSpPr>
        <p:spPr>
          <a:xfrm>
            <a:off x="838200" y="1816768"/>
            <a:ext cx="51435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19B397-B567-EEBA-E4C2-51D4D81FC9AA}"/>
              </a:ext>
            </a:extLst>
          </p:cNvPr>
          <p:cNvSpPr>
            <a:spLocks noGrp="1"/>
          </p:cNvSpPr>
          <p:nvPr/>
        </p:nvSpPr>
        <p:spPr>
          <a:xfrm>
            <a:off x="723900" y="1909613"/>
            <a:ext cx="4591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管理端添加充电站地址</a:t>
            </a: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C43DAD69-4D11-DC55-111D-F5479125D9F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3331435-59BB-923C-B13A-0E8CCDC29B7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8F5500-4DD6-C1F1-0F67-89F734BC8327}"/>
              </a:ext>
            </a:extLst>
          </p:cNvPr>
          <p:cNvSpPr>
            <a:spLocks noGrp="1"/>
          </p:cNvSpPr>
          <p:nvPr/>
        </p:nvSpPr>
        <p:spPr>
          <a:xfrm>
            <a:off x="10287000" y="65341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7DDDDB6-7E0E-09D4-649B-79AAFE626B30}"/>
              </a:ext>
            </a:extLst>
          </p:cNvPr>
          <p:cNvSpPr>
            <a:spLocks noGrp="1"/>
          </p:cNvSpPr>
          <p:nvPr/>
        </p:nvSpPr>
        <p:spPr>
          <a:xfrm>
            <a:off x="6160269" y="1613380"/>
            <a:ext cx="2421757" cy="4325406"/>
          </a:xfrm>
          <a:prstGeom prst="roundRect">
            <a:avLst>
              <a:gd name="adj" fmla="val 2564"/>
            </a:avLst>
          </a:prstGeom>
          <a:solidFill>
            <a:srgbClr val="202C32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7F819B6E-9206-5245-5850-DE8981B0ADD3}"/>
              </a:ext>
            </a:extLst>
          </p:cNvPr>
          <p:cNvSpPr>
            <a:spLocks noGrp="1"/>
          </p:cNvSpPr>
          <p:nvPr/>
        </p:nvSpPr>
        <p:spPr>
          <a:xfrm>
            <a:off x="6400801" y="1816768"/>
            <a:ext cx="51435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AEF9B9C-CCD1-D29E-E215-31CE80E4559B}"/>
              </a:ext>
            </a:extLst>
          </p:cNvPr>
          <p:cNvSpPr>
            <a:spLocks noGrp="1"/>
          </p:cNvSpPr>
          <p:nvPr/>
        </p:nvSpPr>
        <p:spPr>
          <a:xfrm>
            <a:off x="6286501" y="1909613"/>
            <a:ext cx="4591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用户端选择当前地址</a:t>
            </a: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4E7CE2C-07A5-9873-4B96-8DC40CA3E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23" y="2300564"/>
            <a:ext cx="4809475" cy="324182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D95E379-814F-E376-D088-121386B08F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1" y="2214414"/>
            <a:ext cx="1931972" cy="364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07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0C6CA429-DF20-491D-B4C6-2A120F53AD0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SERVER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65EA2B-EDFC-4538-9BF5-6490985117F7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14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服务端设计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10B40F-8CD3-4220-AE18-042501D43F6A}"/>
              </a:ext>
            </a:extLst>
          </p:cNvPr>
          <p:cNvSpPr>
            <a:spLocks noGrp="1"/>
          </p:cNvSpPr>
          <p:nvPr/>
        </p:nvSpPr>
        <p:spPr>
          <a:xfrm>
            <a:off x="10953750" y="400050"/>
            <a:ext cx="590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7ABF2735-1089-45F5-9AA9-47A769F3AB7D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EB31B26-B657-4CE6-80D1-89D6DD341222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2190750" cy="68580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D0B74D-2C54-41D4-A7A3-79C471CF0981}"/>
              </a:ext>
            </a:extLst>
          </p:cNvPr>
          <p:cNvSpPr>
            <a:spLocks noGrp="1"/>
          </p:cNvSpPr>
          <p:nvPr/>
        </p:nvSpPr>
        <p:spPr>
          <a:xfrm>
            <a:off x="762000" y="199072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CB4CC0-6DF0-469A-ABBE-80B47DCDBDA7}"/>
              </a:ext>
            </a:extLst>
          </p:cNvPr>
          <p:cNvSpPr>
            <a:spLocks noGrp="1"/>
          </p:cNvSpPr>
          <p:nvPr/>
        </p:nvSpPr>
        <p:spPr>
          <a:xfrm>
            <a:off x="3333750" y="198120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接收请求 / Token 认证 / 参数校验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311B1C71-DBA9-4E7A-A70D-95E74A9B5A0B}"/>
              </a:ext>
            </a:extLst>
          </p:cNvPr>
          <p:cNvSpPr>
            <a:spLocks noGrp="1"/>
          </p:cNvSpPr>
          <p:nvPr/>
        </p:nvSpPr>
        <p:spPr>
          <a:xfrm rot="5400000">
            <a:off x="1695450" y="2600325"/>
            <a:ext cx="400050" cy="209550"/>
          </a:xfrm>
          <a:prstGeom prst="rightArrow">
            <a:avLst/>
          </a:prstGeom>
          <a:solidFill>
            <a:schemeClr val="bg1"/>
          </a:solidFill>
          <a:ln w="0">
            <a:solidFill>
              <a:srgbClr val="344249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B609DBC-5F60-487B-9663-C7AE6DF3457D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2190750" cy="685800"/>
          </a:xfrm>
          <a:prstGeom prst="roundRect">
            <a:avLst>
              <a:gd name="adj" fmla="val 16667"/>
            </a:avLst>
          </a:prstGeom>
          <a:solidFill>
            <a:srgbClr val="00C2A8"/>
          </a:solidFill>
          <a:ln w="0">
            <a:solidFill>
              <a:srgbClr val="00C2A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EDB185-672D-48EA-9B4F-EC66B7DC2D9A}"/>
              </a:ext>
            </a:extLst>
          </p:cNvPr>
          <p:cNvSpPr>
            <a:spLocks noGrp="1"/>
          </p:cNvSpPr>
          <p:nvPr/>
        </p:nvSpPr>
        <p:spPr>
          <a:xfrm>
            <a:off x="762000" y="3086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864CE1-BC41-4961-869F-D0EFCCF5416E}"/>
              </a:ext>
            </a:extLst>
          </p:cNvPr>
          <p:cNvSpPr>
            <a:spLocks noGrp="1"/>
          </p:cNvSpPr>
          <p:nvPr/>
        </p:nvSpPr>
        <p:spPr>
          <a:xfrm>
            <a:off x="3333750" y="3076575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用户、站点、电桩、充电和分时计价规则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7D73B912-6B83-4867-B9A0-D8AA66FDBE98}"/>
              </a:ext>
            </a:extLst>
          </p:cNvPr>
          <p:cNvSpPr>
            <a:spLocks noGrp="1"/>
          </p:cNvSpPr>
          <p:nvPr/>
        </p:nvSpPr>
        <p:spPr>
          <a:xfrm rot="5400000">
            <a:off x="1695450" y="3690937"/>
            <a:ext cx="400050" cy="209550"/>
          </a:xfrm>
          <a:prstGeom prst="rightArrow">
            <a:avLst/>
          </a:prstGeom>
          <a:solidFill>
            <a:schemeClr val="bg1"/>
          </a:solidFill>
          <a:ln w="0">
            <a:solidFill>
              <a:srgbClr val="344249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C6D26AF-A10A-43B3-92C3-16DA57BD29AD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2190750" cy="685800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0">
            <a:solidFill>
              <a:srgbClr val="FFD16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B2CCF8-9867-49BC-B17C-4327B39F0C49}"/>
              </a:ext>
            </a:extLst>
          </p:cNvPr>
          <p:cNvSpPr>
            <a:spLocks noGrp="1"/>
          </p:cNvSpPr>
          <p:nvPr/>
        </p:nvSpPr>
        <p:spPr>
          <a:xfrm>
            <a:off x="762000" y="41814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0161B"/>
                </a:solidFill>
                <a:latin typeface="Arial"/>
                <a:ea typeface="Arial"/>
                <a:cs typeface="Arial"/>
              </a:rPr>
              <a:t>Repository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1E24BE-D5EB-4BFB-8534-211BDBB96DD2}"/>
              </a:ext>
            </a:extLst>
          </p:cNvPr>
          <p:cNvSpPr>
            <a:spLocks noGrp="1"/>
          </p:cNvSpPr>
          <p:nvPr/>
        </p:nvSpPr>
        <p:spPr>
          <a:xfrm>
            <a:off x="3333750" y="417195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</a:t>
            </a:r>
            <a:r>
              <a:rPr sz="15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查询</a:t>
            </a: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/ </a:t>
            </a:r>
            <a:r>
              <a:rPr sz="15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事务</a:t>
            </a: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/ </a:t>
            </a:r>
            <a:r>
              <a:rPr sz="15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数据持久化</a:t>
            </a:r>
            <a:endParaRPr sz="15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56388BC-9E30-4ED3-8C9D-FBB197DC5F70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219450" cy="2857500"/>
          </a:xfrm>
          <a:prstGeom prst="roundRect">
            <a:avLst>
              <a:gd name="adj" fmla="val 4667"/>
            </a:avLst>
          </a:prstGeom>
          <a:solidFill>
            <a:srgbClr val="172129"/>
          </a:solidFill>
          <a:ln w="9525">
            <a:solidFill>
              <a:srgbClr val="344249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F2F3CC-D308-4530-9544-9DAD4089C9CB}"/>
              </a:ext>
            </a:extLst>
          </p:cNvPr>
          <p:cNvSpPr>
            <a:spLocks noGrp="1"/>
          </p:cNvSpPr>
          <p:nvPr/>
        </p:nvSpPr>
        <p:spPr>
          <a:xfrm>
            <a:off x="8401050" y="20955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9C9"/>
                </a:solidFill>
                <a:latin typeface="Arial"/>
                <a:ea typeface="Arial"/>
                <a:cs typeface="Arial"/>
              </a:rPr>
              <a:t>核心约束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B8F8CE0E-F531-4B89-974D-6BBAB14E9DF8}"/>
              </a:ext>
            </a:extLst>
          </p:cNvPr>
          <p:cNvSpPr>
            <a:spLocks noGrp="1"/>
          </p:cNvSpPr>
          <p:nvPr/>
        </p:nvSpPr>
        <p:spPr>
          <a:xfrm>
            <a:off x="8401050" y="2838450"/>
            <a:ext cx="85725" cy="85725"/>
          </a:xfrm>
          <a:prstGeom prst="ellipse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30535F-116A-4359-9E0E-C0CBC1943DCC}"/>
              </a:ext>
            </a:extLst>
          </p:cNvPr>
          <p:cNvSpPr>
            <a:spLocks noGrp="1"/>
          </p:cNvSpPr>
          <p:nvPr/>
        </p:nvSpPr>
        <p:spPr>
          <a:xfrm>
            <a:off x="8629650" y="2762249"/>
            <a:ext cx="2343150" cy="4953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订单、余额、电桩状态保持一致</a:t>
            </a:r>
            <a:endParaRPr sz="135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ED4BF30-1803-4804-BDF3-56C8EE0F6AA4}"/>
              </a:ext>
            </a:extLst>
          </p:cNvPr>
          <p:cNvSpPr>
            <a:spLocks noGrp="1"/>
          </p:cNvSpPr>
          <p:nvPr/>
        </p:nvSpPr>
        <p:spPr>
          <a:xfrm>
            <a:off x="8401050" y="3371850"/>
            <a:ext cx="85725" cy="85725"/>
          </a:xfrm>
          <a:prstGeom prst="ellipse">
            <a:avLst/>
          </a:prstGeom>
          <a:solidFill>
            <a:srgbClr val="00C2A8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C0DFBB-AF20-4BC1-9319-881E6BDD7454}"/>
              </a:ext>
            </a:extLst>
          </p:cNvPr>
          <p:cNvSpPr>
            <a:spLocks noGrp="1"/>
          </p:cNvSpPr>
          <p:nvPr/>
        </p:nvSpPr>
        <p:spPr>
          <a:xfrm>
            <a:off x="8629650" y="3295650"/>
            <a:ext cx="2343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写操作有权限校验与状态校验</a:t>
            </a:r>
            <a:endParaRPr sz="135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4FA3BCB-5424-41FB-B4A8-E8D8FAB873AB}"/>
              </a:ext>
            </a:extLst>
          </p:cNvPr>
          <p:cNvSpPr>
            <a:spLocks noGrp="1"/>
          </p:cNvSpPr>
          <p:nvPr/>
        </p:nvSpPr>
        <p:spPr>
          <a:xfrm>
            <a:off x="8401050" y="3905250"/>
            <a:ext cx="85725" cy="85725"/>
          </a:xfrm>
          <a:prstGeom prst="ellipse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1089F47-85FB-4219-B4EB-71E09E6D2320}"/>
              </a:ext>
            </a:extLst>
          </p:cNvPr>
          <p:cNvSpPr>
            <a:spLocks noGrp="1"/>
          </p:cNvSpPr>
          <p:nvPr/>
        </p:nvSpPr>
        <p:spPr>
          <a:xfrm>
            <a:off x="8629650" y="3829050"/>
            <a:ext cx="2343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异常时返回统一错误信息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635AB3F-C909-4CE0-B2FF-44C7CB0ED2A5}"/>
              </a:ext>
            </a:extLst>
          </p:cNvPr>
          <p:cNvSpPr>
            <a:spLocks noGrp="1"/>
          </p:cNvSpPr>
          <p:nvPr/>
        </p:nvSpPr>
        <p:spPr>
          <a:xfrm>
            <a:off x="8096250" y="5048250"/>
            <a:ext cx="3219450" cy="57150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9D67F2D-2756-4E85-9575-5C23A1956601}"/>
              </a:ext>
            </a:extLst>
          </p:cNvPr>
          <p:cNvSpPr>
            <a:spLocks noGrp="1"/>
          </p:cNvSpPr>
          <p:nvPr/>
        </p:nvSpPr>
        <p:spPr>
          <a:xfrm>
            <a:off x="8096250" y="5124457"/>
            <a:ext cx="3219450" cy="4952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CN" altLang="zh-CN" sz="1275" b="1" dirty="0">
                <a:solidFill>
                  <a:srgbClr val="10161B"/>
                </a:solidFill>
                <a:latin typeface="Arial"/>
                <a:cs typeface="Arial"/>
              </a:rPr>
              <a:t>C++</a:t>
            </a:r>
            <a:r>
              <a:rPr lang="en-US" altLang="zh-CN" sz="1275" b="1" dirty="0">
                <a:solidFill>
                  <a:srgbClr val="10161B"/>
                </a:solidFill>
                <a:latin typeface="Arial"/>
                <a:cs typeface="Arial"/>
              </a:rPr>
              <a:t>20</a:t>
            </a:r>
            <a:r>
              <a:rPr lang="zh-CN" altLang="zh-CN" sz="1275" b="1" dirty="0">
                <a:solidFill>
                  <a:srgbClr val="10161B"/>
                </a:solidFill>
                <a:latin typeface="Arial"/>
                <a:cs typeface="Arial"/>
              </a:rPr>
              <a:t> · Drogon · PostgreSQL · HTTP/JSON · Socket</a:t>
            </a: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A9FA4418-ED1A-4B10-A1D4-45F3F14DE51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C832F8D-554B-41B7-A678-83CD5E478A9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68E2EF4-1152-4C76-AD10-F5A1F56F83D3}"/>
              </a:ext>
            </a:extLst>
          </p:cNvPr>
          <p:cNvSpPr>
            <a:spLocks noGrp="1"/>
          </p:cNvSpPr>
          <p:nvPr/>
        </p:nvSpPr>
        <p:spPr>
          <a:xfrm>
            <a:off x="10287000" y="65341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824648E-677B-FAA2-0022-129907BAE4E0}"/>
              </a:ext>
            </a:extLst>
          </p:cNvPr>
          <p:cNvSpPr>
            <a:spLocks noGrp="1"/>
          </p:cNvSpPr>
          <p:nvPr/>
        </p:nvSpPr>
        <p:spPr>
          <a:xfrm>
            <a:off x="762000" y="5085778"/>
            <a:ext cx="2190750" cy="685800"/>
          </a:xfrm>
          <a:prstGeom prst="roundRect">
            <a:avLst>
              <a:gd name="adj" fmla="val 16667"/>
            </a:avLst>
          </a:prstGeom>
          <a:solidFill>
            <a:srgbClr val="8E7CFF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5D7AEDF-CFA1-EEEE-E9B7-4E9D5136CC4A}"/>
              </a:ext>
            </a:extLst>
          </p:cNvPr>
          <p:cNvSpPr>
            <a:spLocks noGrp="1"/>
          </p:cNvSpPr>
          <p:nvPr/>
        </p:nvSpPr>
        <p:spPr>
          <a:xfrm>
            <a:off x="800100" y="52578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2000" dirty="0"/>
              <a:t>PostgreSQL</a:t>
            </a:r>
            <a:endParaRPr sz="1875" b="1" dirty="0">
              <a:solidFill>
                <a:srgbClr val="1016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85C546E-7E09-7B0C-58B5-64C216467144}"/>
              </a:ext>
            </a:extLst>
          </p:cNvPr>
          <p:cNvSpPr>
            <a:spLocks noGrp="1"/>
          </p:cNvSpPr>
          <p:nvPr/>
        </p:nvSpPr>
        <p:spPr>
          <a:xfrm>
            <a:off x="3333750" y="5249037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1500" b="1" dirty="0">
                <a:solidFill>
                  <a:srgbClr val="FFFFFF"/>
                </a:solidFill>
                <a:latin typeface="Arial"/>
                <a:cs typeface="Arial"/>
              </a:rPr>
              <a:t>统一保存业务数据</a:t>
            </a:r>
            <a:endParaRPr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81B74650-05E5-B9CE-B376-A3CF0821F897}"/>
              </a:ext>
            </a:extLst>
          </p:cNvPr>
          <p:cNvSpPr>
            <a:spLocks noGrp="1"/>
          </p:cNvSpPr>
          <p:nvPr/>
        </p:nvSpPr>
        <p:spPr>
          <a:xfrm rot="5400000">
            <a:off x="1695450" y="4786312"/>
            <a:ext cx="400050" cy="209550"/>
          </a:xfrm>
          <a:prstGeom prst="rightArrow">
            <a:avLst/>
          </a:prstGeom>
          <a:solidFill>
            <a:schemeClr val="bg1"/>
          </a:solidFill>
          <a:ln w="0">
            <a:solidFill>
              <a:srgbClr val="34424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5739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hallenge-kicker">
            <a:extLst>
              <a:ext uri="{FF2B5EF4-FFF2-40B4-BE49-F238E27FC236}">
                <a16:creationId xmlns:a16="http://schemas.microsoft.com/office/drawing/2014/main" id="{9EF46414-E595-48C0-B82C-579E9C90D40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371"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PROJECT REVIEW</a:t>
            </a:r>
          </a:p>
        </p:txBody>
      </p:sp>
      <p:sp>
        <p:nvSpPr>
          <p:cNvPr id="2" name="challenge-title">
            <a:extLst>
              <a:ext uri="{FF2B5EF4-FFF2-40B4-BE49-F238E27FC236}">
                <a16:creationId xmlns:a16="http://schemas.microsoft.com/office/drawing/2014/main" id="{8353995E-7E4E-4C28-9941-873DF934F5D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14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项目挑战与实践收获</a:t>
            </a:r>
          </a:p>
        </p:txBody>
      </p:sp>
      <p:sp>
        <p:nvSpPr>
          <p:cNvPr id="3" name="challenge-number">
            <a:extLst>
              <a:ext uri="{FF2B5EF4-FFF2-40B4-BE49-F238E27FC236}">
                <a16:creationId xmlns:a16="http://schemas.microsoft.com/office/drawing/2014/main" id="{6FC6C0CF-0FF4-470D-AFD9-80969185CA9D}"/>
              </a:ext>
            </a:extLst>
          </p:cNvPr>
          <p:cNvSpPr>
            <a:spLocks noGrp="1"/>
          </p:cNvSpPr>
          <p:nvPr/>
        </p:nvSpPr>
        <p:spPr>
          <a:xfrm>
            <a:off x="10953750" y="400050"/>
            <a:ext cx="590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097" lnSpcReduction="20000"/>
          </a:bodyPr>
          <a:lstStyle/>
          <a:p>
            <a:pPr algn="r">
              <a:lnSpc>
                <a:spcPct val="105000"/>
              </a:lnSpc>
              <a:buNone/>
              <a:defRPr sz="2625" b="1">
                <a:solidFill>
                  <a:srgbClr val="08C4B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C4B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challenge-header-divider">
            <a:extLst>
              <a:ext uri="{FF2B5EF4-FFF2-40B4-BE49-F238E27FC236}">
                <a16:creationId xmlns:a16="http://schemas.microsoft.com/office/drawing/2014/main" id="{72056657-DAAD-477D-A77D-B7A6D9FE7F43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14288"/>
          </a:xfrm>
          <a:prstGeom prst="rect">
            <a:avLst/>
          </a:prstGeom>
          <a:solidFill>
            <a:srgbClr val="344249"/>
          </a:solidFill>
          <a:ln w="0">
            <a:noFill/>
            <a:prstDash val="solid"/>
          </a:ln>
        </p:spPr>
      </p:sp>
      <p:sp>
        <p:nvSpPr>
          <p:cNvPr id="5" name="challenge-panel">
            <a:extLst>
              <a:ext uri="{FF2B5EF4-FFF2-40B4-BE49-F238E27FC236}">
                <a16:creationId xmlns:a16="http://schemas.microsoft.com/office/drawing/2014/main" id="{E26238C8-1283-423E-8280-F343FE88C325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5143500" cy="3829050"/>
          </a:xfrm>
          <a:prstGeom prst="roundRect">
            <a:avLst>
              <a:gd name="adj" fmla="val 3483"/>
            </a:avLst>
          </a:prstGeom>
          <a:solidFill>
            <a:srgbClr val="19232B"/>
          </a:solidFill>
          <a:ln w="11430">
            <a:solidFill>
              <a:srgbClr val="34454E"/>
            </a:solidFill>
            <a:prstDash val="solid"/>
          </a:ln>
        </p:spPr>
      </p:sp>
      <p:sp>
        <p:nvSpPr>
          <p:cNvPr id="6" name="learning-panel">
            <a:extLst>
              <a:ext uri="{FF2B5EF4-FFF2-40B4-BE49-F238E27FC236}">
                <a16:creationId xmlns:a16="http://schemas.microsoft.com/office/drawing/2014/main" id="{E82A768E-F4D6-47AE-A273-CB3EEB56318A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143500" cy="3829050"/>
          </a:xfrm>
          <a:prstGeom prst="roundRect">
            <a:avLst>
              <a:gd name="adj" fmla="val 3483"/>
            </a:avLst>
          </a:prstGeom>
          <a:solidFill>
            <a:srgbClr val="19232B"/>
          </a:solidFill>
          <a:ln w="11430">
            <a:solidFill>
              <a:srgbClr val="34454E"/>
            </a:solidFill>
            <a:prstDash val="solid"/>
          </a:ln>
        </p:spPr>
      </p:sp>
      <p:sp>
        <p:nvSpPr>
          <p:cNvPr id="7" name="challenge-accent">
            <a:extLst>
              <a:ext uri="{FF2B5EF4-FFF2-40B4-BE49-F238E27FC236}">
                <a16:creationId xmlns:a16="http://schemas.microsoft.com/office/drawing/2014/main" id="{AEEBFF13-B15C-4625-A03D-AB32BB230B6C}"/>
              </a:ext>
            </a:extLst>
          </p:cNvPr>
          <p:cNvSpPr>
            <a:spLocks noGrp="1"/>
          </p:cNvSpPr>
          <p:nvPr/>
        </p:nvSpPr>
        <p:spPr>
          <a:xfrm>
            <a:off x="990600" y="1828800"/>
            <a:ext cx="514350" cy="381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8" name="learning-accent">
            <a:extLst>
              <a:ext uri="{FF2B5EF4-FFF2-40B4-BE49-F238E27FC236}">
                <a16:creationId xmlns:a16="http://schemas.microsoft.com/office/drawing/2014/main" id="{278862E8-D7A4-4228-9700-921170F08C44}"/>
              </a:ext>
            </a:extLst>
          </p:cNvPr>
          <p:cNvSpPr>
            <a:spLocks noGrp="1"/>
          </p:cNvSpPr>
          <p:nvPr/>
        </p:nvSpPr>
        <p:spPr>
          <a:xfrm>
            <a:off x="6515100" y="1828800"/>
            <a:ext cx="514350" cy="38100"/>
          </a:xfrm>
          <a:prstGeom prst="rect">
            <a:avLst/>
          </a:prstGeom>
          <a:solidFill>
            <a:srgbClr val="08C4B0"/>
          </a:solidFill>
          <a:ln w="0">
            <a:noFill/>
            <a:prstDash val="solid"/>
          </a:ln>
        </p:spPr>
      </p:sp>
      <p:sp>
        <p:nvSpPr>
          <p:cNvPr id="9" name="challenge-heading">
            <a:extLst>
              <a:ext uri="{FF2B5EF4-FFF2-40B4-BE49-F238E27FC236}">
                <a16:creationId xmlns:a16="http://schemas.microsoft.com/office/drawing/2014/main" id="{7BD603DC-53C3-41E3-BFA2-F69B35834D0F}"/>
              </a:ext>
            </a:extLst>
          </p:cNvPr>
          <p:cNvSpPr>
            <a:spLocks noGrp="1"/>
          </p:cNvSpPr>
          <p:nvPr/>
        </p:nvSpPr>
        <p:spPr>
          <a:xfrm>
            <a:off x="990600" y="194310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522"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项目挑战</a:t>
            </a:r>
          </a:p>
        </p:txBody>
      </p:sp>
      <p:sp>
        <p:nvSpPr>
          <p:cNvPr id="10" name="learning-heading">
            <a:extLst>
              <a:ext uri="{FF2B5EF4-FFF2-40B4-BE49-F238E27FC236}">
                <a16:creationId xmlns:a16="http://schemas.microsoft.com/office/drawing/2014/main" id="{533B3374-EF53-497F-A516-6CFE1973377D}"/>
              </a:ext>
            </a:extLst>
          </p:cNvPr>
          <p:cNvSpPr>
            <a:spLocks noGrp="1"/>
          </p:cNvSpPr>
          <p:nvPr/>
        </p:nvSpPr>
        <p:spPr>
          <a:xfrm>
            <a:off x="6515100" y="194310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522"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实践收获</a:t>
            </a:r>
          </a:p>
        </p:txBody>
      </p:sp>
      <p:sp>
        <p:nvSpPr>
          <p:cNvPr id="11" name="challenge-1-dot">
            <a:extLst>
              <a:ext uri="{FF2B5EF4-FFF2-40B4-BE49-F238E27FC236}">
                <a16:creationId xmlns:a16="http://schemas.microsoft.com/office/drawing/2014/main" id="{A3D73613-9BD2-4C4D-B7D7-51A2B6133058}"/>
              </a:ext>
            </a:extLst>
          </p:cNvPr>
          <p:cNvSpPr>
            <a:spLocks noGrp="1"/>
          </p:cNvSpPr>
          <p:nvPr/>
        </p:nvSpPr>
        <p:spPr>
          <a:xfrm>
            <a:off x="990600" y="2466975"/>
            <a:ext cx="95250" cy="95250"/>
          </a:xfrm>
          <a:prstGeom prst="ellipse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2" name="challenge-1-heading">
            <a:extLst>
              <a:ext uri="{FF2B5EF4-FFF2-40B4-BE49-F238E27FC236}">
                <a16:creationId xmlns:a16="http://schemas.microsoft.com/office/drawing/2014/main" id="{853F212B-3BD8-428D-823E-9FDD189535D7}"/>
              </a:ext>
            </a:extLst>
          </p:cNvPr>
          <p:cNvSpPr>
            <a:spLocks noGrp="1"/>
          </p:cNvSpPr>
          <p:nvPr/>
        </p:nvSpPr>
        <p:spPr>
          <a:xfrm>
            <a:off x="1219200" y="240030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95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环境配置差异</a:t>
            </a:r>
          </a:p>
        </p:txBody>
      </p:sp>
      <p:sp>
        <p:nvSpPr>
          <p:cNvPr id="13" name="challenge-1-detail">
            <a:extLst>
              <a:ext uri="{FF2B5EF4-FFF2-40B4-BE49-F238E27FC236}">
                <a16:creationId xmlns:a16="http://schemas.microsoft.com/office/drawing/2014/main" id="{48C6DFEC-36E1-4C0C-89C6-D1FC5A51E2C5}"/>
              </a:ext>
            </a:extLst>
          </p:cNvPr>
          <p:cNvSpPr>
            <a:spLocks noGrp="1"/>
          </p:cNvSpPr>
          <p:nvPr/>
        </p:nvSpPr>
        <p:spPr>
          <a:xfrm>
            <a:off x="1219200" y="2667000"/>
            <a:ext cx="417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544"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Qt、编译器、数据库和依赖版本不同，环境复现占用较多时间</a:t>
            </a:r>
          </a:p>
        </p:txBody>
      </p:sp>
      <p:sp>
        <p:nvSpPr>
          <p:cNvPr id="17" name="challenge-3-dot">
            <a:extLst>
              <a:ext uri="{FF2B5EF4-FFF2-40B4-BE49-F238E27FC236}">
                <a16:creationId xmlns:a16="http://schemas.microsoft.com/office/drawing/2014/main" id="{33BAFCBF-6EB9-43CB-854B-79BEDB317BF8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95250" cy="95250"/>
          </a:xfrm>
          <a:prstGeom prst="ellipse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8" name="challenge-3-heading">
            <a:extLst>
              <a:ext uri="{FF2B5EF4-FFF2-40B4-BE49-F238E27FC236}">
                <a16:creationId xmlns:a16="http://schemas.microsoft.com/office/drawing/2014/main" id="{CF4C572D-BE77-4280-91EF-E44BA6DD7645}"/>
              </a:ext>
            </a:extLst>
          </p:cNvPr>
          <p:cNvSpPr>
            <a:spLocks noGrp="1"/>
          </p:cNvSpPr>
          <p:nvPr/>
        </p:nvSpPr>
        <p:spPr>
          <a:xfrm>
            <a:off x="1181100" y="3190875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95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公共文件冲突</a:t>
            </a:r>
            <a:endParaRPr sz="16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hallenge-3-detail">
            <a:extLst>
              <a:ext uri="{FF2B5EF4-FFF2-40B4-BE49-F238E27FC236}">
                <a16:creationId xmlns:a16="http://schemas.microsoft.com/office/drawing/2014/main" id="{828B458E-CD44-4FA4-903C-E88FA8E2FB12}"/>
              </a:ext>
            </a:extLst>
          </p:cNvPr>
          <p:cNvSpPr>
            <a:spLocks noGrp="1"/>
          </p:cNvSpPr>
          <p:nvPr/>
        </p:nvSpPr>
        <p:spPr>
          <a:xfrm>
            <a:off x="1181100" y="3457575"/>
            <a:ext cx="417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多人修改页面与服务层时，容易覆盖或重复实现</a:t>
            </a:r>
          </a:p>
        </p:txBody>
      </p:sp>
      <p:sp>
        <p:nvSpPr>
          <p:cNvPr id="20" name="challenge-4-dot">
            <a:extLst>
              <a:ext uri="{FF2B5EF4-FFF2-40B4-BE49-F238E27FC236}">
                <a16:creationId xmlns:a16="http://schemas.microsoft.com/office/drawing/2014/main" id="{F3664682-56DB-45D0-B620-03AA2B425ABE}"/>
              </a:ext>
            </a:extLst>
          </p:cNvPr>
          <p:cNvSpPr>
            <a:spLocks noGrp="1"/>
          </p:cNvSpPr>
          <p:nvPr/>
        </p:nvSpPr>
        <p:spPr>
          <a:xfrm>
            <a:off x="1009650" y="4162425"/>
            <a:ext cx="95250" cy="95250"/>
          </a:xfrm>
          <a:prstGeom prst="ellipse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1" name="challenge-4-heading">
            <a:extLst>
              <a:ext uri="{FF2B5EF4-FFF2-40B4-BE49-F238E27FC236}">
                <a16:creationId xmlns:a16="http://schemas.microsoft.com/office/drawing/2014/main" id="{7A94F9B4-3C38-46E3-BD36-0781E28BFCA6}"/>
              </a:ext>
            </a:extLst>
          </p:cNvPr>
          <p:cNvSpPr>
            <a:spLocks noGrp="1"/>
          </p:cNvSpPr>
          <p:nvPr/>
        </p:nvSpPr>
        <p:spPr>
          <a:xfrm>
            <a:off x="1238250" y="40957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95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故障定位跨度大</a:t>
            </a:r>
            <a:endParaRPr sz="16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challenge-4-detail">
            <a:extLst>
              <a:ext uri="{FF2B5EF4-FFF2-40B4-BE49-F238E27FC236}">
                <a16:creationId xmlns:a16="http://schemas.microsoft.com/office/drawing/2014/main" id="{38223C41-D3FE-497A-8B9A-DAE1F0E4F67D}"/>
              </a:ext>
            </a:extLst>
          </p:cNvPr>
          <p:cNvSpPr>
            <a:spLocks noGrp="1"/>
          </p:cNvSpPr>
          <p:nvPr/>
        </p:nvSpPr>
        <p:spPr>
          <a:xfrm>
            <a:off x="1238250" y="4362450"/>
            <a:ext cx="417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275" b="0" dirty="0" err="1">
                <a:solidFill>
                  <a:srgbClr val="A5AFB4"/>
                </a:solidFill>
                <a:latin typeface="Arial"/>
                <a:ea typeface="Arial"/>
                <a:cs typeface="Arial"/>
              </a:rPr>
              <a:t>问题可能来自客户端、网络、服务端或数据库</a:t>
            </a:r>
            <a:endParaRPr sz="1275" b="0" dirty="0">
              <a:solidFill>
                <a:srgbClr val="A5AFB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learning-1-dot">
            <a:extLst>
              <a:ext uri="{FF2B5EF4-FFF2-40B4-BE49-F238E27FC236}">
                <a16:creationId xmlns:a16="http://schemas.microsoft.com/office/drawing/2014/main" id="{56F8B1BE-7743-471F-8748-78507B18EF7D}"/>
              </a:ext>
            </a:extLst>
          </p:cNvPr>
          <p:cNvSpPr>
            <a:spLocks noGrp="1"/>
          </p:cNvSpPr>
          <p:nvPr/>
        </p:nvSpPr>
        <p:spPr>
          <a:xfrm>
            <a:off x="6515100" y="2466975"/>
            <a:ext cx="95250" cy="95250"/>
          </a:xfrm>
          <a:prstGeom prst="ellipse">
            <a:avLst/>
          </a:prstGeom>
          <a:solidFill>
            <a:srgbClr val="08C4B0"/>
          </a:solidFill>
          <a:ln w="0">
            <a:noFill/>
            <a:prstDash val="solid"/>
          </a:ln>
        </p:spPr>
      </p:sp>
      <p:sp>
        <p:nvSpPr>
          <p:cNvPr id="24" name="learning-1-heading">
            <a:extLst>
              <a:ext uri="{FF2B5EF4-FFF2-40B4-BE49-F238E27FC236}">
                <a16:creationId xmlns:a16="http://schemas.microsoft.com/office/drawing/2014/main" id="{B45C31B7-1803-4952-ABCD-F0D761801916}"/>
              </a:ext>
            </a:extLst>
          </p:cNvPr>
          <p:cNvSpPr>
            <a:spLocks noGrp="1"/>
          </p:cNvSpPr>
          <p:nvPr/>
        </p:nvSpPr>
        <p:spPr>
          <a:xfrm>
            <a:off x="6743700" y="240030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95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统一环境与配置</a:t>
            </a:r>
          </a:p>
        </p:txBody>
      </p:sp>
      <p:sp>
        <p:nvSpPr>
          <p:cNvPr id="25" name="learning-1-detail">
            <a:extLst>
              <a:ext uri="{FF2B5EF4-FFF2-40B4-BE49-F238E27FC236}">
                <a16:creationId xmlns:a16="http://schemas.microsoft.com/office/drawing/2014/main" id="{FE26CB42-B4E1-48DA-95AC-87CF9B784BF0}"/>
              </a:ext>
            </a:extLst>
          </p:cNvPr>
          <p:cNvSpPr>
            <a:spLocks noGrp="1"/>
          </p:cNvSpPr>
          <p:nvPr/>
        </p:nvSpPr>
        <p:spPr>
          <a:xfrm>
            <a:off x="6743700" y="2667000"/>
            <a:ext cx="417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985"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固定依赖版本，集中管理接口地址、数据库连接和地图密钥</a:t>
            </a:r>
          </a:p>
        </p:txBody>
      </p:sp>
      <p:sp>
        <p:nvSpPr>
          <p:cNvPr id="26" name="learning-2-dot">
            <a:extLst>
              <a:ext uri="{FF2B5EF4-FFF2-40B4-BE49-F238E27FC236}">
                <a16:creationId xmlns:a16="http://schemas.microsoft.com/office/drawing/2014/main" id="{F48CECC4-6FFD-43DE-AEA8-3916DC75D335}"/>
              </a:ext>
            </a:extLst>
          </p:cNvPr>
          <p:cNvSpPr>
            <a:spLocks noGrp="1"/>
          </p:cNvSpPr>
          <p:nvPr/>
        </p:nvSpPr>
        <p:spPr>
          <a:xfrm>
            <a:off x="6515100" y="3190875"/>
            <a:ext cx="95250" cy="95250"/>
          </a:xfrm>
          <a:prstGeom prst="ellipse">
            <a:avLst/>
          </a:prstGeom>
          <a:solidFill>
            <a:srgbClr val="08C4B0"/>
          </a:solidFill>
          <a:ln w="0">
            <a:noFill/>
            <a:prstDash val="solid"/>
          </a:ln>
        </p:spPr>
      </p:sp>
      <p:sp>
        <p:nvSpPr>
          <p:cNvPr id="27" name="learning-2-heading">
            <a:extLst>
              <a:ext uri="{FF2B5EF4-FFF2-40B4-BE49-F238E27FC236}">
                <a16:creationId xmlns:a16="http://schemas.microsoft.com/office/drawing/2014/main" id="{05925A59-9F13-4942-B2FB-5EBCC32B2048}"/>
              </a:ext>
            </a:extLst>
          </p:cNvPr>
          <p:cNvSpPr>
            <a:spLocks noGrp="1"/>
          </p:cNvSpPr>
          <p:nvPr/>
        </p:nvSpPr>
        <p:spPr>
          <a:xfrm>
            <a:off x="6743700" y="312420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95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以 API 文档约定协作</a:t>
            </a:r>
          </a:p>
        </p:txBody>
      </p:sp>
      <p:sp>
        <p:nvSpPr>
          <p:cNvPr id="28" name="learning-2-detail">
            <a:extLst>
              <a:ext uri="{FF2B5EF4-FFF2-40B4-BE49-F238E27FC236}">
                <a16:creationId xmlns:a16="http://schemas.microsoft.com/office/drawing/2014/main" id="{6BBA6332-0C38-446A-8352-01BFE15D667A}"/>
              </a:ext>
            </a:extLst>
          </p:cNvPr>
          <p:cNvSpPr>
            <a:spLocks noGrp="1"/>
          </p:cNvSpPr>
          <p:nvPr/>
        </p:nvSpPr>
        <p:spPr>
          <a:xfrm>
            <a:off x="6743700" y="3390900"/>
            <a:ext cx="417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明确请求参数、响应字段和错误处理，减少口头同步</a:t>
            </a:r>
          </a:p>
        </p:txBody>
      </p:sp>
      <p:sp>
        <p:nvSpPr>
          <p:cNvPr id="32" name="learning-4-dot">
            <a:extLst>
              <a:ext uri="{FF2B5EF4-FFF2-40B4-BE49-F238E27FC236}">
                <a16:creationId xmlns:a16="http://schemas.microsoft.com/office/drawing/2014/main" id="{F7C17538-6E30-4D8C-B59A-90FE1F6E7561}"/>
              </a:ext>
            </a:extLst>
          </p:cNvPr>
          <p:cNvSpPr>
            <a:spLocks noGrp="1"/>
          </p:cNvSpPr>
          <p:nvPr/>
        </p:nvSpPr>
        <p:spPr>
          <a:xfrm>
            <a:off x="6553200" y="3990975"/>
            <a:ext cx="95250" cy="95250"/>
          </a:xfrm>
          <a:prstGeom prst="ellipse">
            <a:avLst/>
          </a:prstGeom>
          <a:solidFill>
            <a:srgbClr val="08C4B0"/>
          </a:solidFill>
          <a:ln w="0">
            <a:noFill/>
            <a:prstDash val="solid"/>
          </a:ln>
        </p:spPr>
      </p:sp>
      <p:sp>
        <p:nvSpPr>
          <p:cNvPr id="33" name="learning-4-heading">
            <a:extLst>
              <a:ext uri="{FF2B5EF4-FFF2-40B4-BE49-F238E27FC236}">
                <a16:creationId xmlns:a16="http://schemas.microsoft.com/office/drawing/2014/main" id="{DD06E0EF-4DD0-4E33-91D3-4AB0DCFB4F15}"/>
              </a:ext>
            </a:extLst>
          </p:cNvPr>
          <p:cNvSpPr>
            <a:spLocks noGrp="1"/>
          </p:cNvSpPr>
          <p:nvPr/>
        </p:nvSpPr>
        <p:spPr>
          <a:xfrm>
            <a:off x="6781800" y="392430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95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形成联调排查链路</a:t>
            </a:r>
            <a:endParaRPr sz="16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learning-4-detail">
            <a:extLst>
              <a:ext uri="{FF2B5EF4-FFF2-40B4-BE49-F238E27FC236}">
                <a16:creationId xmlns:a16="http://schemas.microsoft.com/office/drawing/2014/main" id="{53F31D63-CE2A-4C06-B747-B4124D3A175D}"/>
              </a:ext>
            </a:extLst>
          </p:cNvPr>
          <p:cNvSpPr>
            <a:spLocks noGrp="1"/>
          </p:cNvSpPr>
          <p:nvPr/>
        </p:nvSpPr>
        <p:spPr>
          <a:xfrm>
            <a:off x="6781800" y="4191000"/>
            <a:ext cx="417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结合客户端日志、服务端日志和数据库状态定位问题</a:t>
            </a:r>
          </a:p>
        </p:txBody>
      </p:sp>
      <p:sp>
        <p:nvSpPr>
          <p:cNvPr id="35" name="challenge-summary">
            <a:extLst>
              <a:ext uri="{FF2B5EF4-FFF2-40B4-BE49-F238E27FC236}">
                <a16:creationId xmlns:a16="http://schemas.microsoft.com/office/drawing/2014/main" id="{A1725791-553B-4AFD-9E85-A519C66860C2}"/>
              </a:ext>
            </a:extLst>
          </p:cNvPr>
          <p:cNvSpPr>
            <a:spLocks noGrp="1"/>
          </p:cNvSpPr>
          <p:nvPr/>
        </p:nvSpPr>
        <p:spPr>
          <a:xfrm>
            <a:off x="762000" y="5638800"/>
            <a:ext cx="10668000" cy="495300"/>
          </a:xfrm>
          <a:prstGeom prst="roundRect">
            <a:avLst>
              <a:gd name="adj" fmla="val 19231"/>
            </a:avLst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36" name="challenge-summary-text">
            <a:extLst>
              <a:ext uri="{FF2B5EF4-FFF2-40B4-BE49-F238E27FC236}">
                <a16:creationId xmlns:a16="http://schemas.microsoft.com/office/drawing/2014/main" id="{B135AC85-AD4A-4B1D-BEC8-5AEF1A239D93}"/>
              </a:ext>
            </a:extLst>
          </p:cNvPr>
          <p:cNvSpPr>
            <a:spLocks noGrp="1"/>
          </p:cNvSpPr>
          <p:nvPr/>
        </p:nvSpPr>
        <p:spPr>
          <a:xfrm>
            <a:off x="1009650" y="5638800"/>
            <a:ext cx="10172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统一配置、接口文档和分层协作，直接影响团队的联调效率</a:t>
            </a:r>
          </a:p>
        </p:txBody>
      </p:sp>
      <p:sp>
        <p:nvSpPr>
          <p:cNvPr id="37" name="challenge-footer-divider">
            <a:extLst>
              <a:ext uri="{FF2B5EF4-FFF2-40B4-BE49-F238E27FC236}">
                <a16:creationId xmlns:a16="http://schemas.microsoft.com/office/drawing/2014/main" id="{9ABBF5E3-4E50-4469-B62E-F4ED6E660FA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14288"/>
          </a:xfrm>
          <a:prstGeom prst="rect">
            <a:avLst/>
          </a:prstGeom>
          <a:solidFill>
            <a:srgbClr val="344249"/>
          </a:solidFill>
          <a:ln w="0">
            <a:noFill/>
            <a:prstDash val="solid"/>
          </a:ln>
        </p:spPr>
      </p:sp>
      <p:sp>
        <p:nvSpPr>
          <p:cNvPr id="38" name="challenge-footer-title">
            <a:extLst>
              <a:ext uri="{FF2B5EF4-FFF2-40B4-BE49-F238E27FC236}">
                <a16:creationId xmlns:a16="http://schemas.microsoft.com/office/drawing/2014/main" id="{A3DF6673-5DD6-495D-B945-B8740BD69A59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39" name="challenge-footer-team">
            <a:extLst>
              <a:ext uri="{FF2B5EF4-FFF2-40B4-BE49-F238E27FC236}">
                <a16:creationId xmlns:a16="http://schemas.microsoft.com/office/drawing/2014/main" id="{BBD6F4EA-66A7-4908-BC60-C5B24DF5FF63}"/>
              </a:ext>
            </a:extLst>
          </p:cNvPr>
          <p:cNvSpPr>
            <a:spLocks noGrp="1"/>
          </p:cNvSpPr>
          <p:nvPr/>
        </p:nvSpPr>
        <p:spPr>
          <a:xfrm>
            <a:off x="10287000" y="65341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115608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BB900E4E-0C1F-4353-AE24-3ED9C5A81B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C2A8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D3D9D0-EFE1-4E2E-B5F0-DE22FBCFD721}"/>
              </a:ext>
            </a:extLst>
          </p:cNvPr>
          <p:cNvSpPr>
            <a:spLocks noGrp="1"/>
          </p:cNvSpPr>
          <p:nvPr/>
        </p:nvSpPr>
        <p:spPr>
          <a:xfrm>
            <a:off x="742950" y="9525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/ VERDICT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68BA92-03BF-4F5C-A508-6ED15625BA2F}"/>
              </a:ext>
            </a:extLst>
          </p:cNvPr>
          <p:cNvSpPr>
            <a:spLocks noGrp="1"/>
          </p:cNvSpPr>
          <p:nvPr/>
        </p:nvSpPr>
        <p:spPr>
          <a:xfrm>
            <a:off x="742950" y="2419345"/>
            <a:ext cx="5905500" cy="1028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4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谢谢大家</a:t>
            </a:r>
            <a:endParaRPr sz="4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7DD38E-AE46-4F62-91F6-032AFCD6C960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D9C9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402363D5-3BE3-4086-9669-06C94F41B806}"/>
              </a:ext>
            </a:extLst>
          </p:cNvPr>
          <p:cNvSpPr>
            <a:spLocks noGrp="1"/>
          </p:cNvSpPr>
          <p:nvPr/>
        </p:nvSpPr>
        <p:spPr>
          <a:xfrm>
            <a:off x="781050" y="4476750"/>
            <a:ext cx="238125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6B3C74-1619-4B19-B7AB-FEFB4DC8E570}"/>
              </a:ext>
            </a:extLst>
          </p:cNvPr>
          <p:cNvSpPr>
            <a:spLocks noGrp="1"/>
          </p:cNvSpPr>
          <p:nvPr/>
        </p:nvSpPr>
        <p:spPr>
          <a:xfrm>
            <a:off x="781050" y="490537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  ·  2026.09.10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90D58CC1-4BE8-45D5-95D8-1E8A9A9AE2F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344249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D2717A-9B94-4D85-9A24-BEB2EA8C7F2C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FF8C56-B8D1-4561-9F35-F0B10D620821}"/>
              </a:ext>
            </a:extLst>
          </p:cNvPr>
          <p:cNvSpPr>
            <a:spLocks noGrp="1"/>
          </p:cNvSpPr>
          <p:nvPr/>
        </p:nvSpPr>
        <p:spPr>
          <a:xfrm>
            <a:off x="10287000" y="6534150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6892013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830</Words>
  <Application>Microsoft Office PowerPoint</Application>
  <DocSecurity>0</DocSecurity>
  <PresentationFormat>宽屏</PresentationFormat>
  <Paragraphs>174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钲 徐</cp:lastModifiedBy>
  <cp:revision>29</cp:revision>
  <dcterms:created xsi:type="dcterms:W3CDTF">2026-09-10T02:22:46Z</dcterms:created>
  <dcterms:modified xsi:type="dcterms:W3CDTF">2026-09-10T06:41:18Z</dcterms:modified>
</cp:coreProperties>
</file>