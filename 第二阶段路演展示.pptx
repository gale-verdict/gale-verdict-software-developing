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be3ad4929a4224" /><Relationship Type="http://schemas.openxmlformats.org/officeDocument/2006/relationships/extended-properties" Target="/docProps/app.xml" Id="Rc4aef39fbb8640f9" /><Relationship Type="http://schemas.openxmlformats.org/officeDocument/2006/relationships/officeDocument" Target="/ppt/presentation.xml" Id="R9af2e709002e45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2ac810dbde4f90"/>
  </p:sldMasterIdLst>
  <p:notesMasterIdLst>
    <p:notesMasterId xmlns:r="http://schemas.openxmlformats.org/officeDocument/2006/relationships" r:id="Red0643452c8648e1"/>
  </p:notesMasterIdLst>
  <p:sldIdLst>
    <p:sldId xmlns:r="http://schemas.openxmlformats.org/officeDocument/2006/relationships" id="256" r:id="Racd0dabeecdd46d4"/>
    <p:sldId xmlns:r="http://schemas.openxmlformats.org/officeDocument/2006/relationships" id="257" r:id="Rc11e4039a1204f79"/>
    <p:sldId xmlns:r="http://schemas.openxmlformats.org/officeDocument/2006/relationships" id="258" r:id="R575c402b177743b7"/>
    <p:sldId xmlns:r="http://schemas.openxmlformats.org/officeDocument/2006/relationships" id="259" r:id="R2c054ea3262c4a76"/>
    <p:sldId xmlns:r="http://schemas.openxmlformats.org/officeDocument/2006/relationships" id="260" r:id="Rbbd44941ab8e4f61"/>
    <p:sldId xmlns:r="http://schemas.openxmlformats.org/officeDocument/2006/relationships" id="261" r:id="Ra999b23112de4d6f"/>
    <p:sldId xmlns:r="http://schemas.openxmlformats.org/officeDocument/2006/relationships" id="262" r:id="Reec10bfa79ba49d9"/>
    <p:sldId xmlns:r="http://schemas.openxmlformats.org/officeDocument/2006/relationships" id="263" r:id="R8aee9e35afaf40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00d30cb58f4ff2" /><Relationship Type="http://schemas.openxmlformats.org/officeDocument/2006/relationships/slideMaster" Target="/ppt/slideMasters/slideMaster1.xml" Id="Ra02ac810dbde4f90" /><Relationship Type="http://schemas.openxmlformats.org/officeDocument/2006/relationships/notesMaster" Target="/ppt/notesMasters/notesMaster1.xml" Id="Red0643452c8648e1" /><Relationship Type="http://schemas.openxmlformats.org/officeDocument/2006/relationships/presProps" Target="/ppt/presProps.xml" Id="Rb97da83f4e8040f8" /><Relationship Type="http://schemas.openxmlformats.org/officeDocument/2006/relationships/tableStyles" Target="/ppt/tableStyles.xml" Id="R61356f60ed764256" /><Relationship Type="http://schemas.openxmlformats.org/officeDocument/2006/relationships/slide" Target="/ppt/slides/slide1.xml" Id="Racd0dabeecdd46d4" /><Relationship Type="http://schemas.openxmlformats.org/officeDocument/2006/relationships/slide" Target="/ppt/slides/slide2.xml" Id="Rc11e4039a1204f79" /><Relationship Type="http://schemas.openxmlformats.org/officeDocument/2006/relationships/slide" Target="/ppt/slides/slide3.xml" Id="R575c402b177743b7" /><Relationship Type="http://schemas.openxmlformats.org/officeDocument/2006/relationships/slide" Target="/ppt/slides/slide4.xml" Id="R2c054ea3262c4a76" /><Relationship Type="http://schemas.openxmlformats.org/officeDocument/2006/relationships/slide" Target="/ppt/slides/slide5.xml" Id="Rbbd44941ab8e4f61" /><Relationship Type="http://schemas.openxmlformats.org/officeDocument/2006/relationships/slide" Target="/ppt/slides/slide6.xml" Id="Ra999b23112de4d6f" /><Relationship Type="http://schemas.openxmlformats.org/officeDocument/2006/relationships/slide" Target="/ppt/slides/slide7.xml" Id="Reec10bfa79ba49d9" /><Relationship Type="http://schemas.openxmlformats.org/officeDocument/2006/relationships/slide" Target="/ppt/slides/slide8.xml" Id="R8aee9e35afaf40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f990a8ca1b4a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1d0b48770c4d1a" /><Relationship Type="http://schemas.openxmlformats.org/officeDocument/2006/relationships/notesMaster" Target="/ppt/notesMasters/notesMaster1.xml" Id="Re57b566b4c534d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5db10f5a224b15" /><Relationship Type="http://schemas.openxmlformats.org/officeDocument/2006/relationships/notesMaster" Target="/ppt/notesMasters/notesMaster1.xml" Id="Rb11a0e992ab24c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261be1b8854a15" /><Relationship Type="http://schemas.openxmlformats.org/officeDocument/2006/relationships/notesMaster" Target="/ppt/notesMasters/notesMaster1.xml" Id="R308067daf10d4c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ccb93ade0d4cc7" /><Relationship Type="http://schemas.openxmlformats.org/officeDocument/2006/relationships/notesMaster" Target="/ppt/notesMasters/notesMaster1.xml" Id="R8588a414ab8348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44f74162574310" /><Relationship Type="http://schemas.openxmlformats.org/officeDocument/2006/relationships/notesMaster" Target="/ppt/notesMasters/notesMaster1.xml" Id="Rf430e0e286f84d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3867a6d0964131" /><Relationship Type="http://schemas.openxmlformats.org/officeDocument/2006/relationships/notesMaster" Target="/ppt/notesMasters/notesMaster1.xml" Id="Raf3e45b10fd14c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a9e8514d7f4d62" /><Relationship Type="http://schemas.openxmlformats.org/officeDocument/2006/relationships/notesMaster" Target="/ppt/notesMasters/notesMaster1.xml" Id="Ra6ad1a06b78347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a629892a8a4013" /><Relationship Type="http://schemas.openxmlformats.org/officeDocument/2006/relationships/notesMaster" Target="/ppt/notesMasters/notesMaster1.xml" Id="R5eb4b3fd62d345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30 秒。大家好，本次汇报第二阶段的大数据分析工作。我们围绕已有充电桩系统，整理充电会话、站点和电池时序数据，完成清洗、存储适配、运营分析以及离线预测。下面重点展示数据处理成果、分析能力和预测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资料来源：C:/Users/wantu/share/Big-data-experiment/README.md；PRODUCT.md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45 秒。原项目已包含充电桩管理服务和 QT 客户端。本阶段围绕数据补充开展工作：先把教师数据与规范扩充数据整理为可验证的输入，再适配原有数据库，提供运营分析页面，最后通过离线模型探索预测能力。我们的目标是让每一项结果都能追溯到来源、处理规则和评估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资料来源：C:/Users/wantu/share/Big-data-experiment/README.md；frontend/src/App.vue；backend/api/ml.py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60 秒。项目包含教师原始数据和按规范生成的扩充数据。扩充清洗结果保留了 149801 条充电会话、1206262 条电池时序，以及 105 个站点。会话保留率为 99.72%。清洗前发现会话重复 220 条、电池时序重复 1808 条，报告中的清洗后重复计数均为零。逐项规范报告的 29 项检查全部通过，但它只说明这些规则满足要求，并不表示所有业务问题都已消失。质量汇总中仍有缺失或修正标记，后续还需要核对统计口径。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资料来源：C:/Users/wantu/share/Big-data-experiment/data/normalized/expanded/report/spec_quality_metrics.csv；spec_validation.csv；dq_report.csv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60 秒。处理链路分为三段。第一段用 PySpark 完成 ODS 原始层、DWD 明细层和 DWS 汇总层处理，修复年份、按日期重算星期、统一跨表字段，并对无法推断的异常留痕隔离。第二段把会话、站点、充电桩和用户适配到原有 PostgreSQL 表结构。第三段由 Flask 提供只读聚合接口，Vue3 与 ECharts 负责展示。电池时序没有对应的服务端表，因此保存在清洗产物中供读取，模型结果也以文件形式供接口读取。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资料来源：C:/Users/wantu/share/Big-data-experiment/README.md；cleaning/cleanData.py；backend/api/ml.py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65 秒。页面按运营问题组织。运营总览回答整体充电量和营收如何变化，站点利用率帮助比较资源使用情况。用户分析展示使用频次和价值分层，对比分析覆盖工作日与周末、桩类型、站点和峰谷时段。电池健康页面查看 SOC、温度和电压分布，智能预测页面呈现模型输出。现场介绍时，建议按总览、站点、预测的顺序，只讲关键图表和业务含义。这里展示的是代码已实现的功能范围，运行效果取决于数据库与模型结果文件是否就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资料来源：C:/Users/wantu/share/Big-data-experiment/frontend/src/App.vue；frontend/src/views/Dashboard.vue；frontend/src/views/Prediction.vue；README.md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70 秒。负荷预测以小时充电量为目标，使用历史滞后、滚动统计和日历特征，并按时间先后进行八比二切分。项目文档记录的 GBDT 平均绝对误差为 16.54 千瓦时，上周同时刻基线为 22.99 千瓦时，误差降低约 28%。图中数值越低越好。这个结果来自课程合成数据的离线回测，能说明方法在实验中的相对表现，但不能直接等同于真实运营精度。站点越细，零负荷小时越多，预测优势也会减弱。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资料来源：C:/Users/wantu/share/Big-data-experiment/ml/README.md，任务1结果摘要。当前项目目录未包含 ml/output 指标产物，此页引用文档记录，不代表本次重新训练结果。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70 秒。繁忙风险模型通过充电会话重建站点占用，补齐空闲小时，再预测后续的高占用风险。图中一小时 ROC-AUC 为 0.932，三小时为 0.792，六小时为 0.745。六小时与同站同时段历史基线的 0.743 已经接近，因此短时预警更有价值。项目按占用率分位数定义正例，不能把繁忙风险直接理解为物理上每一根桩都满了。充电用时模型只使用开始后前十五分钟曲线，文档记录的混合模型 MAE 为 18.98 分钟。它适合给出预计用时，不能承诺精确结束时刻。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资料来源：C:/Users/wantu/share/Big-data-experiment/ml/README.md，任务2与任务3结果摘要；ml/train_full_probability.py。指标为文档记录，未重新训练。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50 秒。第二阶段已经形成数据清洗、存储适配、可视化分析和离线预测的代码与数据成果。我们保留了来源与规则，预测也与简单基线进行对照。当前的主要边界是合成数据、离线评估，以及地图兜底坐标和部分费用估算。下一步优先接入真实运营数据，统一质量统计口径，补齐模型结果产物并完成联调，再探索按小时批量预测。以上是本次汇报，谢谢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资料来源：C:/Users/wantu/share/Big-data-experiment/README.md；PRODUCT.md；ml/README.md；data/normalized/expanded/report/dq_report.csv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820156acea40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e988553a2e4ec4" /><Relationship Type="http://schemas.openxmlformats.org/officeDocument/2006/relationships/slideLayout" Target="/ppt/slideLayouts/slideLayout1.xml" Id="Rff560ced6b6e49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560ced6b6e49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698794c7314914" /><Relationship Type="http://schemas.openxmlformats.org/officeDocument/2006/relationships/notesSlide" Target="/ppt/notesSlides/notesSlide1.xml" Id="Rf85880b165c84c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838da8b2e43f7" /><Relationship Type="http://schemas.openxmlformats.org/officeDocument/2006/relationships/notesSlide" Target="/ppt/notesSlides/notesSlide2.xml" Id="R4431a43b79544e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a3d0bcc8849d0" /><Relationship Type="http://schemas.openxmlformats.org/officeDocument/2006/relationships/notesSlide" Target="/ppt/notesSlides/notesSlide3.xml" Id="R28306d3530e840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036d2e54848dc" /><Relationship Type="http://schemas.openxmlformats.org/officeDocument/2006/relationships/notesSlide" Target="/ppt/notesSlides/notesSlide4.xml" Id="Rb0727e21b14441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6b907d3ad483b" /><Relationship Type="http://schemas.openxmlformats.org/officeDocument/2006/relationships/notesSlide" Target="/ppt/notesSlides/notesSlide5.xml" Id="R5f47d03602644a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501edb11448e8" /><Relationship Type="http://schemas.openxmlformats.org/officeDocument/2006/relationships/chart" Target="/ppt/slides/charts/chart1.xml" Id="R13a0ac41d3184176" /><Relationship Type="http://schemas.openxmlformats.org/officeDocument/2006/relationships/notesSlide" Target="/ppt/notesSlides/notesSlide6.xml" Id="Ra232ffeeb0f746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e65fa84ad41ea" /><Relationship Type="http://schemas.openxmlformats.org/officeDocument/2006/relationships/chart" Target="/ppt/slides/charts/chart2.xml" Id="R7c57c3690ad945f7" /><Relationship Type="http://schemas.openxmlformats.org/officeDocument/2006/relationships/notesSlide" Target="/ppt/notesSlides/notesSlide7.xml" Id="R64e42b5926ab42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7208cdef84564" /><Relationship Type="http://schemas.openxmlformats.org/officeDocument/2006/relationships/notesSlide" Target="/ppt/notesSlides/notesSlide8.xml" Id="Re2914ea05bda49c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4CDBCF"/>
            </a:solidFill>
          </c:spPr>
          <c:cat>
            <c:strRef>
              <c:f>'Chart Data'!$A$2:$A$4</c:f>
              <c:strCache>
                <c:ptCount val="3"/>
                <c:pt idx="0">
                  <c:v>GBDT 模型</c:v>
                </c:pt>
                <c:pt idx="1">
                  <c:v>上周同时刻</c:v>
                </c:pt>
                <c:pt idx="2">
                  <c:v>上一小时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16.54</c:v>
                </c:pt>
                <c:pt idx="1">
                  <c:v>22.99</c:v>
                </c:pt>
                <c:pt idx="2">
                  <c:v>25.53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EDF5FC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84055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91A2B"/>
        </a:solidFill>
      </c:spPr>
    </c:plotArea>
    <c:plotVisOnly val="1"/>
  </c:chart>
  <c:spPr>
    <a:solidFill xmlns:a="http://schemas.openxmlformats.org/drawingml/2006/main">
      <a:srgbClr val="091A2B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模型</c:v>
          </c:tx>
          <c:spPr>
            <a:solidFill xmlns:a="http://schemas.openxmlformats.org/drawingml/2006/main">
              <a:srgbClr val="68A7FF"/>
            </a:solidFill>
          </c:spPr>
          <c:cat>
            <c:strRef>
              <c:f>'Chart Data'!$A$2:$A$4</c:f>
              <c:strCache>
                <c:ptCount val="3"/>
                <c:pt idx="0">
                  <c:v>提前 1 小时</c:v>
                </c:pt>
                <c:pt idx="1">
                  <c:v>提前 3 小时</c:v>
                </c:pt>
                <c:pt idx="2">
                  <c:v>提前 6 小时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0.932</c:v>
                </c:pt>
                <c:pt idx="1">
                  <c:v>0.792</c:v>
                </c:pt>
                <c:pt idx="2">
                  <c:v>0.745</c:v>
                </c:pt>
              </c:numCache>
            </c:numRef>
          </c:val>
        </c:ser>
        <c:ser>
          <c:idx val="1"/>
          <c:order val="1"/>
          <c:tx>
            <c:v>同站同时段基线</c:v>
          </c:tx>
          <c:spPr>
            <a:solidFill xmlns:a="http://schemas.openxmlformats.org/drawingml/2006/main">
              <a:srgbClr val="66788D"/>
            </a:solidFill>
          </c:spPr>
          <c:cat>
            <c:strRef>
              <c:f>'Chart Data'!$C$2:$C$4</c:f>
              <c:strCache>
                <c:ptCount val="3"/>
                <c:pt idx="0">
                  <c:v>提前 1 小时</c:v>
                </c:pt>
                <c:pt idx="1">
                  <c:v>提前 3 小时</c:v>
                </c:pt>
                <c:pt idx="2">
                  <c:v>提前 6 小时</c:v>
                </c:pt>
              </c:strCache>
            </c:strRef>
          </c:cat>
          <c:val>
            <c:numRef>
              <c:f>'Chart Data'!$D$2:$D$4</c:f>
              <c:numCache>
                <c:formatCode>0.000</c:formatCode>
                <c:ptCount val="3"/>
                <c:pt idx="0">
                  <c:v>0.742</c:v>
                </c:pt>
                <c:pt idx="1">
                  <c:v>0.742</c:v>
                </c:pt>
                <c:pt idx="2">
                  <c:v>0.743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EDF5FC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84055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91A2B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ABC0D4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091A2B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2EE5C-752D-401A-A327-D472B662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rPr>
              <a:t>充电桩运营数据分析平台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82A34-ADA4-49A4-98F3-B4086978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0AFA0-56C4-45E1-83E9-2390720E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4CDB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4CDBCF"/>
                </a:solidFill>
                <a:latin typeface="Microsoft YaHei"/>
                <a:ea typeface="Microsoft YaHei"/>
                <a:cs typeface="Microsoft YaHei"/>
              </a:rPr>
              <a:t>第二阶段路演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6068E-5C32-451E-89D3-D459FED3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rPr>
              <a:t>数据清洗 · 运营分析 · 离线预测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D4B12-31B0-488D-A034-CA8E4CE7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91125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rPr>
              <a:t>Gale Verdict</a:t>
            </a:r>
          </a:p>
        </p:txBody>
      </p:sp>
    </p:spTree>
    <p:extLst>
      <p:ext uri="{BB962C8B-B14F-4D97-AF65-F5344CB8AC3E}">
        <p14:creationId xmlns:p14="http://schemas.microsoft.com/office/powerpoint/2010/main" val="7096116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88D65E-CDCC-41DD-8002-64D3D8F0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rPr>
              <a:t>第二阶段的任务与交付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1F33F-0E15-43C4-9B0E-A3538CD9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411DFE-B20E-4301-875D-F4D8132E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80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4CDB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4CDBC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CD5039-225F-4C40-BE3A-E3356177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71450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rPr>
              <a:t>数据可用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240AA-F078-4E51-942C-23886112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098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rPr>
              <a:t>教师原始数据与规范扩充数据，统一清洗与字段口径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324FD-8F79-4887-A1D4-F20A6360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80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4CDB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4CDBC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3204B5-6B32-47C9-9AA6-F8CA6FAF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432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rPr>
              <a:t>结果可看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5737C6-82D1-453E-8A9E-4B4F664F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6385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rPr>
              <a:t>适配原有 PostgreSQL，提供六个分析与预测页面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FC536E-4A57-4D6A-85AD-B4331CC2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80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4CDB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4CDBC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DFE1FB-25CF-4A36-843C-6496BCF3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7200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rPr>
              <a:t>预测可解释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4EC96C-8A43-4D4E-912C-863A373D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0673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rPr>
              <a:t>时间切分回测，展示误差与简单基线对比</a:t>
            </a:r>
          </a:p>
        </p:txBody>
      </p:sp>
    </p:spTree>
    <p:extLst>
      <p:ext uri="{BB962C8B-B14F-4D97-AF65-F5344CB8AC3E}">
        <p14:creationId xmlns:p14="http://schemas.microsoft.com/office/powerpoint/2010/main" val="16645464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844A8E-BBA5-4B2C-909A-CD4EEECD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rPr>
              <a:t>清洗后的数据规模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E3E00-D61A-4113-92F3-3A04C0EC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80C2A-619C-4804-8029-CC57D556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561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4CDB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0" b="1">
                <a:solidFill>
                  <a:srgbClr val="4CDBCF"/>
                </a:solidFill>
                <a:latin typeface="Microsoft YaHei"/>
                <a:ea typeface="Microsoft YaHei"/>
                <a:cs typeface="Microsoft YaHei"/>
              </a:rPr>
              <a:t>149,801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EC0314-0F83-4DDF-ACA4-4A2555CF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rPr>
              <a:t>充电会话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63C38-A2AF-4545-9584-DFA028BC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57375"/>
            <a:ext cx="5238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68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68A7FF"/>
                </a:solidFill>
                <a:latin typeface="Microsoft YaHei"/>
                <a:ea typeface="Microsoft YaHei"/>
                <a:cs typeface="Microsoft YaHei"/>
              </a:rPr>
              <a:t>1,206,262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E5C0A-80DF-4985-B08D-407CE2FD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051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rPr>
              <a:t>电池时序记录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DA1FC8-EAB6-4731-B797-7D88A17B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rPr>
              <a:t>105 个站点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749CA-6B80-49D2-AD57-4242C8DD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481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rPr>
              <a:t>29 项规范检查通过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6EAE7D-EDE5-4038-B6FB-A6A0B927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911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rPr>
              <a:t>会话保留率 99.72%    会话与时序的重复计数均降为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6309B2-B432-4425-AA16-09C99A3B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388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rPr>
              <a:t>扩充部分为课程合成数据；规范通过不等于所有业务质量问题消失</a:t>
            </a:r>
          </a:p>
        </p:txBody>
      </p:sp>
    </p:spTree>
    <p:extLst>
      <p:ext uri="{BB962C8B-B14F-4D97-AF65-F5344CB8AC3E}">
        <p14:creationId xmlns:p14="http://schemas.microsoft.com/office/powerpoint/2010/main" val="15145295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E0D2EF-1AB1-4432-8A30-B41A5A3D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rPr>
              <a:t>清洗与服务架构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2DF898-6814-4697-AA28-86385D22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E8FFF-0EDB-45B1-94D6-5490B4FA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80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4CDB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4CDBC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10337E-0632-473C-B4D6-C1188A77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66687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rPr>
              <a:t>PySpark 分层清洗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162F05-54FF-44E8-B252-EB9E46BB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62175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rPr>
              <a:t>ODS 原始层 / DWD 明细层 / DWS 汇总层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BB19CC-E65D-4291-9A2B-3D302F63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80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4CDB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4CDBC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F14148-AFD9-406B-B668-F4651C0D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04800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rPr>
              <a:t>PostgreSQL 存储适配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1FB72-83DC-4F3E-9121-9C71F421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5433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rPr>
              <a:t>沿用已有表结构，按数据标记区分导入会话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2C47E-5041-498F-9329-D7BAE796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80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4CDB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4CDBC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EAFFA-D850-4B90-8672-60447D75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291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rPr>
              <a:t>Flask + Vue3 + ECharts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FD04DC-29C0-42E6-908B-6FB8966C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24425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rPr>
              <a:t>只读聚合接口提供分析结果，前端展示趋势与对比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556DD7-CB9F-49E7-9844-8AB10B98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7626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CDB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CDBCF"/>
                </a:solidFill>
                <a:latin typeface="Microsoft YaHei"/>
                <a:ea typeface="Microsoft YaHei"/>
                <a:cs typeface="Microsoft YaHei"/>
              </a:rPr>
              <a:t>异常记录单独留痕；电池时序和模型产物通过结果文件读取</a:t>
            </a:r>
          </a:p>
        </p:txBody>
      </p:sp>
    </p:spTree>
    <p:extLst>
      <p:ext uri="{BB962C8B-B14F-4D97-AF65-F5344CB8AC3E}">
        <p14:creationId xmlns:p14="http://schemas.microsoft.com/office/powerpoint/2010/main" val="15225164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A6C038-25B5-46F8-83BE-99166A1C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rPr>
              <a:t>运营分析覆盖六个页面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9D4AF-9F9C-4F74-AEC7-5306CAF3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9AA1A-81CD-4F21-BB0A-7D846F73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4CDB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4CDBCF"/>
                </a:solidFill>
                <a:latin typeface="Microsoft YaHei"/>
                <a:ea typeface="Microsoft YaHei"/>
                <a:cs typeface="Microsoft YaHei"/>
              </a:rPr>
              <a:t>运营总览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F43F1C-73FF-4EEA-83D6-7AEFCD8C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1457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rPr>
              <a:t>充电量、营收与时段负荷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D77739-48D8-4BD7-A01C-005611BE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621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4CDB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4CDBCF"/>
                </a:solidFill>
                <a:latin typeface="Microsoft YaHei"/>
                <a:ea typeface="Microsoft YaHei"/>
                <a:cs typeface="Microsoft YaHei"/>
              </a:rPr>
              <a:t>站点利用率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154FFB-1355-45AB-9CA2-C2336164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1457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rPr>
              <a:t>站点排名与资源使用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BD4E8-E933-411A-BA1A-5121DB8A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4CDB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4CDBCF"/>
                </a:solidFill>
                <a:latin typeface="Microsoft YaHei"/>
                <a:ea typeface="Microsoft YaHei"/>
                <a:cs typeface="Microsoft YaHei"/>
              </a:rPr>
              <a:t>用户分析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7F70E-7E1D-4FAD-9D8B-F510135C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rPr>
              <a:t>使用频次与高价值用户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741F2A-A77F-4CDF-9C7C-77D9D01D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4CDB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4CDBCF"/>
                </a:solidFill>
                <a:latin typeface="Microsoft YaHei"/>
                <a:ea typeface="Microsoft YaHei"/>
                <a:cs typeface="Microsoft YaHei"/>
              </a:rPr>
              <a:t>对比分析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2FC314-AD95-4CB4-8836-DEF19F76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766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rPr>
              <a:t>工作日、桩类型与峰谷时段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B442C6-D8B9-45E2-BF17-A306E38C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4CDB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4CDBCF"/>
                </a:solidFill>
                <a:latin typeface="Microsoft YaHei"/>
                <a:ea typeface="Microsoft YaHei"/>
                <a:cs typeface="Microsoft YaHei"/>
              </a:rPr>
              <a:t>电池健康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9781E-79EA-4E7F-86D9-432441FB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387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rPr>
              <a:t>SOC、温度与电压分布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AFE208-71F4-4699-802B-73A160FE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862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4CDB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4CDBCF"/>
                </a:solidFill>
                <a:latin typeface="Microsoft YaHei"/>
                <a:ea typeface="Microsoft YaHei"/>
                <a:cs typeface="Microsoft YaHei"/>
              </a:rPr>
              <a:t>智能预测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C1AE84-1948-44AA-8734-57DDB5D3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387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rPr>
              <a:t>需求、繁忙风险与充电用时</a:t>
            </a:r>
          </a:p>
        </p:txBody>
      </p:sp>
    </p:spTree>
    <p:extLst>
      <p:ext uri="{BB962C8B-B14F-4D97-AF65-F5344CB8AC3E}">
        <p14:creationId xmlns:p14="http://schemas.microsoft.com/office/powerpoint/2010/main" val="9059085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FC35BA-B357-4E0E-9772-DF696C93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rPr>
              <a:t>负荷预测优于简单基线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0A1742-6520-4154-A408-2640C4BF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C0F43-6ED1-4CA6-ABEC-04F4B2EC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rPr>
              <a:t>平均绝对误差 MAE（kWh，越低越好）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66750" y="2143125"/>
          <a:ext xmlns:a="http://schemas.openxmlformats.org/drawingml/2006/main" cx="72390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a0ac41d318417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C5243D-0FEA-4C32-8503-29BAE6AA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314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4CDB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4CDBCF"/>
                </a:solidFill>
                <a:latin typeface="Microsoft YaHei"/>
                <a:ea typeface="Microsoft YaHei"/>
                <a:cs typeface="Microsoft YaHei"/>
              </a:rPr>
              <a:t>约 28%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8915A9-7292-4D7B-B61B-F4C991F8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2425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rPr>
              <a:t>较最强基线</a:t>
            </a:r>
          </a:p>
          <a:p xmlns:a="http://schemas.openxmlformats.org/drawingml/2006/main">
            <a:pPr>
              <a:defRPr sz="2175" b="0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rPr>
              <a:t>降低平均误差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39127-055B-41A2-BC5D-99B2EA6E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rPr>
              <a:t>8:2 时间切分；指标引用项目文档中的合成数据离线回测记录</a:t>
            </a:r>
          </a:p>
        </p:txBody>
      </p:sp>
    </p:spTree>
    <p:extLst>
      <p:ext uri="{BB962C8B-B14F-4D97-AF65-F5344CB8AC3E}">
        <p14:creationId xmlns:p14="http://schemas.microsoft.com/office/powerpoint/2010/main" val="20057779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BABAA8-91D2-432A-9AC8-FAE24E83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rPr>
              <a:t>短时预警与充电用时估计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AE20F-64C1-4070-8CEE-340CA0C6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427D8-A89C-409B-B61D-820EC3DC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rPr>
              <a:t>繁忙风险 ROC-AUC（越高越好）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90550" y="2143125"/>
          <a:ext xmlns:a="http://schemas.openxmlformats.org/drawingml/2006/main" cx="7381875" cy="3352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57c3690ad945f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BB281D-183E-477F-95F0-377931A9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76500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4CDB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4CDBCF"/>
                </a:solidFill>
                <a:latin typeface="Microsoft YaHei"/>
                <a:ea typeface="Microsoft YaHei"/>
                <a:cs typeface="Microsoft YaHei"/>
              </a:rPr>
              <a:t>18.98 分钟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E9D92E-8BCF-488D-B18B-EA286E69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8612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rPr>
              <a:t>充电用时 MAE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001743-7230-42EB-9E75-85F91F5F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0050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rPr>
              <a:t>使用开始后</a:t>
            </a:r>
          </a:p>
          <a:p xmlns:a="http://schemas.openxmlformats.org/drawingml/2006/main">
            <a:pPr>
              <a:defRPr sz="1950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rPr>
              <a:t>前 15 分钟曲线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4C7E06-2349-436C-A1F4-D6FE3E6F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rPr>
              <a:t>高占用标签采用分位阈值；上述指标来自项目文档中的合成数据回测</a:t>
            </a:r>
          </a:p>
        </p:txBody>
      </p:sp>
    </p:spTree>
    <p:extLst>
      <p:ext uri="{BB962C8B-B14F-4D97-AF65-F5344CB8AC3E}">
        <p14:creationId xmlns:p14="http://schemas.microsoft.com/office/powerpoint/2010/main" val="2818735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5AAD9-5CE7-4F60-B725-3326132B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rPr>
              <a:t>阶段总结与下一步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69887-C6BC-44AC-9AA6-F680AFCB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CCF900-E334-4F60-8F18-C6CA8D01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4CDB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4CDBCF"/>
                </a:solidFill>
                <a:latin typeface="Microsoft YaHei"/>
                <a:ea typeface="Microsoft YaHei"/>
                <a:cs typeface="Microsoft YaHei"/>
              </a:rPr>
              <a:t>已形成完整的数据分析链路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C7DB18-431B-4E0F-84FD-DDD71DC1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rPr>
              <a:t>清洗成果、六个页面、预测脚本与结果读取接口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0B7FDC-A580-48FC-8BBF-4FD84E14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rPr>
              <a:t>当前边界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D0AAA-3496-4A93-9A3C-40FE7527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57625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rPr>
              <a:t>课程合成数据与离线评估，费用及坐标含估算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0918E0-6F48-4091-92F8-6A56F063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DF5FC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44DB95-5EA0-4870-BA96-0BC367AE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0125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BC0D4"/>
                </a:solidFill>
                <a:latin typeface="Microsoft YaHei"/>
                <a:ea typeface="Microsoft YaHei"/>
                <a:cs typeface="Microsoft YaHei"/>
              </a:rPr>
              <a:t>真实数据验证、质量口径统一、模型产物联调</a:t>
            </a:r>
          </a:p>
        </p:txBody>
      </p:sp>
    </p:spTree>
    <p:extLst>
      <p:ext uri="{BB962C8B-B14F-4D97-AF65-F5344CB8AC3E}">
        <p14:creationId xmlns:p14="http://schemas.microsoft.com/office/powerpoint/2010/main" val="13793094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2026-09-16T08:34:26.7640000Z</dcterms:created>
  <dcterms:modified xsi:type="dcterms:W3CDTF">2026-09-16T08:34:26.7640000Z</dcterms:modified>
</coreProperties>
</file>