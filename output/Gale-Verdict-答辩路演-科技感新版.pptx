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70173184f64543" /><Relationship Type="http://schemas.openxmlformats.org/officeDocument/2006/relationships/extended-properties" Target="/docProps/app.xml" Id="Rc30249cd0d7641a3" /><Relationship Type="http://schemas.openxmlformats.org/officeDocument/2006/relationships/officeDocument" Target="/ppt/presentation.xml" Id="R99f600c7462c4e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c6eb3488a44f2c"/>
  </p:sldMasterIdLst>
  <p:notesMasterIdLst>
    <p:notesMasterId xmlns:r="http://schemas.openxmlformats.org/officeDocument/2006/relationships" r:id="Rcc5e6dd34d3b41a0"/>
  </p:notesMasterIdLst>
  <p:sldIdLst>
    <p:sldId xmlns:r="http://schemas.openxmlformats.org/officeDocument/2006/relationships" id="256" r:id="R7b60df2f657f4ec4"/>
    <p:sldId xmlns:r="http://schemas.openxmlformats.org/officeDocument/2006/relationships" id="257" r:id="R047311894a874233"/>
    <p:sldId xmlns:r="http://schemas.openxmlformats.org/officeDocument/2006/relationships" id="258" r:id="R7e6338b01112476f"/>
    <p:sldId xmlns:r="http://schemas.openxmlformats.org/officeDocument/2006/relationships" id="259" r:id="R7290125e5f304145"/>
    <p:sldId xmlns:r="http://schemas.openxmlformats.org/officeDocument/2006/relationships" id="260" r:id="R6a0507a985ea4a55"/>
    <p:sldId xmlns:r="http://schemas.openxmlformats.org/officeDocument/2006/relationships" id="261" r:id="Rdcbe022ff63047a5"/>
    <p:sldId xmlns:r="http://schemas.openxmlformats.org/officeDocument/2006/relationships" id="262" r:id="R3a953cee094a462a"/>
    <p:sldId xmlns:r="http://schemas.openxmlformats.org/officeDocument/2006/relationships" id="263" r:id="Rf6af80d06eab44da"/>
    <p:sldId xmlns:r="http://schemas.openxmlformats.org/officeDocument/2006/relationships" id="264" r:id="R0aa7a59f37c04468"/>
    <p:sldId xmlns:r="http://schemas.openxmlformats.org/officeDocument/2006/relationships" id="265" r:id="R71a06e7acd1c43f3"/>
    <p:sldId xmlns:r="http://schemas.openxmlformats.org/officeDocument/2006/relationships" id="266" r:id="R1913bf894e7c4baa"/>
    <p:sldId xmlns:r="http://schemas.openxmlformats.org/officeDocument/2006/relationships" id="267" r:id="R9411e283f5ad43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01222d4c3a4bfb" /><Relationship Type="http://schemas.openxmlformats.org/officeDocument/2006/relationships/slideMaster" Target="/ppt/slideMasters/slideMaster1.xml" Id="Ra0c6eb3488a44f2c" /><Relationship Type="http://schemas.openxmlformats.org/officeDocument/2006/relationships/notesMaster" Target="/ppt/notesMasters/notesMaster1.xml" Id="Rcc5e6dd34d3b41a0" /><Relationship Type="http://schemas.openxmlformats.org/officeDocument/2006/relationships/presProps" Target="/ppt/presProps.xml" Id="Rd91f76bcd45e4f40" /><Relationship Type="http://schemas.openxmlformats.org/officeDocument/2006/relationships/tableStyles" Target="/ppt/tableStyles.xml" Id="R8e661280855a4b7c" /><Relationship Type="http://schemas.openxmlformats.org/officeDocument/2006/relationships/slide" Target="/ppt/slides/slide1.xml" Id="R7b60df2f657f4ec4" /><Relationship Type="http://schemas.openxmlformats.org/officeDocument/2006/relationships/slide" Target="/ppt/slides/slide2.xml" Id="R047311894a874233" /><Relationship Type="http://schemas.openxmlformats.org/officeDocument/2006/relationships/slide" Target="/ppt/slides/slide3.xml" Id="R7e6338b01112476f" /><Relationship Type="http://schemas.openxmlformats.org/officeDocument/2006/relationships/slide" Target="/ppt/slides/slide4.xml" Id="R7290125e5f304145" /><Relationship Type="http://schemas.openxmlformats.org/officeDocument/2006/relationships/slide" Target="/ppt/slides/slide5.xml" Id="R6a0507a985ea4a55" /><Relationship Type="http://schemas.openxmlformats.org/officeDocument/2006/relationships/slide" Target="/ppt/slides/slide6.xml" Id="Rdcbe022ff63047a5" /><Relationship Type="http://schemas.openxmlformats.org/officeDocument/2006/relationships/slide" Target="/ppt/slides/slide7.xml" Id="R3a953cee094a462a" /><Relationship Type="http://schemas.openxmlformats.org/officeDocument/2006/relationships/slide" Target="/ppt/slides/slide8.xml" Id="Rf6af80d06eab44da" /><Relationship Type="http://schemas.openxmlformats.org/officeDocument/2006/relationships/slide" Target="/ppt/slides/slide9.xml" Id="R0aa7a59f37c04468" /><Relationship Type="http://schemas.openxmlformats.org/officeDocument/2006/relationships/slide" Target="/ppt/slides/slide10.xml" Id="R71a06e7acd1c43f3" /><Relationship Type="http://schemas.openxmlformats.org/officeDocument/2006/relationships/slide" Target="/ppt/slides/slide11.xml" Id="R1913bf894e7c4baa" /><Relationship Type="http://schemas.openxmlformats.org/officeDocument/2006/relationships/slide" Target="/ppt/slides/slide12.xml" Id="R9411e283f5ad43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3372797f0a49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fcc75dadc34899" /><Relationship Type="http://schemas.openxmlformats.org/officeDocument/2006/relationships/notesMaster" Target="/ppt/notesMasters/notesMaster1.xml" Id="Rf4f6c74f040f47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029936fe494c5a" /><Relationship Type="http://schemas.openxmlformats.org/officeDocument/2006/relationships/notesMaster" Target="/ppt/notesMasters/notesMaster1.xml" Id="Rd5b587234a314d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c49050a3b6448a" /><Relationship Type="http://schemas.openxmlformats.org/officeDocument/2006/relationships/notesMaster" Target="/ppt/notesMasters/notesMaster1.xml" Id="R2917eb8e7f4847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e85b6d441d4be0" /><Relationship Type="http://schemas.openxmlformats.org/officeDocument/2006/relationships/notesMaster" Target="/ppt/notesMasters/notesMaster1.xml" Id="R33ffab17ff3849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e16f06f2b64631" /><Relationship Type="http://schemas.openxmlformats.org/officeDocument/2006/relationships/notesMaster" Target="/ppt/notesMasters/notesMaster1.xml" Id="R42b4bb336e874b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c5e4d7acdd45b6" /><Relationship Type="http://schemas.openxmlformats.org/officeDocument/2006/relationships/notesMaster" Target="/ppt/notesMasters/notesMaster1.xml" Id="R09dc6ffd842f46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fdcb6d8a0e4635" /><Relationship Type="http://schemas.openxmlformats.org/officeDocument/2006/relationships/notesMaster" Target="/ppt/notesMasters/notesMaster1.xml" Id="Ra6889e57992e43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8b26f7c6da427b" /><Relationship Type="http://schemas.openxmlformats.org/officeDocument/2006/relationships/notesMaster" Target="/ppt/notesMasters/notesMaster1.xml" Id="R201ec9e157784b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12d0de98d24aa1" /><Relationship Type="http://schemas.openxmlformats.org/officeDocument/2006/relationships/notesMaster" Target="/ppt/notesMasters/notesMaster1.xml" Id="R4a876619c41b4d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0ffc4cc6dd43c9" /><Relationship Type="http://schemas.openxmlformats.org/officeDocument/2006/relationships/notesMaster" Target="/ppt/notesMasters/notesMaster1.xml" Id="Re15c7584e2164f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f7e3f0a3384960" /><Relationship Type="http://schemas.openxmlformats.org/officeDocument/2006/relationships/notesMaster" Target="/ppt/notesMasters/notesMaster1.xml" Id="R6b27e3a8908440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9ad4fe5e144e2f" /><Relationship Type="http://schemas.openxmlformats.org/officeDocument/2006/relationships/notesMaster" Target="/ppt/notesMasters/notesMaster1.xml" Id="Re5b1d1058c7a48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dcc3543ad47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c7e060519f4559" /><Relationship Type="http://schemas.openxmlformats.org/officeDocument/2006/relationships/slideLayout" Target="/ppt/slideLayouts/slideLayout1.xml" Id="R5e2ae63f272346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2ae63f272346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58ea755364df5" /><Relationship Type="http://schemas.openxmlformats.org/officeDocument/2006/relationships/notesSlide" Target="/ppt/notesSlides/notesSlide1.xml" Id="R135a66172d8a4f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1e807724c4fc6" /><Relationship Type="http://schemas.openxmlformats.org/officeDocument/2006/relationships/notesSlide" Target="/ppt/notesSlides/notesSlide2.xml" Id="R79ace32fb0b34c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8188e9aed4f2e" /><Relationship Type="http://schemas.openxmlformats.org/officeDocument/2006/relationships/notesSlide" Target="/ppt/notesSlides/notesSlide3.xml" Id="Rfc8a89fe0b8f49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8af74574a4335" /><Relationship Type="http://schemas.openxmlformats.org/officeDocument/2006/relationships/notesSlide" Target="/ppt/notesSlides/notesSlide4.xml" Id="R130905d15ce744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7b9b4297d40e3" /><Relationship Type="http://schemas.openxmlformats.org/officeDocument/2006/relationships/notesSlide" Target="/ppt/notesSlides/notesSlide5.xml" Id="Rb17cd8c5f08d4f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96eee7f674cfa" /><Relationship Type="http://schemas.openxmlformats.org/officeDocument/2006/relationships/notesSlide" Target="/ppt/notesSlides/notesSlide6.xml" Id="R55ef2d6c622b4d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f0943357c479e" /><Relationship Type="http://schemas.openxmlformats.org/officeDocument/2006/relationships/notesSlide" Target="/ppt/notesSlides/notesSlide7.xml" Id="Radedc53f502e48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9350fe841441b" /><Relationship Type="http://schemas.openxmlformats.org/officeDocument/2006/relationships/notesSlide" Target="/ppt/notesSlides/notesSlide8.xml" Id="Rb984ff517f9d41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fdff967404f57" /><Relationship Type="http://schemas.openxmlformats.org/officeDocument/2006/relationships/notesSlide" Target="/ppt/notesSlides/notesSlide9.xml" Id="R9e46b17e375848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efee52c71458a" /><Relationship Type="http://schemas.openxmlformats.org/officeDocument/2006/relationships/notesSlide" Target="/ppt/notesSlides/notesSlide10.xml" Id="Rb11d1ec320964f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9ee8ab624460c" /><Relationship Type="http://schemas.openxmlformats.org/officeDocument/2006/relationships/notesSlide" Target="/ppt/notesSlides/notesSlide11.xml" Id="R55291c22581749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cf40ed5b1442b" /><Relationship Type="http://schemas.openxmlformats.org/officeDocument/2006/relationships/notesSlide" Target="/ppt/notesSlides/notesSlide12.xml" Id="R3f7b26e5f79247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06B75-8F23-4600-84C8-4355DEE5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157BE-6CFF-4B6D-8E7E-6DF80799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GALE / VERDICT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C23EB-1539-48AC-A79D-D44CBFDF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38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电动汽车充电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运营管理平台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CA5E0-8DFB-4C90-BD31-AE2BA486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从找桩、充电到运营管理的完整业务闭环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31C03-AFB6-408A-A656-36E1838E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1D305-B2BD-4088-998A-30ADC86A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项目路演 / 第四组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7420B-EB6C-4FC8-953B-DAEC2029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2026.09.10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0272E-89F3-44C2-BADB-2998F91C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57250"/>
            <a:ext cx="3143250" cy="485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B9870-8080-4724-BB0C-440C4792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0015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C2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FD268-A9BD-4207-9D8D-405BC0CC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287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SYSTEM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6D086-57D3-4DBB-8A46-2157CC68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A39FB-5296-4301-9646-CCAE1D3C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充电站 / 电桩 / 订单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ECDB3-9344-4EA5-A4B3-832CE399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81300"/>
            <a:ext cx="1066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0F52A-AA84-4EB8-A03A-97BC1C39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服务端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E1E29-95A0-42D2-BCCA-C197CE57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认证 / 会话 / 计价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7A361-8C19-4D8E-A189-B40881FD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62425"/>
            <a:ext cx="1066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C2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76711-2D91-40F2-9563-010E33A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148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数据与外部服务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92194-F6AD-42A3-B9DD-D1C93699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67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PostgreSQL / 腾讯地图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3FEB4-6EDB-464A-9E8B-8E8A7B6A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DF11E-18C8-4029-A03B-49BFFF5B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E5F4E0-7AE9-43EA-B940-F8C66B39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20011459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FCECA2-346C-4641-9880-F1D403C6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DDFDD-3CA2-41C9-9E58-BB5275C9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项目目标与需求分析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E70A5-AF33-46B1-989A-1F818937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9A5AE-E5D9-4A6B-88A1-3ED2938B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A9127-80CA-4F22-B626-A5F13C78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把一次充电过程，组织成可查询、可管理、可追溯的业务闭环。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EC7F1-EA40-4B09-956F-C76679BF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3147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7528B-C537-432F-AA2E-15D384D3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31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5B193-F214-407F-BEA9-6A8BDEDB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AEE57-B65D-4FDE-A227-6A1C5D39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F9783-B1CC-4A66-8D8B-ED5D88DF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找到附近充电站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A3FC8-1A13-466F-8F0F-0E5B483C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9BC1A-4AC4-4B7A-900E-1E220B1B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查看空闲电桩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760CD-9063-4742-B40D-667BF2A9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D9014-35F8-4A1E-9CAE-D436FFB6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导航、充电、结算、查单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122C0-DE78-4819-A2FD-B2818B68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33147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63938-3152-427A-8B25-31D2D2E7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331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4D7A9-E043-418E-857E-F3252940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62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运营人员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6F2B4-2205-4BE4-A086-73FF3DD3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C4BAD-36F3-4858-8B14-7F8012E9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查看营收与设备状态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BAA72-766F-49E6-BD8E-87920BB0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6EA862-00FC-4241-B332-62E2A356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管理电站、电桩与用户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90A95-3BE4-492D-990C-67A6FA78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C16450-59AA-4BF5-A612-7D3D6743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处理故障与远程重启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80347-C6AA-4F26-9DDA-004AD845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3147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614C7-F48A-4019-9F15-A6BDA52C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31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829EB-7726-4E35-8743-0FD152AC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平台服务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71AD3-1FA7-4279-B838-73398F32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45F30E-BA6D-414A-A0CD-2B480C8D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统一认证和权限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E0892-3ABC-46CE-882C-9E11B44F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2FEEE2-BF50-4E89-AB39-0350DA6E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实时充电会话与分时计价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B35094-0922-4CDE-B581-275C8AB8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168BDA-EE9D-450B-A35D-183358C8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76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保证订单、余额、设备一致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618DA6-09E4-490E-9F43-FC052E0A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43E987-8D1F-467E-8FFE-7ECBD8E5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C4CB9D-BAE2-4CA4-BC4F-CA4EF804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489666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864CD6-425C-48F3-8E61-921AF05C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B6523-A5A6-4EDC-8D74-AD74D1ED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核心业务闭环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91C01-3C04-4BAE-8A53-41082984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85A62-AC0E-4BE6-88D2-F181461D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C8D26-1A08-4EAE-BDB7-8CFBBB09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围绕“找得到、充得上、算得清、管得住”组织功能。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75A7B-DB02-4E9E-B886-C7494434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28C76-BEA6-4475-9E42-B8B4F4B3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AF72B-488C-4654-AA63-EEC25BA2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登录 / 注册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24A2C-0B3C-470D-BB24-21517967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手机号校验</a:t>
            </a:r>
          </a:p>
          <a:p xmlns:a="http://schemas.openxmlformats.org/drawingml/2006/main">
            <a:pPr algn="l">
              <a:defRPr sz="127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服务端认证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48170-0502-4CD2-864C-C648E6F3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952750"/>
            <a:ext cx="857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61C73-89DC-4FDF-A9A7-87C3AD48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193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95CA8-D7B7-41A3-B41D-EF3A8F8F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384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386E1-E776-4A76-83AF-F510C67E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810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找站 / 选桩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34DAF-0F90-4AED-AB90-D8CAA2DB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2481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附近电站</a:t>
            </a:r>
          </a:p>
          <a:p xmlns:a="http://schemas.openxmlformats.org/drawingml/2006/main">
            <a:pPr algn="l">
              <a:defRPr sz="127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空闲状态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CD74B-DDD0-4802-957C-4F892AFA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857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0EAB2-8456-41EE-AD11-663514C8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193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36392-05D5-42F7-877F-B991A5BF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384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43307-0D7F-4523-BFBF-368629D1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实时充电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BCF1E-E438-47ED-AA91-5027129A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WebSocket 会话</a:t>
            </a:r>
          </a:p>
          <a:p xmlns:a="http://schemas.openxmlformats.org/drawingml/2006/main">
            <a:pPr algn="l">
              <a:defRPr sz="127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持续更新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F837F-814F-4BAC-9EE7-D952F088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52750"/>
            <a:ext cx="857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4280D-4E07-42DE-8C10-4E36A7EC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193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89C11B-3EF0-40F4-85AB-40517D1E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384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0FFD6-202F-43FB-A7C0-D249CEB0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10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结算 / 查单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681D8-9F4E-4A6B-A6F1-DA287188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481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费用、余额</a:t>
            </a:r>
          </a:p>
          <a:p xmlns:a="http://schemas.openxmlformats.org/drawingml/2006/main">
            <a:pPr algn="l">
              <a:defRPr sz="127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订单状态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503AA-EB5E-4F7B-B5A1-BBA7BA90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542EB-E46E-499A-8DE0-A84313A4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0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0B8"/>
                </a:solidFill>
                <a:latin typeface="Arial"/>
                <a:ea typeface="Arial"/>
                <a:cs typeface="Arial"/>
              </a:rPr>
              <a:t>用户侧负责交互与展示，服务端作为订单、余额和设备状态的最终事实来源。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3FD96D-787E-4058-B588-DCA66D58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A2F0CF-CF14-4C02-8914-84950899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E44684-7D97-4050-B9F7-AE362303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3658946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00E5EF-A34A-4209-B2FB-346BA52C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FF522-0356-42E4-8265-1A0CE4D4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B7B94-6369-47AF-88F1-7F3FB722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3D0EC-1D23-4E60-96EF-52E745E6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D14E3-1BF1-47A1-AD5C-081F0608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8575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222E8-2638-4435-AEA2-D17914B8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8575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00C2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F1F26-B090-4E10-8025-1DF1D634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用户端 Qt / C++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98487-74A4-4CC3-A914-93244C77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查询、充电、订单、导航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1C042-16BD-4390-BD8C-6F0F832B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管理端 Qt / C++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EA55B-9D60-4B8B-86ED-D1F21C2F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营收、设备、电站、用户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1A7E8-B0F2-4CA1-83BC-361FADC5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76625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C5840-5759-47B3-803C-9AE9CB27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Drogon 服务端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0EB7A-F9DD-43DD-B6E6-0688F29F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HTTP/JSON  +  WebSocket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DD442-E54D-428C-9D45-9FE09AB7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1285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D632F-2171-48F0-A954-08795E09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81250"/>
            <a:ext cx="1285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C2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FC11B-410C-4B28-85C8-CD134733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62500"/>
            <a:ext cx="1285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C2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EE31B-54B0-45B4-8DBE-1356BB1A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314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EACED-DF8E-4566-AA3C-916284E0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02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 数据库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46FC3-3FDC-4031-B77B-064F070A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314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0A39F-3C2C-4019-8A78-0018CA7E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02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腾讯地图 WebService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8E646-7FC3-431B-9ECC-2B42F480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7DE5B-5756-4BBD-A39E-9EB8E9A0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A6BEA-8C84-4329-87D8-43B0E7E2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0527842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339C13-511C-4F33-9B1A-7023DB8B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CHARGING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B57A9-B2C5-4906-8104-365D392C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EC293-465F-47FA-BD16-AB696776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DF125-ECB5-44F5-93F1-7B79A195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1483B-866F-4864-BECF-F98293A8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订单状态、电桩状态和钱包余额共同决定一次充电是否可以开始、继续和完成。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82BA3-521A-4167-BA63-873ED06A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17526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C2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F3A95-CD91-44C3-956B-4EFE100D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空闲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4FEB4-F514-444B-BB84-0CEF98C3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选择充电桩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CE865-080A-4E22-ACD2-C3DC50A5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57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03D48-D0E8-48F7-B1DC-C8FDA2AA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05125"/>
            <a:ext cx="17526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0DFCB-CD88-4CB3-938D-CD3B2640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86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被占用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F896B-5976-4F28-B3BB-DA857D69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76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创建订单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DEF09-3498-4F68-9D7D-EAAF07E6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57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3EDFC-9553-4A6C-8806-5BD169F5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05125"/>
            <a:ext cx="17526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E7ECB-5049-40BC-A25D-06ACF2A9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86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充电中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6507C-4DA8-49A2-B309-62F0EAB8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76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实时计价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C9D97-23D2-47A4-B187-B2B786DA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57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F47A1B-71DF-4553-9BDC-DC61C64D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05125"/>
            <a:ext cx="17526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E7CFF"/>
          </a:solidFill>
          <a:ln xmlns:a="http://schemas.openxmlformats.org/drawingml/2006/main" w="0">
            <a:solidFill>
              <a:srgbClr val="8E7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0966C-6298-4EE0-8BF7-B4578F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结算中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20382E-05A6-4B0D-8DAD-C98E537F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76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扣款 / 待结算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00F38-4E9B-47BB-96A0-81B24D0E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DE87A-D934-49C3-965A-6D8C4FAB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05125"/>
            <a:ext cx="17526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C2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4998AF-6A4B-44F8-BEED-CB1C122C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86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空闲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319B3-E564-4A53-B3EA-408A4892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76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释放电桩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8CFA8-06E3-40EE-8EE0-091248B9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7F094C-0CF6-43BD-A2CB-6B1E7E38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15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异常出口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195F56-5401-4180-94DF-675F1BC9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720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余额不足  /  网络中断  /  电桩故障  /  用户主动停止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C0A93D-5FA1-4A14-8728-CDCD7808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53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服务端统一结算，失败时保持订单与电桩状态一致。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30C21B-0E44-4B05-A314-FC509905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C1E7D9-6FCE-468C-B372-170AF86F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09B5C9-82DA-4F7B-B051-4054FBDF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73811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48EFC5-763F-44BD-8147-D2458CAE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BILLING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EF19B-FAEA-4C0B-922F-CA07F21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计费逻辑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17110-F8DD-40B5-A636-9CC04BD7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78067-93A0-4D06-BC8C-6BE2D877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DCF9B-8C73-4316-8E14-F469DCA1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计费由服务端完成，客户端只展示结果。跨越电价时段时，按时间区间分别计算。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7B98D-AD51-45E5-ABD6-BCD03719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7625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6CAD9-18FF-4D6D-9C4F-B2DD94B7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实时会话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0974A-66A5-421F-965C-712F096B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729E3-FCB4-47CB-9B0B-9B94A06B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WebSocket 保持持续充电会话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33962-D670-4521-BF98-B7E9EBFF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498B9-1FE4-41D3-A5F6-72C55060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9525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约每秒推送时长、电量、费用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272A4-1CDE-451B-BB06-F6115497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68012-AE5E-4C2F-9203-DA247EEE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52925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服务端检查下一计费周期是否可支付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A6B59-499A-4780-BE6A-F0D7A20E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577215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3ECF7-A884-4833-B772-87FFA415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19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结算规则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ACBC6-01F4-4D74-BB53-4788F1AE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功率 × 时间 = 充电量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1A9ED-33D2-46BA-AFBE-2B14C2D6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52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充电量 × 对应时段单价 = 分段费用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2043E-558D-4A05-89AD-3CBCBC6B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5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68887-7DD5-4692-A84D-D55A2A05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0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0B8"/>
                </a:solidFill>
                <a:latin typeface="Arial"/>
                <a:ea typeface="Arial"/>
                <a:cs typeface="Arial"/>
              </a:rPr>
              <a:t>停止、余额不足或连接中断时统一结算</a:t>
            </a:r>
          </a:p>
          <a:p xmlns:a="http://schemas.openxmlformats.org/drawingml/2006/main">
            <a:pPr algn="l">
              <a:defRPr sz="1350" b="1">
                <a:solidFill>
                  <a:srgbClr val="FFF0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0B8"/>
                </a:solidFill>
                <a:latin typeface="Arial"/>
                <a:ea typeface="Arial"/>
                <a:cs typeface="Arial"/>
              </a:rPr>
              <a:t>成功扣款后订单完成，余额不足则进入待结算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82D0E-F94C-426A-A29F-F96FB057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3067E2-67A2-407B-8939-67769AE0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BA8B3-1AF0-4E29-A3D5-E9103D06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27806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C29E0-6212-4AB0-ADC3-F56A8BC4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USER CLIENT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421DF-8777-4791-A7FC-8AEDC6E2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用户端功能展示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05818-5CC5-41CB-94F7-80E4BDCC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FABFF-3173-438F-859B-13F9C184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0B0D9-C314-4658-8D65-C9DAFB4D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095750" cy="3886200"/>
          </a:xfrm>
          <a:prstGeom xmlns:a="http://schemas.openxmlformats.org/drawingml/2006/main" prst="roundRect">
            <a:avLst>
              <a:gd name="adj" fmla="val 2451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99CEE-C800-4A4E-9008-573DE296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0ED07-34A3-423D-ADB9-15F53BAC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截图占位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7441B-1A30-485D-B2D6-8A116854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截取：用户端首页 / 电站列表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E4367-1E56-438D-831E-5D76A81E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36385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建议截图：登录后首页，能看到底部导航、余额入口和充电站入口。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画面重点：页面结构清楚，避免截到 Qt Creator 或桌面背景。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BCB23-20D8-42D4-B4CF-9570FC52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3048000" cy="3886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A1DE3-8B5E-4522-A337-11AC0159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193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DEB45-401D-44AE-9447-8AB5FDB0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截图占位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95CB3-AB7C-4943-8521-3A226278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432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截取：充电过程页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CA938-CA15-4C49-8B5F-04B250BA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2590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建议截图：选择空闲电桩后，展示充电时长、充电量、当前费用、余额和停止按钮。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DAC6E-8D44-4363-9D1E-EBC05715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52600"/>
            <a:ext cx="3143250" cy="38862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FA427-B8B2-49A9-9A77-318A95DD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193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3FCA9-ADEE-4397-A428-5F02264A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截图占位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CAAC5-E6BE-4535-8318-19BAE5F0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截取：订单历史页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B3F17-BB4E-4433-8978-F28D6B2E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0400"/>
            <a:ext cx="26860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建议截图：至少包含订单时间、充电站、电桩、金额和订单状态。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170F6-51B7-42FB-8D6F-1F87C653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6F499-41F6-4EF5-A0C3-9D16C14C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C913E-AA04-41E8-87E5-4A509B77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214407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66792-F670-45CE-974F-E60DC8CF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ADMIN CLIENT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EDD08-0E32-46E0-93D3-0FC1B772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管理端功能展示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2E3DB-F5E8-4186-89B6-3CFE58C5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51ABA-52CE-4DE0-89D1-7E0B4D7E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E9E0C-363C-4C1B-8B67-805B00DD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048250" cy="37147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4CFB4-8130-4BFF-9A46-F0977CA1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473EB-BBAB-448A-B823-2C7A2E01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截图占位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BBF22-F049-48F1-8045-7168C736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59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截取：运营数据总览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37980-7B76-4621-8C47-94454D56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5910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建议截图：今日营收、本月营收、总营收、营收趋势和电桩状态统计。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优先保证图表和数字清晰。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89A26-2EA0-4D2D-9A1D-F2FA933A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667000" cy="37147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C481E-0BFA-4023-A695-E7FBDBE6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348C4-D7CA-4419-A0AF-5B4AFAB1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截图占位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888EF-EEE3-4750-B0CB-BBBECB79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03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截取：电桩管理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72D6A-7588-42AA-892B-5FC684BD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57550"/>
            <a:ext cx="2209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建议截图：电桩编号、所属电站、功率、状态、累计次数，以及远程重启操作。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9B34D-61E3-48E8-AC84-219B3301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762250" cy="3714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9978E-3947-48C9-A4FB-5B7EB295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908F8-156D-4317-9553-BB78AE01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05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截图占位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33246-B7E7-4B0D-845E-2320F80A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截取：用户 / 电站管理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EE693-1045-4979-9AA7-D1BB88DA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23050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建议截图：用户搜索、冻结/解冻，或电站列表与站内电桩详情。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C2E75-6CF0-4C22-87BC-2F37F1F8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8F79E-C5FD-48F2-A77D-7D1A3A57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22BB2-1AA8-498D-AC56-8EB3E9CF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5500340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6CA429-DF20-491D-B4C6-2A120F53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5EA2B-EDFC-4538-9BF5-64909851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服务端设计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0B40F-8CD3-4220-AE18-042501D4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F2735-1089-45F5-9AA9-47A769F3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31B26-B657-4CE6-80D1-89D6DD34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19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0B74D-2C54-41D4-A7A3-79C471CF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B4CC0-6DF0-469A-ABBE-80B47DCD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接收请求 / Token 认证 / 参数校验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B1C71-DBA9-4E7A-A70D-95E74A9B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717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09DBC-5F60-487B-9663-C7AE6DF3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19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C2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DB185-672D-48EA-9B4F-EC66B7DC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64CE1-BC41-4961-869F-D0EFCCF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765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用户、站点、电桩、充电和分时计价规则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3B912-6B83-4867-B9A0-D8AA66FD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712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D26AF-A10A-43B3-92C3-16DA57B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19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2CCF8-9867-49BC-B17C-4327B39F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E24BE-D5EB-4BFB-8534-211BDBB9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查询 / 事务 / 数据持久化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388BC-9E30-4ED3-8C9D-FBB197DC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1945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2F3CC-D308-4530-9544-9DAD4089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核心约束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8CE0E-F531-4B89-974D-6BBAB14E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0535F-116A-4359-9E0E-C0CBC194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订单、余额、电桩状态保持一致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4BF30-1803-4804-BDF3-56C8EE0F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71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0DFBB-AF20-4BC1-9319-881E6BDD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956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写操作有权限校验与状态校验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FA3BCB-5424-41FB-B4A8-E8D8FAB8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089F47-85FB-4219-B4EB-71E09E6D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异常时返回统一错误信息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5AB3F-C909-4CE0-B2FF-44C7CB0E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2194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D67F2D-2756-4E85-9575-5C23A195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C++20  ·  Drogon  ·  PostgreSQL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FA4418-ED1A-4B10-A1D4-45F3F14D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832F8D-554B-41B7-A678-83CD5E4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8E2EF4-1152-4C76-AD10-F5A1F56F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4457390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C759DA-EFB9-4625-9EF9-A92A00DC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MAP 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1068A-2A9E-4CF2-85C3-1A6DFFA7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地图导航设计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F9F6E-ECC3-44A3-89C9-8FD45353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F49D6-944A-4636-803E-FD49F832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BD265-1577-4BFB-B643-14A6C552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地图只是展示层，地点搜索与路线规划由服务端统一代理。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5DD6A-984F-4F28-BD4E-B5D29F83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714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96DEA-3934-40D1-90D5-4C41FD44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输入起点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2C8D2-4523-4F35-8B33-5FCB59AF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289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A36AB-08E7-44F0-AEAF-F0B353E6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71750"/>
            <a:ext cx="1714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C2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B4438-EA84-4F27-97B5-32520578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地点联想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7B141-A39A-4DB1-A291-0ACAE7FB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289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356A4-9D14-41A8-97B8-D46098AF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714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A13A7-81CE-4EC8-94F6-1FA97066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选择出行方式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F4A98-F1FD-40C5-84FF-ACED0782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289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A4236-B325-4D8F-9407-9DB24A40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71750"/>
            <a:ext cx="1714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8E7CFF"/>
          </a:solidFill>
          <a:ln xmlns:a="http://schemas.openxmlformats.org/drawingml/2006/main" w="0">
            <a:solidFill>
              <a:srgbClr val="8E7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83B46-BF51-4444-B201-D23A956C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路线规划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FC9B9-5C95-4ABA-8F61-F090479A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289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E4EDB-9099-4FDF-8834-15B895CA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71750"/>
            <a:ext cx="1714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78E23-A921-484E-AD48-38B54214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地图跟随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FD900-3177-4CF4-9EC8-76142260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1435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ABCA9-F103-4DEC-BF25-64EE4108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8219E-D484-4078-A63F-065501A2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截图占位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BEF38F-F430-4132-A07A-432BE6FC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截取：腾讯地图导航页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302B3-EC55-4694-9262-594D0BCE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建议截图：地图、起点/终点、路线、当前步骤提示同时可见。</a:t>
            </a:r>
          </a:p>
          <a:p xmlns:a="http://schemas.openxmlformats.org/drawingml/2006/main">
            <a:pPr algn="l">
              <a:defRPr sz="12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例如：前方 120 米右转。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889FBF-EA5B-458D-AB72-A5F1749C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53911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5C093-75DD-45D3-A8F1-36F9C8C6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10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密钥边界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C9D321-2F62-437B-9517-0B64D465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8630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客户端只获取公开地图 Key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 保存在后端环境变量中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WebView 负责渲染地图页面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171AE3-6FEB-4EEA-8BEB-28C83EB9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065F48-DBE2-41D8-AA1F-BC4025F2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7305D2-C2D8-4FDE-A502-483547CD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439347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0C261-B324-45E3-9784-C3291173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5C841-15C8-4E28-8B58-FCA38187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团队分工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AF796-3C79-41F2-A52A-A9D7C29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7BD7C-B22B-4D9C-A6B1-166C335D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F60F0-09F1-4F55-BDDD-479B77C8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按模块协作，文档、客户端、服务端和测试共同完成交付。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5EAC2-24FF-40A7-BA6F-36D2547D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98C39-83D1-4845-A97F-316650DE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李奕萱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02C17-664B-4E62-8A34-61692F6A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项目文档 / 管理端功能 / 界面完善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1ADA3-E6DB-416A-BF34-BAC06DEA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75F9F-1E9D-4071-BFC2-3C642380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吴洵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0A45D-7C67-4161-A79B-98BD6147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861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流程图 / 管理端核心 / 客户端导航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04256-5814-4E84-A1E0-59866826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D5A19-12AC-43BD-968A-E461A119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徐钲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5CED6-6328-4710-966D-7E1D2CFE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719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需求矩阵 / 概要设计 / 客户端功能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83372-7441-4A2B-B4C9-A5338641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56D73-DB37-4F8A-A197-BF56284C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姚雨森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AACBB-E09B-4CB1-B239-D5BBFB38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后端框架 / 技术栈 / 客户端测试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91F8B-39FF-4044-89B7-5CBDB80C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42898-D88C-4EF0-8A48-B51FD8F0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曾梓木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EF7E5-A939-4ABF-AA80-5175F39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后端功能 / 客户端 Demo / 管理端测试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E2899-C3F0-4A86-8833-54CFF215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1B52F4-90E6-45D7-AF29-D2BD334A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1051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0B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0B8"/>
                </a:solidFill>
                <a:latin typeface="Arial"/>
                <a:ea typeface="Arial"/>
                <a:cs typeface="Arial"/>
              </a:rPr>
              <a:t>答辩时按“项目目标 → 系统架构 → 核心流程 → 功能展示 → 技术实现”展开。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3D1F7-1A32-47B6-8703-AD0A85DE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E14C8-4C30-4FD0-9149-3CCABE0F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68D8C-5BFA-4E3C-979E-F21F8C9B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1850954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00E4E-0C1F-4353-AE24-3ED9C5A8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3D9D0-EFE1-4E2E-B5F0-DE22FBCF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/ VERDICT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8BA92-03BF-4F5C-A508-6ED15625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谢谢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与提问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DD38E-AE46-4F62-91F6-032AFCD6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363D5-3BE3-4086-9669-06C94F41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B3C74-1619-4B19-B7AB-FEFB4DC8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  ·  2026.09.10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39B26-8771-49DB-BAF6-0392B0B2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2857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B6E2C-BDD8-4FCC-BFFE-2F37A0E9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64DD5-38BD-4267-B2BD-192549AE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209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找站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结算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58CC1-4BE8-45D5-95D8-1E8A9A9A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2717A-9B94-4D85-9A24-BEB2EA8C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F8C56-B8D1-4561-9F35-F0B10D62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689201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2026-09-10T02:22:46.5260000Z</dcterms:created>
  <dcterms:modified xsi:type="dcterms:W3CDTF">2026-09-10T02:22:46.5260000Z</dcterms:modified>
</coreProperties>
</file>